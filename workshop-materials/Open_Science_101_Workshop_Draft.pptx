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Facilitator note: This is a condensed, single-session version of the full 5-module, ~10-hour self-paced Open Science 101 curriculum. It is a highlights tour, not a substitute for the full course — say this explicitly up front and point people to the self-paced site for full depth/certification. Total runtime 3h30m including two breaks.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agenda quickly — name the two breaks up front so people can plan. Note that Module 5 (Tools) runs shorter and lighter since it threads through everything else. If the room is small/known to each other, the icebreaker can be trimmed to buy 5 more minutes for discussion later.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people to physically raise hands (or use a live poll tool — Slido/Mentimeter — if remote/hybrid) for each question in turn. Don't editorialize yet — just count hands out loud ("looks like about half the room"). This sets up the next slide's statistic as a punchline rather than a lecture point. ~3 minutes.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real, correctly-cited number (unlike a couple of places in the written modules where this statistic gets garbled — the source survey is Baker 2016 in Nature). Use it to frame the whole day: open science is not a compliance exercise, it's a direct response to a documented, widespread problem. ~2 min, then move into Module 1.</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Set expectations: we're deep-diving 3 of 5 lessons live and hitting the other 2 at speed — full depth for all 5 is in the self-paced course.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 Emphasize this is broader than 'open access' — it's a practice covering the whole research lifecycle, and it explicitly includes respecting privacy/security/culture, which sets up the 'when not to be open' section later so it doesn't feel like a contradiction.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min. This three-word framework is the backbone of the whole curriculum — every later module (data, software, results, tools) maps back onto Use/Make/Share. Worth calling that out explicitly since we're compressing 5 modules into one session.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 Keep this moving — it's a scan-read slide, not a discussion. If time is tight this is the easiest slide to speed through.</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min + discussion. This slide often relieves anxiety in the room — people worry 'open science' means zero discretion. Good moment for a quick verbal show-of-hands: 'who here has data/work that falls into one of these buckets?' Bridges naturally into the graduated-openness idea (restricted → embargoed → tiered → progressive) if you have an extra minute.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min, fast pace — this is a lightning round, not a deep dive. The last bullet (Open Policy Finder) replaces the old 'Sherpa/RoMEO' tool name used in the written module — RoMEO was retired in Nov 2024 and folded into Jisc's Open Policy Finder, so use the current name if anyone asks.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 This is a genuinely practical closer for Lesson 5 — the quarter-by-quarter example in step 2 is worth reading verbatim since it's the most concrete 'how do I not get overwhelmed' answer in the whole module.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Condensed from the full module's written-reflection activity into a fast pair/trio conversation — written reflection works for self-paced learners but eats too much clock time live. Circulate while pairs talk; cold-call 2–3 groups for the share-out rather than going around the whole room.</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Lesson 5 folds into today's closing activity and the wrap-up OSDMP exercise rather than getting its own slide.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 The 'FAIR ≠ open' distinction is the single most-missed point in this module — worth slowing down for. A dataset with a great README sitting in a controlled-access repository is FAIR; a CSV dumped on a personal website with no documentation is open but not FAIR.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min. If time allows, ask the room to name one repository they already use in their field — ties the 'where to search' half back to real, lived experience rather than reading a list.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min. This maps directly to the module's worked example (the 'Global Temperature Dataset' README used throughout Module 2). If you have a real dataset from someone in the room, swap it in live — much more engaging than the canned example.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min. Keep the license list to these three — the module covers more edge cases but for a first pass, 'CC0 vs CC BY vs CC BY-SA' is the 90% case. Mention re3data.org by name; it's a genuinely useful, underused tool.</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Bring two real examples ahead of time if possible — a genuinely well-documented public dataset and a bare-bones one (many agency open-data portals have both). If you don't have time to source real examples, the module's own README example (previous slide) works as the 'strong' case; write a deliberately weak one as the contrast.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Lesson 5 (preparing a real project for release) is exactly what Activity 4.2 in the full module covers — mention it's available as a follow-up exercise after today.</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 The point: 'open code' doesn't require jumping straight to full packaging. Every stage is already more open than a script that never leaves your laptop — meet people where they are.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min. This is the mirror image of Module 3's own README/licensing advice — good line: 'the same checklist you'll apply to someone else's code today is the checklist your own code needs to pass later this session.'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min. The 'why not what' comment principle is worth reading verbatim — it's the single most transferable code-quality habit in the whole module, applicable whether or not someone ever open-sources anything.</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min. Note: the Linux kernel example is GPLv2, not GPLv3 — a real point of confusion even among experienced developers (Linus Torvalds has repeatedly declined to relicense it). Worth stating correctly here since it's a common mix-up.</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most physically active moment in the session — good energy reset right before the Tools module. If the room can't move around, do it as a poll/show-of-hands per corner instead. Sample scenarios: (1) you want max reuse incl. commercial, no conditions → MIT; (2) you want any improvements to stay open forever → GPL; (3) patent protection matters (e.g. novel algorithm) → Apache 2.0; (4) you're releasing a dataset, not code → CC0.</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Lesson 4's tool-ecosystem survey overlaps heavily with tools already named across the other four modules today, so it's the one lesson we point to the self-paced course for rather than repeating.</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 Fast reference slide — the point isn't to memorize every tool, it's to know which category to search re3data.org / a discipline repository list for when the moment comes.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min. If anyone in the room already uses Git daily, invite them to share one habit that's saved them — peer testimony lands better than another slide of terminology.</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min. Frame this as 'things you can literally finish before the next break' rather than homework — ORCID registration genuinely takes under 2 minutes. This sets up the activity directly.</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 Point out that the 'essential' column is exactly the activity they're about to do.</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High completion-rate activity because the task is small and concrete. Walk the room to help anyone stuck on email verification. If wifi is unreliable, have people write down the steps and do it right after the session instead — don't let a connectivity issue eat the whole break.</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Lesson 5's checklist is exactly what today's closing activity walks through live, so it's folded into the activity rather than getting a separate slide.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min. This directly answers the question the opening stat raised. Good moment to ask the room: 'which of these have you seen firsthand?' — usually gets knowing laughs, especially #2 (methods available upon request).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min. The five-question check is a condensed version of the module's full assessment table — good one to leave on screen an extra beat since people often want to photograph it.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 Keep pace brisk through the table, then slow down on Green OA specifically — it's the one researchers underuse because it requires their own initiative (self-archiving) rather than a journal handling it, and it's completely free.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 This is a good moment to mention CONTRIBUTING.md-style docs — the same pattern this project's own repository uses for open-source contributions applies directly to a research team's contributor guidelines.</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activity's output feeds directly into the wrap-up commitment-card exercise — let people know that up front so they write something specific rather than vague.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slide. The goal for the next 20 minutes is to convert five modules' worth of ideas into one concrete, personal artifact — the start of an OSDMP — rather than ending on a passive recap.</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 This is the payoff slide that ties the whole compressed day together — five modules become five questions on one page. If your institution/funder has a DMP template (NSF, NIH, DMPTool), name it explicitly here.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Closing activity — keep it fast and low-pressure. This works well paired with the Module 4 sharing-readiness activity if that ran long; the two can be merged into a single exit-ticket moment.</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 Close by pointing explicitly back to the full curriculum this deck was drawn from — reiterate that today was a highlights tour of ~10 hours of material in 3.5, so the self-paced course is where the depth (and any certification/badge track, if your program offers one) lives.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End on Q&amp;A. If you're facilitating this again, note which sections ran long/short and adjust the timing notes in this deck accordingly — the agenda is intentionally tight and will need tuning to your specific room.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211D"/>
        </a:solidFill>
        <a:effectLst/>
      </p:bgPr>
    </p:bg>
    <p:spTree>
      <p:nvGrpSpPr>
        <p:cNvPr id="1" name=""/>
        <p:cNvGrpSpPr/>
        <p:nvPr/>
      </p:nvGrpSpPr>
      <p:grpSpPr/>
      <p:sp>
        <p:nvSpPr>
          <p:cNvPr id="2" name="Rectangle 1"/>
          <p:cNvSpPr/>
          <p:nvPr/>
        </p:nvSpPr>
        <p:spPr>
          <a:xfrm>
            <a:off x="0" y="5989320"/>
            <a:ext cx="12191695" cy="109728"/>
          </a:xfrm>
          <a:prstGeom prst="rect">
            <a:avLst/>
          </a:prstGeom>
          <a:solidFill>
            <a:srgbClr val="C7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777240"/>
            <a:ext cx="5486400" cy="457200"/>
          </a:xfrm>
          <a:prstGeom prst="rect">
            <a:avLst/>
          </a:prstGeom>
          <a:noFill/>
        </p:spPr>
        <p:txBody>
          <a:bodyPr wrap="square">
            <a:spAutoFit/>
          </a:bodyPr>
          <a:lstStyle/>
          <a:p>
            <a:pPr algn="l">
              <a:spcBef>
                <a:spcPts val="0"/>
              </a:spcBef>
              <a:spcAft>
                <a:spcPts val="600"/>
              </a:spcAft>
            </a:pPr>
            <a:r>
              <a:rPr sz="1400" b="1" i="0">
                <a:solidFill>
                  <a:srgbClr val="C78A1E"/>
                </a:solidFill>
                <a:latin typeface="Calibri"/>
              </a:rPr>
              <a:t>WORKSHOP DRAFT · 3.5 HOURS</a:t>
            </a:r>
          </a:p>
        </p:txBody>
      </p:sp>
      <p:sp>
        <p:nvSpPr>
          <p:cNvPr id="4" name="TextBox 3"/>
          <p:cNvSpPr txBox="1"/>
          <p:nvPr/>
        </p:nvSpPr>
        <p:spPr>
          <a:xfrm>
            <a:off x="777240" y="2331720"/>
            <a:ext cx="10607040" cy="2194560"/>
          </a:xfrm>
          <a:prstGeom prst="rect">
            <a:avLst/>
          </a:prstGeom>
          <a:noFill/>
        </p:spPr>
        <p:txBody>
          <a:bodyPr wrap="square">
            <a:spAutoFit/>
          </a:bodyPr>
          <a:lstStyle/>
          <a:p>
            <a:pPr algn="l">
              <a:spcBef>
                <a:spcPts val="0"/>
              </a:spcBef>
              <a:spcAft>
                <a:spcPts val="400"/>
              </a:spcAft>
            </a:pPr>
            <a:r>
              <a:rPr sz="6000" b="1" i="0">
                <a:solidFill>
                  <a:srgbClr val="FFFFFF"/>
                </a:solidFill>
                <a:latin typeface="Georgia"/>
              </a:rPr>
              <a:t>Open Science 101</a:t>
            </a:r>
          </a:p>
          <a:p>
            <a:pPr algn="l">
              <a:spcBef>
                <a:spcPts val="0"/>
              </a:spcBef>
              <a:spcAft>
                <a:spcPts val="0"/>
              </a:spcAft>
            </a:pPr>
            <a:r>
              <a:rPr sz="2600" b="0" i="0">
                <a:solidFill>
                  <a:srgbClr val="C9CEC9"/>
                </a:solidFill>
                <a:latin typeface="Georgia"/>
              </a:rPr>
              <a:t>A Half-Day Field Guide to Open Science</a:t>
            </a:r>
          </a:p>
        </p:txBody>
      </p:sp>
      <p:sp>
        <p:nvSpPr>
          <p:cNvPr id="5" name="TextBox 4"/>
          <p:cNvSpPr txBox="1"/>
          <p:nvPr/>
        </p:nvSpPr>
        <p:spPr>
          <a:xfrm>
            <a:off x="822960" y="4892040"/>
            <a:ext cx="9144000" cy="914400"/>
          </a:xfrm>
          <a:prstGeom prst="rect">
            <a:avLst/>
          </a:prstGeom>
          <a:noFill/>
        </p:spPr>
        <p:txBody>
          <a:bodyPr wrap="square">
            <a:spAutoFit/>
          </a:bodyPr>
          <a:lstStyle/>
          <a:p>
            <a:pPr algn="l">
              <a:lnSpc>
                <a:spcPct val="120000"/>
              </a:lnSpc>
              <a:spcBef>
                <a:spcPts val="0"/>
              </a:spcBef>
              <a:spcAft>
                <a:spcPts val="600"/>
              </a:spcAft>
            </a:pPr>
            <a:r>
              <a:rPr sz="1600" b="0" i="0">
                <a:solidFill>
                  <a:srgbClr val="B9C0B8"/>
                </a:solidFill>
                <a:latin typeface="Calibri"/>
              </a:rPr>
              <a:t>Five modules, five habits you can start today — ethos, data, software, results, and the tools that tie them together.</a:t>
            </a:r>
          </a:p>
        </p:txBody>
      </p:sp>
      <p:sp>
        <p:nvSpPr>
          <p:cNvPr id="6" name="TextBox 5"/>
          <p:cNvSpPr txBox="1"/>
          <p:nvPr/>
        </p:nvSpPr>
        <p:spPr>
          <a:xfrm>
            <a:off x="822960" y="6080760"/>
            <a:ext cx="7315200" cy="365760"/>
          </a:xfrm>
          <a:prstGeom prst="rect">
            <a:avLst/>
          </a:prstGeom>
          <a:noFill/>
        </p:spPr>
        <p:txBody>
          <a:bodyPr wrap="square">
            <a:spAutoFit/>
          </a:bodyPr>
          <a:lstStyle/>
          <a:p>
            <a:pPr algn="l">
              <a:spcBef>
                <a:spcPts val="0"/>
              </a:spcBef>
              <a:spcAft>
                <a:spcPts val="600"/>
              </a:spcAft>
            </a:pPr>
            <a:r>
              <a:rPr sz="1200" b="0" i="0">
                <a:solidFill>
                  <a:srgbClr val="5B655F"/>
                </a:solidFill>
                <a:latin typeface="Calibri"/>
              </a:rPr>
              <a:t>Adapted from the Open Science 101 curriculum  ·  VERSO-UVM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5EE"/>
        </a:solidFill>
        <a:effectLst/>
      </p:bgPr>
    </p:bg>
    <p:spTree>
      <p:nvGrpSpPr>
        <p:cNvPr id="1" name=""/>
        <p:cNvGrpSpPr/>
        <p:nvPr/>
      </p:nvGrpSpPr>
      <p:grpSpPr/>
      <p:sp>
        <p:nvSpPr>
          <p:cNvPr id="2" name="TextBox 1"/>
          <p:cNvSpPr txBox="1"/>
          <p:nvPr/>
        </p:nvSpPr>
        <p:spPr>
          <a:xfrm>
            <a:off x="548640" y="411480"/>
            <a:ext cx="7315200" cy="365760"/>
          </a:xfrm>
          <a:prstGeom prst="rect">
            <a:avLst/>
          </a:prstGeom>
          <a:noFill/>
        </p:spPr>
        <p:txBody>
          <a:bodyPr wrap="square">
            <a:spAutoFit/>
          </a:bodyPr>
          <a:lstStyle/>
          <a:p>
            <a:pPr algn="l">
              <a:spcBef>
                <a:spcPts val="0"/>
              </a:spcBef>
              <a:spcAft>
                <a:spcPts val="600"/>
              </a:spcAft>
            </a:pPr>
            <a:r>
              <a:rPr sz="1300" b="1" i="0" spc="120">
                <a:solidFill>
                  <a:srgbClr val="1B211D"/>
                </a:solidFill>
                <a:latin typeface="Calibri"/>
              </a:rPr>
              <a:t>TODAY'S AGENDA</a:t>
            </a:r>
          </a:p>
        </p:txBody>
      </p:sp>
      <p:sp>
        <p:nvSpPr>
          <p:cNvPr id="3" name="TextBox 2"/>
          <p:cNvSpPr txBox="1"/>
          <p:nvPr/>
        </p:nvSpPr>
        <p:spPr>
          <a:xfrm>
            <a:off x="548640" y="777240"/>
            <a:ext cx="7315200" cy="548640"/>
          </a:xfrm>
          <a:prstGeom prst="rect">
            <a:avLst/>
          </a:prstGeom>
          <a:noFill/>
        </p:spPr>
        <p:txBody>
          <a:bodyPr wrap="square">
            <a:spAutoFit/>
          </a:bodyPr>
          <a:lstStyle/>
          <a:p>
            <a:pPr algn="l">
              <a:spcBef>
                <a:spcPts val="0"/>
              </a:spcBef>
              <a:spcAft>
                <a:spcPts val="600"/>
              </a:spcAft>
            </a:pPr>
            <a:r>
              <a:rPr sz="3000" b="1" i="0">
                <a:solidFill>
                  <a:srgbClr val="1B211D"/>
                </a:solidFill>
                <a:latin typeface="Georgia"/>
              </a:rPr>
              <a:t>3.5 hours, five modules, two breaks</a:t>
            </a:r>
          </a:p>
        </p:txBody>
      </p:sp>
      <p:sp>
        <p:nvSpPr>
          <p:cNvPr id="4" name="Rounded Rectangle 3"/>
          <p:cNvSpPr/>
          <p:nvPr/>
        </p:nvSpPr>
        <p:spPr>
          <a:xfrm>
            <a:off x="548640" y="1508760"/>
            <a:ext cx="10881360" cy="45720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508760"/>
            <a:ext cx="82296" cy="457200"/>
          </a:xfrm>
          <a:prstGeom prst="rect">
            <a:avLst/>
          </a:prstGeom>
          <a:solidFill>
            <a:srgbClr val="1B2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563624"/>
            <a:ext cx="1371600" cy="365760"/>
          </a:xfrm>
          <a:prstGeom prst="rect">
            <a:avLst/>
          </a:prstGeom>
          <a:noFill/>
        </p:spPr>
        <p:txBody>
          <a:bodyPr wrap="square">
            <a:spAutoFit/>
          </a:bodyPr>
          <a:lstStyle/>
          <a:p>
            <a:pPr algn="l">
              <a:spcBef>
                <a:spcPts val="0"/>
              </a:spcBef>
              <a:spcAft>
                <a:spcPts val="600"/>
              </a:spcAft>
            </a:pPr>
            <a:r>
              <a:rPr sz="1300" b="0" i="0">
                <a:solidFill>
                  <a:srgbClr val="5B655F"/>
                </a:solidFill>
                <a:latin typeface="Consolas"/>
              </a:rPr>
              <a:t>0:00–0:15</a:t>
            </a:r>
          </a:p>
        </p:txBody>
      </p:sp>
      <p:sp>
        <p:nvSpPr>
          <p:cNvPr id="7" name="TextBox 6"/>
          <p:cNvSpPr txBox="1"/>
          <p:nvPr/>
        </p:nvSpPr>
        <p:spPr>
          <a:xfrm>
            <a:off x="2331720" y="1545336"/>
            <a:ext cx="7863840" cy="365760"/>
          </a:xfrm>
          <a:prstGeom prst="rect">
            <a:avLst/>
          </a:prstGeom>
          <a:noFill/>
        </p:spPr>
        <p:txBody>
          <a:bodyPr wrap="square">
            <a:spAutoFit/>
          </a:bodyPr>
          <a:lstStyle/>
          <a:p>
            <a:pPr algn="l">
              <a:spcBef>
                <a:spcPts val="0"/>
              </a:spcBef>
              <a:spcAft>
                <a:spcPts val="600"/>
              </a:spcAft>
            </a:pPr>
            <a:r>
              <a:rPr sz="1500" b="1" i="0">
                <a:solidFill>
                  <a:srgbClr val="1B211D"/>
                </a:solidFill>
                <a:latin typeface="Calibri"/>
              </a:rPr>
              <a:t>Welcome &amp; Why Open Science</a:t>
            </a:r>
          </a:p>
        </p:txBody>
      </p:sp>
      <p:sp>
        <p:nvSpPr>
          <p:cNvPr id="8" name="TextBox 7"/>
          <p:cNvSpPr txBox="1"/>
          <p:nvPr/>
        </p:nvSpPr>
        <p:spPr>
          <a:xfrm>
            <a:off x="10149840" y="1563624"/>
            <a:ext cx="1188720" cy="365760"/>
          </a:xfrm>
          <a:prstGeom prst="rect">
            <a:avLst/>
          </a:prstGeom>
          <a:noFill/>
        </p:spPr>
        <p:txBody>
          <a:bodyPr wrap="square">
            <a:spAutoFit/>
          </a:bodyPr>
          <a:lstStyle/>
          <a:p>
            <a:pPr algn="r">
              <a:spcBef>
                <a:spcPts val="0"/>
              </a:spcBef>
              <a:spcAft>
                <a:spcPts val="600"/>
              </a:spcAft>
            </a:pPr>
            <a:r>
              <a:rPr sz="1300" b="1" i="0">
                <a:solidFill>
                  <a:srgbClr val="1B211D"/>
                </a:solidFill>
                <a:latin typeface="Calibri"/>
              </a:rPr>
              <a:t>15 min</a:t>
            </a:r>
          </a:p>
        </p:txBody>
      </p:sp>
      <p:sp>
        <p:nvSpPr>
          <p:cNvPr id="9" name="Rounded Rectangle 8"/>
          <p:cNvSpPr/>
          <p:nvPr/>
        </p:nvSpPr>
        <p:spPr>
          <a:xfrm>
            <a:off x="548640" y="2034540"/>
            <a:ext cx="10881360" cy="45720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034540"/>
            <a:ext cx="82296" cy="457200"/>
          </a:xfrm>
          <a:prstGeom prst="rect">
            <a:avLst/>
          </a:prstGeom>
          <a:solidFill>
            <a:srgbClr val="2F6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2089404"/>
            <a:ext cx="1371600" cy="365760"/>
          </a:xfrm>
          <a:prstGeom prst="rect">
            <a:avLst/>
          </a:prstGeom>
          <a:noFill/>
        </p:spPr>
        <p:txBody>
          <a:bodyPr wrap="square">
            <a:spAutoFit/>
          </a:bodyPr>
          <a:lstStyle/>
          <a:p>
            <a:pPr algn="l">
              <a:spcBef>
                <a:spcPts val="0"/>
              </a:spcBef>
              <a:spcAft>
                <a:spcPts val="600"/>
              </a:spcAft>
            </a:pPr>
            <a:r>
              <a:rPr sz="1300" b="0" i="0">
                <a:solidFill>
                  <a:srgbClr val="5B655F"/>
                </a:solidFill>
                <a:latin typeface="Consolas"/>
              </a:rPr>
              <a:t>0:15–0:45</a:t>
            </a:r>
          </a:p>
        </p:txBody>
      </p:sp>
      <p:sp>
        <p:nvSpPr>
          <p:cNvPr id="12" name="TextBox 11"/>
          <p:cNvSpPr txBox="1"/>
          <p:nvPr/>
        </p:nvSpPr>
        <p:spPr>
          <a:xfrm>
            <a:off x="2331720" y="2071116"/>
            <a:ext cx="7863840" cy="365760"/>
          </a:xfrm>
          <a:prstGeom prst="rect">
            <a:avLst/>
          </a:prstGeom>
          <a:noFill/>
        </p:spPr>
        <p:txBody>
          <a:bodyPr wrap="square">
            <a:spAutoFit/>
          </a:bodyPr>
          <a:lstStyle/>
          <a:p>
            <a:pPr algn="l">
              <a:spcBef>
                <a:spcPts val="0"/>
              </a:spcBef>
              <a:spcAft>
                <a:spcPts val="600"/>
              </a:spcAft>
            </a:pPr>
            <a:r>
              <a:rPr sz="1500" b="1" i="0">
                <a:solidFill>
                  <a:srgbClr val="1B211D"/>
                </a:solidFill>
                <a:latin typeface="Calibri"/>
              </a:rPr>
              <a:t>Module 1 — Open Science Ethos</a:t>
            </a:r>
          </a:p>
        </p:txBody>
      </p:sp>
      <p:sp>
        <p:nvSpPr>
          <p:cNvPr id="13" name="TextBox 12"/>
          <p:cNvSpPr txBox="1"/>
          <p:nvPr/>
        </p:nvSpPr>
        <p:spPr>
          <a:xfrm>
            <a:off x="10149840" y="2089404"/>
            <a:ext cx="1188720" cy="365760"/>
          </a:xfrm>
          <a:prstGeom prst="rect">
            <a:avLst/>
          </a:prstGeom>
          <a:noFill/>
        </p:spPr>
        <p:txBody>
          <a:bodyPr wrap="square">
            <a:spAutoFit/>
          </a:bodyPr>
          <a:lstStyle/>
          <a:p>
            <a:pPr algn="r">
              <a:spcBef>
                <a:spcPts val="0"/>
              </a:spcBef>
              <a:spcAft>
                <a:spcPts val="600"/>
              </a:spcAft>
            </a:pPr>
            <a:r>
              <a:rPr sz="1300" b="1" i="0">
                <a:solidFill>
                  <a:srgbClr val="2F6F5E"/>
                </a:solidFill>
                <a:latin typeface="Calibri"/>
              </a:rPr>
              <a:t>30 min</a:t>
            </a:r>
          </a:p>
        </p:txBody>
      </p:sp>
      <p:sp>
        <p:nvSpPr>
          <p:cNvPr id="14" name="Rounded Rectangle 13"/>
          <p:cNvSpPr/>
          <p:nvPr/>
        </p:nvSpPr>
        <p:spPr>
          <a:xfrm>
            <a:off x="548640" y="2560320"/>
            <a:ext cx="10881360" cy="45720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560320"/>
            <a:ext cx="82296" cy="457200"/>
          </a:xfrm>
          <a:prstGeom prst="rect">
            <a:avLst/>
          </a:prstGeom>
          <a:solidFill>
            <a:srgbClr val="2A5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2615184"/>
            <a:ext cx="1371600" cy="365760"/>
          </a:xfrm>
          <a:prstGeom prst="rect">
            <a:avLst/>
          </a:prstGeom>
          <a:noFill/>
        </p:spPr>
        <p:txBody>
          <a:bodyPr wrap="square">
            <a:spAutoFit/>
          </a:bodyPr>
          <a:lstStyle/>
          <a:p>
            <a:pPr algn="l">
              <a:spcBef>
                <a:spcPts val="0"/>
              </a:spcBef>
              <a:spcAft>
                <a:spcPts val="600"/>
              </a:spcAft>
            </a:pPr>
            <a:r>
              <a:rPr sz="1300" b="0" i="0">
                <a:solidFill>
                  <a:srgbClr val="5B655F"/>
                </a:solidFill>
                <a:latin typeface="Consolas"/>
              </a:rPr>
              <a:t>0:45–1:15</a:t>
            </a:r>
          </a:p>
        </p:txBody>
      </p:sp>
      <p:sp>
        <p:nvSpPr>
          <p:cNvPr id="17" name="TextBox 16"/>
          <p:cNvSpPr txBox="1"/>
          <p:nvPr/>
        </p:nvSpPr>
        <p:spPr>
          <a:xfrm>
            <a:off x="2331720" y="2596896"/>
            <a:ext cx="7863840" cy="365760"/>
          </a:xfrm>
          <a:prstGeom prst="rect">
            <a:avLst/>
          </a:prstGeom>
          <a:noFill/>
        </p:spPr>
        <p:txBody>
          <a:bodyPr wrap="square">
            <a:spAutoFit/>
          </a:bodyPr>
          <a:lstStyle/>
          <a:p>
            <a:pPr algn="l">
              <a:spcBef>
                <a:spcPts val="0"/>
              </a:spcBef>
              <a:spcAft>
                <a:spcPts val="600"/>
              </a:spcAft>
            </a:pPr>
            <a:r>
              <a:rPr sz="1500" b="1" i="0">
                <a:solidFill>
                  <a:srgbClr val="1B211D"/>
                </a:solidFill>
                <a:latin typeface="Calibri"/>
              </a:rPr>
              <a:t>Module 2 — Open Data</a:t>
            </a:r>
          </a:p>
        </p:txBody>
      </p:sp>
      <p:sp>
        <p:nvSpPr>
          <p:cNvPr id="18" name="TextBox 17"/>
          <p:cNvSpPr txBox="1"/>
          <p:nvPr/>
        </p:nvSpPr>
        <p:spPr>
          <a:xfrm>
            <a:off x="10149840" y="2615184"/>
            <a:ext cx="1188720" cy="365760"/>
          </a:xfrm>
          <a:prstGeom prst="rect">
            <a:avLst/>
          </a:prstGeom>
          <a:noFill/>
        </p:spPr>
        <p:txBody>
          <a:bodyPr wrap="square">
            <a:spAutoFit/>
          </a:bodyPr>
          <a:lstStyle/>
          <a:p>
            <a:pPr algn="r">
              <a:spcBef>
                <a:spcPts val="0"/>
              </a:spcBef>
              <a:spcAft>
                <a:spcPts val="600"/>
              </a:spcAft>
            </a:pPr>
            <a:r>
              <a:rPr sz="1300" b="1" i="0">
                <a:solidFill>
                  <a:srgbClr val="2A5C8A"/>
                </a:solidFill>
                <a:latin typeface="Calibri"/>
              </a:rPr>
              <a:t>30 min</a:t>
            </a:r>
          </a:p>
        </p:txBody>
      </p:sp>
      <p:sp>
        <p:nvSpPr>
          <p:cNvPr id="19" name="Rounded Rectangle 18"/>
          <p:cNvSpPr/>
          <p:nvPr/>
        </p:nvSpPr>
        <p:spPr>
          <a:xfrm>
            <a:off x="548640" y="3086100"/>
            <a:ext cx="10881360" cy="457200"/>
          </a:xfrm>
          <a:prstGeom prst="roundRect">
            <a:avLst>
              <a:gd name="adj" fmla="val 15000"/>
            </a:avLst>
          </a:prstGeom>
          <a:solidFill>
            <a:srgbClr val="EFEC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086100"/>
            <a:ext cx="82296" cy="457200"/>
          </a:xfrm>
          <a:prstGeom prst="rect">
            <a:avLst/>
          </a:prstGeom>
          <a:solidFill>
            <a:srgbClr val="1B2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8680" y="3140964"/>
            <a:ext cx="1371600" cy="365760"/>
          </a:xfrm>
          <a:prstGeom prst="rect">
            <a:avLst/>
          </a:prstGeom>
          <a:noFill/>
        </p:spPr>
        <p:txBody>
          <a:bodyPr wrap="square">
            <a:spAutoFit/>
          </a:bodyPr>
          <a:lstStyle/>
          <a:p>
            <a:pPr algn="l">
              <a:spcBef>
                <a:spcPts val="0"/>
              </a:spcBef>
              <a:spcAft>
                <a:spcPts val="600"/>
              </a:spcAft>
            </a:pPr>
            <a:r>
              <a:rPr sz="1300" b="0" i="0">
                <a:solidFill>
                  <a:srgbClr val="5B655F"/>
                </a:solidFill>
                <a:latin typeface="Consolas"/>
              </a:rPr>
              <a:t>1:15–1:30</a:t>
            </a:r>
          </a:p>
        </p:txBody>
      </p:sp>
      <p:sp>
        <p:nvSpPr>
          <p:cNvPr id="22" name="TextBox 21"/>
          <p:cNvSpPr txBox="1"/>
          <p:nvPr/>
        </p:nvSpPr>
        <p:spPr>
          <a:xfrm>
            <a:off x="2331720" y="3122676"/>
            <a:ext cx="7863840" cy="365760"/>
          </a:xfrm>
          <a:prstGeom prst="rect">
            <a:avLst/>
          </a:prstGeom>
          <a:noFill/>
        </p:spPr>
        <p:txBody>
          <a:bodyPr wrap="square">
            <a:spAutoFit/>
          </a:bodyPr>
          <a:lstStyle/>
          <a:p>
            <a:pPr algn="l">
              <a:spcBef>
                <a:spcPts val="0"/>
              </a:spcBef>
              <a:spcAft>
                <a:spcPts val="600"/>
              </a:spcAft>
            </a:pPr>
            <a:r>
              <a:rPr sz="1500" b="0" i="1">
                <a:solidFill>
                  <a:srgbClr val="1B211D"/>
                </a:solidFill>
                <a:latin typeface="Calibri"/>
              </a:rPr>
              <a:t>☕ Break</a:t>
            </a:r>
          </a:p>
        </p:txBody>
      </p:sp>
      <p:sp>
        <p:nvSpPr>
          <p:cNvPr id="23" name="TextBox 22"/>
          <p:cNvSpPr txBox="1"/>
          <p:nvPr/>
        </p:nvSpPr>
        <p:spPr>
          <a:xfrm>
            <a:off x="10149840" y="3140964"/>
            <a:ext cx="1188720" cy="365760"/>
          </a:xfrm>
          <a:prstGeom prst="rect">
            <a:avLst/>
          </a:prstGeom>
          <a:noFill/>
        </p:spPr>
        <p:txBody>
          <a:bodyPr wrap="square">
            <a:spAutoFit/>
          </a:bodyPr>
          <a:lstStyle/>
          <a:p>
            <a:pPr algn="r">
              <a:spcBef>
                <a:spcPts val="0"/>
              </a:spcBef>
              <a:spcAft>
                <a:spcPts val="600"/>
              </a:spcAft>
            </a:pPr>
            <a:r>
              <a:rPr sz="1300" b="1" i="0">
                <a:solidFill>
                  <a:srgbClr val="1B211D"/>
                </a:solidFill>
                <a:latin typeface="Calibri"/>
              </a:rPr>
              <a:t>15 min</a:t>
            </a:r>
          </a:p>
        </p:txBody>
      </p:sp>
      <p:sp>
        <p:nvSpPr>
          <p:cNvPr id="24" name="Rounded Rectangle 23"/>
          <p:cNvSpPr/>
          <p:nvPr/>
        </p:nvSpPr>
        <p:spPr>
          <a:xfrm>
            <a:off x="548640" y="3611880"/>
            <a:ext cx="10881360" cy="45720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611880"/>
            <a:ext cx="82296" cy="457200"/>
          </a:xfrm>
          <a:prstGeom prst="rect">
            <a:avLst/>
          </a:prstGeom>
          <a:solidFill>
            <a:srgbClr val="6B4F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68680" y="3666744"/>
            <a:ext cx="1371600" cy="365760"/>
          </a:xfrm>
          <a:prstGeom prst="rect">
            <a:avLst/>
          </a:prstGeom>
          <a:noFill/>
        </p:spPr>
        <p:txBody>
          <a:bodyPr wrap="square">
            <a:spAutoFit/>
          </a:bodyPr>
          <a:lstStyle/>
          <a:p>
            <a:pPr algn="l">
              <a:spcBef>
                <a:spcPts val="0"/>
              </a:spcBef>
              <a:spcAft>
                <a:spcPts val="600"/>
              </a:spcAft>
            </a:pPr>
            <a:r>
              <a:rPr sz="1300" b="0" i="0">
                <a:solidFill>
                  <a:srgbClr val="5B655F"/>
                </a:solidFill>
                <a:latin typeface="Consolas"/>
              </a:rPr>
              <a:t>1:30–2:00</a:t>
            </a:r>
          </a:p>
        </p:txBody>
      </p:sp>
      <p:sp>
        <p:nvSpPr>
          <p:cNvPr id="27" name="TextBox 26"/>
          <p:cNvSpPr txBox="1"/>
          <p:nvPr/>
        </p:nvSpPr>
        <p:spPr>
          <a:xfrm>
            <a:off x="2331720" y="3648456"/>
            <a:ext cx="7863840" cy="365760"/>
          </a:xfrm>
          <a:prstGeom prst="rect">
            <a:avLst/>
          </a:prstGeom>
          <a:noFill/>
        </p:spPr>
        <p:txBody>
          <a:bodyPr wrap="square">
            <a:spAutoFit/>
          </a:bodyPr>
          <a:lstStyle/>
          <a:p>
            <a:pPr algn="l">
              <a:spcBef>
                <a:spcPts val="0"/>
              </a:spcBef>
              <a:spcAft>
                <a:spcPts val="600"/>
              </a:spcAft>
            </a:pPr>
            <a:r>
              <a:rPr sz="1500" b="1" i="0">
                <a:solidFill>
                  <a:srgbClr val="1B211D"/>
                </a:solidFill>
                <a:latin typeface="Calibri"/>
              </a:rPr>
              <a:t>Module 3 — Open Software</a:t>
            </a:r>
          </a:p>
        </p:txBody>
      </p:sp>
      <p:sp>
        <p:nvSpPr>
          <p:cNvPr id="28" name="TextBox 27"/>
          <p:cNvSpPr txBox="1"/>
          <p:nvPr/>
        </p:nvSpPr>
        <p:spPr>
          <a:xfrm>
            <a:off x="10149840" y="3666744"/>
            <a:ext cx="1188720" cy="365760"/>
          </a:xfrm>
          <a:prstGeom prst="rect">
            <a:avLst/>
          </a:prstGeom>
          <a:noFill/>
        </p:spPr>
        <p:txBody>
          <a:bodyPr wrap="square">
            <a:spAutoFit/>
          </a:bodyPr>
          <a:lstStyle/>
          <a:p>
            <a:pPr algn="r">
              <a:spcBef>
                <a:spcPts val="0"/>
              </a:spcBef>
              <a:spcAft>
                <a:spcPts val="600"/>
              </a:spcAft>
            </a:pPr>
            <a:r>
              <a:rPr sz="1300" b="1" i="0">
                <a:solidFill>
                  <a:srgbClr val="6B4FA0"/>
                </a:solidFill>
                <a:latin typeface="Calibri"/>
              </a:rPr>
              <a:t>30 min</a:t>
            </a:r>
          </a:p>
        </p:txBody>
      </p:sp>
      <p:sp>
        <p:nvSpPr>
          <p:cNvPr id="29" name="Rounded Rectangle 28"/>
          <p:cNvSpPr/>
          <p:nvPr/>
        </p:nvSpPr>
        <p:spPr>
          <a:xfrm>
            <a:off x="548640" y="4137660"/>
            <a:ext cx="10881360" cy="45720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137660"/>
            <a:ext cx="82296" cy="457200"/>
          </a:xfrm>
          <a:prstGeom prst="rect">
            <a:avLst/>
          </a:prstGeom>
          <a:solidFill>
            <a:srgbClr val="A15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68680" y="4192524"/>
            <a:ext cx="1371600" cy="365760"/>
          </a:xfrm>
          <a:prstGeom prst="rect">
            <a:avLst/>
          </a:prstGeom>
          <a:noFill/>
        </p:spPr>
        <p:txBody>
          <a:bodyPr wrap="square">
            <a:spAutoFit/>
          </a:bodyPr>
          <a:lstStyle/>
          <a:p>
            <a:pPr algn="l">
              <a:spcBef>
                <a:spcPts val="0"/>
              </a:spcBef>
              <a:spcAft>
                <a:spcPts val="600"/>
              </a:spcAft>
            </a:pPr>
            <a:r>
              <a:rPr sz="1300" b="0" i="0">
                <a:solidFill>
                  <a:srgbClr val="5B655F"/>
                </a:solidFill>
                <a:latin typeface="Consolas"/>
              </a:rPr>
              <a:t>2:00–2:25</a:t>
            </a:r>
          </a:p>
        </p:txBody>
      </p:sp>
      <p:sp>
        <p:nvSpPr>
          <p:cNvPr id="32" name="TextBox 31"/>
          <p:cNvSpPr txBox="1"/>
          <p:nvPr/>
        </p:nvSpPr>
        <p:spPr>
          <a:xfrm>
            <a:off x="2331720" y="4174236"/>
            <a:ext cx="7863840" cy="365760"/>
          </a:xfrm>
          <a:prstGeom prst="rect">
            <a:avLst/>
          </a:prstGeom>
          <a:noFill/>
        </p:spPr>
        <p:txBody>
          <a:bodyPr wrap="square">
            <a:spAutoFit/>
          </a:bodyPr>
          <a:lstStyle/>
          <a:p>
            <a:pPr algn="l">
              <a:spcBef>
                <a:spcPts val="0"/>
              </a:spcBef>
              <a:spcAft>
                <a:spcPts val="600"/>
              </a:spcAft>
            </a:pPr>
            <a:r>
              <a:rPr sz="1500" b="1" i="0">
                <a:solidFill>
                  <a:srgbClr val="1B211D"/>
                </a:solidFill>
                <a:latin typeface="Calibri"/>
              </a:rPr>
              <a:t>Module 5 — Open Science Tools</a:t>
            </a:r>
          </a:p>
        </p:txBody>
      </p:sp>
      <p:sp>
        <p:nvSpPr>
          <p:cNvPr id="33" name="TextBox 32"/>
          <p:cNvSpPr txBox="1"/>
          <p:nvPr/>
        </p:nvSpPr>
        <p:spPr>
          <a:xfrm>
            <a:off x="10149840" y="4192524"/>
            <a:ext cx="1188720" cy="365760"/>
          </a:xfrm>
          <a:prstGeom prst="rect">
            <a:avLst/>
          </a:prstGeom>
          <a:noFill/>
        </p:spPr>
        <p:txBody>
          <a:bodyPr wrap="square">
            <a:spAutoFit/>
          </a:bodyPr>
          <a:lstStyle/>
          <a:p>
            <a:pPr algn="r">
              <a:spcBef>
                <a:spcPts val="0"/>
              </a:spcBef>
              <a:spcAft>
                <a:spcPts val="600"/>
              </a:spcAft>
            </a:pPr>
            <a:r>
              <a:rPr sz="1300" b="1" i="0">
                <a:solidFill>
                  <a:srgbClr val="A15A00"/>
                </a:solidFill>
                <a:latin typeface="Calibri"/>
              </a:rPr>
              <a:t>25 min</a:t>
            </a:r>
          </a:p>
        </p:txBody>
      </p:sp>
      <p:sp>
        <p:nvSpPr>
          <p:cNvPr id="34" name="Rounded Rectangle 33"/>
          <p:cNvSpPr/>
          <p:nvPr/>
        </p:nvSpPr>
        <p:spPr>
          <a:xfrm>
            <a:off x="548640" y="4663440"/>
            <a:ext cx="10881360" cy="457200"/>
          </a:xfrm>
          <a:prstGeom prst="roundRect">
            <a:avLst>
              <a:gd name="adj" fmla="val 15000"/>
            </a:avLst>
          </a:prstGeom>
          <a:solidFill>
            <a:srgbClr val="EFEC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4663440"/>
            <a:ext cx="82296" cy="457200"/>
          </a:xfrm>
          <a:prstGeom prst="rect">
            <a:avLst/>
          </a:prstGeom>
          <a:solidFill>
            <a:srgbClr val="1B2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68680" y="4718304"/>
            <a:ext cx="1371600" cy="365760"/>
          </a:xfrm>
          <a:prstGeom prst="rect">
            <a:avLst/>
          </a:prstGeom>
          <a:noFill/>
        </p:spPr>
        <p:txBody>
          <a:bodyPr wrap="square">
            <a:spAutoFit/>
          </a:bodyPr>
          <a:lstStyle/>
          <a:p>
            <a:pPr algn="l">
              <a:spcBef>
                <a:spcPts val="0"/>
              </a:spcBef>
              <a:spcAft>
                <a:spcPts val="600"/>
              </a:spcAft>
            </a:pPr>
            <a:r>
              <a:rPr sz="1300" b="0" i="0">
                <a:solidFill>
                  <a:srgbClr val="5B655F"/>
                </a:solidFill>
                <a:latin typeface="Consolas"/>
              </a:rPr>
              <a:t>2:25–2:35</a:t>
            </a:r>
          </a:p>
        </p:txBody>
      </p:sp>
      <p:sp>
        <p:nvSpPr>
          <p:cNvPr id="37" name="TextBox 36"/>
          <p:cNvSpPr txBox="1"/>
          <p:nvPr/>
        </p:nvSpPr>
        <p:spPr>
          <a:xfrm>
            <a:off x="2331720" y="4700016"/>
            <a:ext cx="7863840" cy="365760"/>
          </a:xfrm>
          <a:prstGeom prst="rect">
            <a:avLst/>
          </a:prstGeom>
          <a:noFill/>
        </p:spPr>
        <p:txBody>
          <a:bodyPr wrap="square">
            <a:spAutoFit/>
          </a:bodyPr>
          <a:lstStyle/>
          <a:p>
            <a:pPr algn="l">
              <a:spcBef>
                <a:spcPts val="0"/>
              </a:spcBef>
              <a:spcAft>
                <a:spcPts val="600"/>
              </a:spcAft>
            </a:pPr>
            <a:r>
              <a:rPr sz="1500" b="0" i="1">
                <a:solidFill>
                  <a:srgbClr val="1B211D"/>
                </a:solidFill>
                <a:latin typeface="Calibri"/>
              </a:rPr>
              <a:t>☕ Break</a:t>
            </a:r>
          </a:p>
        </p:txBody>
      </p:sp>
      <p:sp>
        <p:nvSpPr>
          <p:cNvPr id="38" name="TextBox 37"/>
          <p:cNvSpPr txBox="1"/>
          <p:nvPr/>
        </p:nvSpPr>
        <p:spPr>
          <a:xfrm>
            <a:off x="10149840" y="4718304"/>
            <a:ext cx="1188720" cy="365760"/>
          </a:xfrm>
          <a:prstGeom prst="rect">
            <a:avLst/>
          </a:prstGeom>
          <a:noFill/>
        </p:spPr>
        <p:txBody>
          <a:bodyPr wrap="square">
            <a:spAutoFit/>
          </a:bodyPr>
          <a:lstStyle/>
          <a:p>
            <a:pPr algn="r">
              <a:spcBef>
                <a:spcPts val="0"/>
              </a:spcBef>
              <a:spcAft>
                <a:spcPts val="600"/>
              </a:spcAft>
            </a:pPr>
            <a:r>
              <a:rPr sz="1300" b="1" i="0">
                <a:solidFill>
                  <a:srgbClr val="1B211D"/>
                </a:solidFill>
                <a:latin typeface="Calibri"/>
              </a:rPr>
              <a:t>10 min</a:t>
            </a:r>
          </a:p>
        </p:txBody>
      </p:sp>
      <p:sp>
        <p:nvSpPr>
          <p:cNvPr id="39" name="Rounded Rectangle 38"/>
          <p:cNvSpPr/>
          <p:nvPr/>
        </p:nvSpPr>
        <p:spPr>
          <a:xfrm>
            <a:off x="548640" y="5189220"/>
            <a:ext cx="10881360" cy="45720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548640" y="5189220"/>
            <a:ext cx="82296" cy="457200"/>
          </a:xfrm>
          <a:prstGeom prst="rect">
            <a:avLst/>
          </a:prstGeom>
          <a:solidFill>
            <a:srgbClr val="B345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68680" y="5244084"/>
            <a:ext cx="1371600" cy="365760"/>
          </a:xfrm>
          <a:prstGeom prst="rect">
            <a:avLst/>
          </a:prstGeom>
          <a:noFill/>
        </p:spPr>
        <p:txBody>
          <a:bodyPr wrap="square">
            <a:spAutoFit/>
          </a:bodyPr>
          <a:lstStyle/>
          <a:p>
            <a:pPr algn="l">
              <a:spcBef>
                <a:spcPts val="0"/>
              </a:spcBef>
              <a:spcAft>
                <a:spcPts val="600"/>
              </a:spcAft>
            </a:pPr>
            <a:r>
              <a:rPr sz="1300" b="0" i="0">
                <a:solidFill>
                  <a:srgbClr val="5B655F"/>
                </a:solidFill>
                <a:latin typeface="Consolas"/>
              </a:rPr>
              <a:t>2:35–3:10</a:t>
            </a:r>
          </a:p>
        </p:txBody>
      </p:sp>
      <p:sp>
        <p:nvSpPr>
          <p:cNvPr id="42" name="TextBox 41"/>
          <p:cNvSpPr txBox="1"/>
          <p:nvPr/>
        </p:nvSpPr>
        <p:spPr>
          <a:xfrm>
            <a:off x="2331720" y="5225796"/>
            <a:ext cx="7863840" cy="365760"/>
          </a:xfrm>
          <a:prstGeom prst="rect">
            <a:avLst/>
          </a:prstGeom>
          <a:noFill/>
        </p:spPr>
        <p:txBody>
          <a:bodyPr wrap="square">
            <a:spAutoFit/>
          </a:bodyPr>
          <a:lstStyle/>
          <a:p>
            <a:pPr algn="l">
              <a:spcBef>
                <a:spcPts val="0"/>
              </a:spcBef>
              <a:spcAft>
                <a:spcPts val="600"/>
              </a:spcAft>
            </a:pPr>
            <a:r>
              <a:rPr sz="1500" b="1" i="0">
                <a:solidFill>
                  <a:srgbClr val="1B211D"/>
                </a:solidFill>
                <a:latin typeface="Calibri"/>
              </a:rPr>
              <a:t>Module 4 — Open Results</a:t>
            </a:r>
          </a:p>
        </p:txBody>
      </p:sp>
      <p:sp>
        <p:nvSpPr>
          <p:cNvPr id="43" name="TextBox 42"/>
          <p:cNvSpPr txBox="1"/>
          <p:nvPr/>
        </p:nvSpPr>
        <p:spPr>
          <a:xfrm>
            <a:off x="10149840" y="5244084"/>
            <a:ext cx="1188720" cy="365760"/>
          </a:xfrm>
          <a:prstGeom prst="rect">
            <a:avLst/>
          </a:prstGeom>
          <a:noFill/>
        </p:spPr>
        <p:txBody>
          <a:bodyPr wrap="square">
            <a:spAutoFit/>
          </a:bodyPr>
          <a:lstStyle/>
          <a:p>
            <a:pPr algn="r">
              <a:spcBef>
                <a:spcPts val="0"/>
              </a:spcBef>
              <a:spcAft>
                <a:spcPts val="600"/>
              </a:spcAft>
            </a:pPr>
            <a:r>
              <a:rPr sz="1300" b="1" i="0">
                <a:solidFill>
                  <a:srgbClr val="B3453A"/>
                </a:solidFill>
                <a:latin typeface="Calibri"/>
              </a:rPr>
              <a:t>35 min</a:t>
            </a:r>
          </a:p>
        </p:txBody>
      </p:sp>
      <p:sp>
        <p:nvSpPr>
          <p:cNvPr id="44" name="Rounded Rectangle 43"/>
          <p:cNvSpPr/>
          <p:nvPr/>
        </p:nvSpPr>
        <p:spPr>
          <a:xfrm>
            <a:off x="548640" y="5715000"/>
            <a:ext cx="10881360" cy="45720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548640" y="5715000"/>
            <a:ext cx="82296" cy="457200"/>
          </a:xfrm>
          <a:prstGeom prst="rect">
            <a:avLst/>
          </a:prstGeom>
          <a:solidFill>
            <a:srgbClr val="1B2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68680" y="5769864"/>
            <a:ext cx="1371600" cy="365760"/>
          </a:xfrm>
          <a:prstGeom prst="rect">
            <a:avLst/>
          </a:prstGeom>
          <a:noFill/>
        </p:spPr>
        <p:txBody>
          <a:bodyPr wrap="square">
            <a:spAutoFit/>
          </a:bodyPr>
          <a:lstStyle/>
          <a:p>
            <a:pPr algn="l">
              <a:spcBef>
                <a:spcPts val="0"/>
              </a:spcBef>
              <a:spcAft>
                <a:spcPts val="600"/>
              </a:spcAft>
            </a:pPr>
            <a:r>
              <a:rPr sz="1300" b="0" i="0">
                <a:solidFill>
                  <a:srgbClr val="5B655F"/>
                </a:solidFill>
                <a:latin typeface="Consolas"/>
              </a:rPr>
              <a:t>3:10–3:30</a:t>
            </a:r>
          </a:p>
        </p:txBody>
      </p:sp>
      <p:sp>
        <p:nvSpPr>
          <p:cNvPr id="47" name="TextBox 46"/>
          <p:cNvSpPr txBox="1"/>
          <p:nvPr/>
        </p:nvSpPr>
        <p:spPr>
          <a:xfrm>
            <a:off x="2331720" y="5751576"/>
            <a:ext cx="7863840" cy="365760"/>
          </a:xfrm>
          <a:prstGeom prst="rect">
            <a:avLst/>
          </a:prstGeom>
          <a:noFill/>
        </p:spPr>
        <p:txBody>
          <a:bodyPr wrap="square">
            <a:spAutoFit/>
          </a:bodyPr>
          <a:lstStyle/>
          <a:p>
            <a:pPr algn="l">
              <a:spcBef>
                <a:spcPts val="0"/>
              </a:spcBef>
              <a:spcAft>
                <a:spcPts val="600"/>
              </a:spcAft>
            </a:pPr>
            <a:r>
              <a:rPr sz="1500" b="1" i="0">
                <a:solidFill>
                  <a:srgbClr val="1B211D"/>
                </a:solidFill>
                <a:latin typeface="Calibri"/>
              </a:rPr>
              <a:t>Wrap-up — Your Open Science Plan</a:t>
            </a:r>
          </a:p>
        </p:txBody>
      </p:sp>
      <p:sp>
        <p:nvSpPr>
          <p:cNvPr id="48" name="TextBox 47"/>
          <p:cNvSpPr txBox="1"/>
          <p:nvPr/>
        </p:nvSpPr>
        <p:spPr>
          <a:xfrm>
            <a:off x="10149840" y="5769864"/>
            <a:ext cx="1188720" cy="365760"/>
          </a:xfrm>
          <a:prstGeom prst="rect">
            <a:avLst/>
          </a:prstGeom>
          <a:noFill/>
        </p:spPr>
        <p:txBody>
          <a:bodyPr wrap="square">
            <a:spAutoFit/>
          </a:bodyPr>
          <a:lstStyle/>
          <a:p>
            <a:pPr algn="r">
              <a:spcBef>
                <a:spcPts val="0"/>
              </a:spcBef>
              <a:spcAft>
                <a:spcPts val="600"/>
              </a:spcAft>
            </a:pPr>
            <a:r>
              <a:rPr sz="1300" b="1" i="0">
                <a:solidFill>
                  <a:srgbClr val="1B211D"/>
                </a:solidFill>
                <a:latin typeface="Calibri"/>
              </a:rPr>
              <a:t>20 min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B211D"/>
        </a:solidFill>
        <a:effectLst/>
      </p:bgPr>
    </p:bg>
    <p:spTree>
      <p:nvGrpSpPr>
        <p:cNvPr id="1" name=""/>
        <p:cNvGrpSpPr/>
        <p:nvPr/>
      </p:nvGrpSpPr>
      <p:grpSpPr/>
      <p:sp>
        <p:nvSpPr>
          <p:cNvPr id="2" name="TextBox 1"/>
          <p:cNvSpPr txBox="1"/>
          <p:nvPr/>
        </p:nvSpPr>
        <p:spPr>
          <a:xfrm>
            <a:off x="548640" y="411480"/>
            <a:ext cx="7315200" cy="365760"/>
          </a:xfrm>
          <a:prstGeom prst="rect">
            <a:avLst/>
          </a:prstGeom>
          <a:noFill/>
        </p:spPr>
        <p:txBody>
          <a:bodyPr wrap="square">
            <a:spAutoFit/>
          </a:bodyPr>
          <a:lstStyle/>
          <a:p>
            <a:pPr algn="l">
              <a:spcBef>
                <a:spcPts val="0"/>
              </a:spcBef>
              <a:spcAft>
                <a:spcPts val="600"/>
              </a:spcAft>
            </a:pPr>
            <a:r>
              <a:rPr sz="1300" b="1" i="0" spc="120">
                <a:solidFill>
                  <a:srgbClr val="C78A1E"/>
                </a:solidFill>
                <a:latin typeface="Calibri"/>
              </a:rPr>
              <a:t>WARM-UP · LIVE POLL</a:t>
            </a:r>
          </a:p>
        </p:txBody>
      </p:sp>
      <p:sp>
        <p:nvSpPr>
          <p:cNvPr id="3" name="TextBox 2"/>
          <p:cNvSpPr txBox="1"/>
          <p:nvPr/>
        </p:nvSpPr>
        <p:spPr>
          <a:xfrm>
            <a:off x="548640" y="914400"/>
            <a:ext cx="10515600" cy="1097280"/>
          </a:xfrm>
          <a:prstGeom prst="rect">
            <a:avLst/>
          </a:prstGeom>
          <a:noFill/>
        </p:spPr>
        <p:txBody>
          <a:bodyPr wrap="square">
            <a:spAutoFit/>
          </a:bodyPr>
          <a:lstStyle/>
          <a:p>
            <a:pPr algn="l">
              <a:spcBef>
                <a:spcPts val="0"/>
              </a:spcBef>
              <a:spcAft>
                <a:spcPts val="600"/>
              </a:spcAft>
            </a:pPr>
            <a:r>
              <a:rPr sz="2400" b="0" i="0">
                <a:solidFill>
                  <a:srgbClr val="FFFFFF"/>
                </a:solidFill>
                <a:latin typeface="Georgia"/>
              </a:rPr>
              <a:t>Raise a hand (or drop it in the chat):</a:t>
            </a:r>
          </a:p>
        </p:txBody>
      </p:sp>
      <p:sp>
        <p:nvSpPr>
          <p:cNvPr id="4" name="Rounded Rectangle 3"/>
          <p:cNvSpPr/>
          <p:nvPr/>
        </p:nvSpPr>
        <p:spPr>
          <a:xfrm>
            <a:off x="548640" y="2148840"/>
            <a:ext cx="502920" cy="502920"/>
          </a:xfrm>
          <a:prstGeom prst="roundRect">
            <a:avLst>
              <a:gd name="adj" fmla="val 50000"/>
            </a:avLst>
          </a:prstGeom>
          <a:solidFill>
            <a:srgbClr val="C7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148840"/>
            <a:ext cx="502920" cy="502920"/>
          </a:xfrm>
          <a:prstGeom prst="rect">
            <a:avLst/>
          </a:prstGeom>
          <a:noFill/>
        </p:spPr>
        <p:txBody>
          <a:bodyPr wrap="square" anchor="ctr">
            <a:spAutoFit/>
          </a:bodyPr>
          <a:lstStyle/>
          <a:p>
            <a:pPr algn="ctr">
              <a:spcBef>
                <a:spcPts val="0"/>
              </a:spcBef>
              <a:spcAft>
                <a:spcPts val="600"/>
              </a:spcAft>
            </a:pPr>
            <a:r>
              <a:rPr sz="2000" b="1" i="0">
                <a:solidFill>
                  <a:srgbClr val="1B211D"/>
                </a:solidFill>
                <a:latin typeface="Calibri"/>
              </a:rPr>
              <a:t>1</a:t>
            </a:r>
          </a:p>
        </p:txBody>
      </p:sp>
      <p:sp>
        <p:nvSpPr>
          <p:cNvPr id="6" name="TextBox 5"/>
          <p:cNvSpPr txBox="1"/>
          <p:nvPr/>
        </p:nvSpPr>
        <p:spPr>
          <a:xfrm>
            <a:off x="1280160" y="2194560"/>
            <a:ext cx="9875520" cy="731520"/>
          </a:xfrm>
          <a:prstGeom prst="rect">
            <a:avLst/>
          </a:prstGeom>
          <a:noFill/>
        </p:spPr>
        <p:txBody>
          <a:bodyPr wrap="square">
            <a:spAutoFit/>
          </a:bodyPr>
          <a:lstStyle/>
          <a:p>
            <a:pPr algn="l">
              <a:spcBef>
                <a:spcPts val="0"/>
              </a:spcBef>
              <a:spcAft>
                <a:spcPts val="600"/>
              </a:spcAft>
            </a:pPr>
            <a:r>
              <a:rPr sz="1800" b="0" i="0">
                <a:solidFill>
                  <a:srgbClr val="E6E6DE"/>
                </a:solidFill>
                <a:latin typeface="Calibri"/>
              </a:rPr>
              <a:t>I've tried to reproduce someone else's published result and failed.</a:t>
            </a:r>
          </a:p>
        </p:txBody>
      </p:sp>
      <p:sp>
        <p:nvSpPr>
          <p:cNvPr id="7" name="Rounded Rectangle 6"/>
          <p:cNvSpPr/>
          <p:nvPr/>
        </p:nvSpPr>
        <p:spPr>
          <a:xfrm>
            <a:off x="548640" y="3017520"/>
            <a:ext cx="502920" cy="502920"/>
          </a:xfrm>
          <a:prstGeom prst="roundRect">
            <a:avLst>
              <a:gd name="adj" fmla="val 50000"/>
            </a:avLst>
          </a:prstGeom>
          <a:solidFill>
            <a:srgbClr val="C7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3017520"/>
            <a:ext cx="502920" cy="502920"/>
          </a:xfrm>
          <a:prstGeom prst="rect">
            <a:avLst/>
          </a:prstGeom>
          <a:noFill/>
        </p:spPr>
        <p:txBody>
          <a:bodyPr wrap="square" anchor="ctr">
            <a:spAutoFit/>
          </a:bodyPr>
          <a:lstStyle/>
          <a:p>
            <a:pPr algn="ctr">
              <a:spcBef>
                <a:spcPts val="0"/>
              </a:spcBef>
              <a:spcAft>
                <a:spcPts val="600"/>
              </a:spcAft>
            </a:pPr>
            <a:r>
              <a:rPr sz="2000" b="1" i="0">
                <a:solidFill>
                  <a:srgbClr val="1B211D"/>
                </a:solidFill>
                <a:latin typeface="Calibri"/>
              </a:rPr>
              <a:t>2</a:t>
            </a:r>
          </a:p>
        </p:txBody>
      </p:sp>
      <p:sp>
        <p:nvSpPr>
          <p:cNvPr id="9" name="TextBox 8"/>
          <p:cNvSpPr txBox="1"/>
          <p:nvPr/>
        </p:nvSpPr>
        <p:spPr>
          <a:xfrm>
            <a:off x="1280160" y="3063240"/>
            <a:ext cx="9875520" cy="731520"/>
          </a:xfrm>
          <a:prstGeom prst="rect">
            <a:avLst/>
          </a:prstGeom>
          <a:noFill/>
        </p:spPr>
        <p:txBody>
          <a:bodyPr wrap="square">
            <a:spAutoFit/>
          </a:bodyPr>
          <a:lstStyle/>
          <a:p>
            <a:pPr algn="l">
              <a:spcBef>
                <a:spcPts val="0"/>
              </a:spcBef>
              <a:spcAft>
                <a:spcPts val="600"/>
              </a:spcAft>
            </a:pPr>
            <a:r>
              <a:rPr sz="1800" b="0" i="0">
                <a:solidFill>
                  <a:srgbClr val="E6E6DE"/>
                </a:solidFill>
                <a:latin typeface="Calibri"/>
              </a:rPr>
              <a:t>I've tried to reproduce my OWN result from a year ago and struggled.</a:t>
            </a:r>
          </a:p>
        </p:txBody>
      </p:sp>
      <p:sp>
        <p:nvSpPr>
          <p:cNvPr id="10" name="Rounded Rectangle 9"/>
          <p:cNvSpPr/>
          <p:nvPr/>
        </p:nvSpPr>
        <p:spPr>
          <a:xfrm>
            <a:off x="548640" y="3886200"/>
            <a:ext cx="502920" cy="502920"/>
          </a:xfrm>
          <a:prstGeom prst="roundRect">
            <a:avLst>
              <a:gd name="adj" fmla="val 50000"/>
            </a:avLst>
          </a:prstGeom>
          <a:solidFill>
            <a:srgbClr val="C7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3886200"/>
            <a:ext cx="502920" cy="502920"/>
          </a:xfrm>
          <a:prstGeom prst="rect">
            <a:avLst/>
          </a:prstGeom>
          <a:noFill/>
        </p:spPr>
        <p:txBody>
          <a:bodyPr wrap="square" anchor="ctr">
            <a:spAutoFit/>
          </a:bodyPr>
          <a:lstStyle/>
          <a:p>
            <a:pPr algn="ctr">
              <a:spcBef>
                <a:spcPts val="0"/>
              </a:spcBef>
              <a:spcAft>
                <a:spcPts val="600"/>
              </a:spcAft>
            </a:pPr>
            <a:r>
              <a:rPr sz="2000" b="1" i="0">
                <a:solidFill>
                  <a:srgbClr val="1B211D"/>
                </a:solidFill>
                <a:latin typeface="Calibri"/>
              </a:rPr>
              <a:t>3</a:t>
            </a:r>
          </a:p>
        </p:txBody>
      </p:sp>
      <p:sp>
        <p:nvSpPr>
          <p:cNvPr id="12" name="TextBox 11"/>
          <p:cNvSpPr txBox="1"/>
          <p:nvPr/>
        </p:nvSpPr>
        <p:spPr>
          <a:xfrm>
            <a:off x="1280160" y="3931920"/>
            <a:ext cx="9875520" cy="731520"/>
          </a:xfrm>
          <a:prstGeom prst="rect">
            <a:avLst/>
          </a:prstGeom>
          <a:noFill/>
        </p:spPr>
        <p:txBody>
          <a:bodyPr wrap="square">
            <a:spAutoFit/>
          </a:bodyPr>
          <a:lstStyle/>
          <a:p>
            <a:pPr algn="l">
              <a:spcBef>
                <a:spcPts val="0"/>
              </a:spcBef>
              <a:spcAft>
                <a:spcPts val="600"/>
              </a:spcAft>
            </a:pPr>
            <a:r>
              <a:rPr sz="1800" b="0" i="0">
                <a:solidFill>
                  <a:srgbClr val="E6E6DE"/>
                </a:solidFill>
                <a:latin typeface="Calibri"/>
              </a:rPr>
              <a:t>I currently share my data or code with a repository, not just email.</a:t>
            </a:r>
          </a:p>
        </p:txBody>
      </p:sp>
      <p:sp>
        <p:nvSpPr>
          <p:cNvPr id="13" name="Rounded Rectangle 12"/>
          <p:cNvSpPr/>
          <p:nvPr/>
        </p:nvSpPr>
        <p:spPr>
          <a:xfrm>
            <a:off x="548640" y="4754880"/>
            <a:ext cx="502920" cy="502920"/>
          </a:xfrm>
          <a:prstGeom prst="roundRect">
            <a:avLst>
              <a:gd name="adj" fmla="val 50000"/>
            </a:avLst>
          </a:prstGeom>
          <a:solidFill>
            <a:srgbClr val="C7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4754880"/>
            <a:ext cx="502920" cy="502920"/>
          </a:xfrm>
          <a:prstGeom prst="rect">
            <a:avLst/>
          </a:prstGeom>
          <a:noFill/>
        </p:spPr>
        <p:txBody>
          <a:bodyPr wrap="square" anchor="ctr">
            <a:spAutoFit/>
          </a:bodyPr>
          <a:lstStyle/>
          <a:p>
            <a:pPr algn="ctr">
              <a:spcBef>
                <a:spcPts val="0"/>
              </a:spcBef>
              <a:spcAft>
                <a:spcPts val="600"/>
              </a:spcAft>
            </a:pPr>
            <a:r>
              <a:rPr sz="2000" b="1" i="0">
                <a:solidFill>
                  <a:srgbClr val="1B211D"/>
                </a:solidFill>
                <a:latin typeface="Calibri"/>
              </a:rPr>
              <a:t>4</a:t>
            </a:r>
          </a:p>
        </p:txBody>
      </p:sp>
      <p:sp>
        <p:nvSpPr>
          <p:cNvPr id="15" name="TextBox 14"/>
          <p:cNvSpPr txBox="1"/>
          <p:nvPr/>
        </p:nvSpPr>
        <p:spPr>
          <a:xfrm>
            <a:off x="1280160" y="4800600"/>
            <a:ext cx="9875520" cy="731520"/>
          </a:xfrm>
          <a:prstGeom prst="rect">
            <a:avLst/>
          </a:prstGeom>
          <a:noFill/>
        </p:spPr>
        <p:txBody>
          <a:bodyPr wrap="square">
            <a:spAutoFit/>
          </a:bodyPr>
          <a:lstStyle/>
          <a:p>
            <a:pPr algn="l">
              <a:spcBef>
                <a:spcPts val="0"/>
              </a:spcBef>
              <a:spcAft>
                <a:spcPts val="600"/>
              </a:spcAft>
            </a:pPr>
            <a:r>
              <a:rPr sz="1800" b="0" i="0">
                <a:solidFill>
                  <a:srgbClr val="E6E6DE"/>
                </a:solidFill>
                <a:latin typeface="Calibri"/>
              </a:rPr>
              <a:t>I have an ORCID and I know what it's for.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B211D"/>
        </a:solidFill>
        <a:effectLst/>
      </p:bgPr>
    </p:bg>
    <p:spTree>
      <p:nvGrpSpPr>
        <p:cNvPr id="1" name=""/>
        <p:cNvGrpSpPr/>
        <p:nvPr/>
      </p:nvGrpSpPr>
      <p:grpSpPr/>
      <p:sp>
        <p:nvSpPr>
          <p:cNvPr id="2" name="TextBox 1"/>
          <p:cNvSpPr txBox="1"/>
          <p:nvPr/>
        </p:nvSpPr>
        <p:spPr>
          <a:xfrm>
            <a:off x="822960" y="1463040"/>
            <a:ext cx="10058400" cy="2011680"/>
          </a:xfrm>
          <a:prstGeom prst="rect">
            <a:avLst/>
          </a:prstGeom>
          <a:noFill/>
        </p:spPr>
        <p:txBody>
          <a:bodyPr wrap="square">
            <a:spAutoFit/>
          </a:bodyPr>
          <a:lstStyle/>
          <a:p>
            <a:pPr algn="l">
              <a:spcBef>
                <a:spcPts val="0"/>
              </a:spcBef>
              <a:spcAft>
                <a:spcPts val="0"/>
              </a:spcAft>
            </a:pPr>
            <a:r>
              <a:rPr sz="13000" b="1" i="0">
                <a:solidFill>
                  <a:srgbClr val="C78A1E"/>
                </a:solidFill>
                <a:latin typeface="Georgia"/>
              </a:rPr>
              <a:t>70%</a:t>
            </a:r>
          </a:p>
        </p:txBody>
      </p:sp>
      <p:sp>
        <p:nvSpPr>
          <p:cNvPr id="3" name="TextBox 2"/>
          <p:cNvSpPr txBox="1"/>
          <p:nvPr/>
        </p:nvSpPr>
        <p:spPr>
          <a:xfrm>
            <a:off x="868680" y="3429000"/>
            <a:ext cx="9875520" cy="1188720"/>
          </a:xfrm>
          <a:prstGeom prst="rect">
            <a:avLst/>
          </a:prstGeom>
          <a:noFill/>
        </p:spPr>
        <p:txBody>
          <a:bodyPr wrap="square">
            <a:spAutoFit/>
          </a:bodyPr>
          <a:lstStyle/>
          <a:p>
            <a:pPr algn="l">
              <a:lnSpc>
                <a:spcPct val="115000"/>
              </a:lnSpc>
              <a:spcBef>
                <a:spcPts val="0"/>
              </a:spcBef>
              <a:spcAft>
                <a:spcPts val="600"/>
              </a:spcAft>
            </a:pPr>
            <a:r>
              <a:rPr sz="2200" b="0" i="0">
                <a:solidFill>
                  <a:srgbClr val="FFFFFF"/>
                </a:solidFill>
                <a:latin typeface="Calibri"/>
              </a:rPr>
              <a:t>of researchers surveyed have tried and failed to reproduce another scientist's results.</a:t>
            </a:r>
          </a:p>
          <a:p>
            <a:pPr algn="l">
              <a:spcBef>
                <a:spcPts val="800"/>
              </a:spcBef>
              <a:spcAft>
                <a:spcPts val="600"/>
              </a:spcAft>
            </a:pPr>
            <a:r>
              <a:rPr sz="2000" b="0" i="0">
                <a:solidFill>
                  <a:srgbClr val="C9CEC9"/>
                </a:solidFill>
                <a:latin typeface="Calibri"/>
              </a:rPr>
              <a:t>50% have failed to reproduce their own earlier work.</a:t>
            </a:r>
          </a:p>
        </p:txBody>
      </p:sp>
      <p:sp>
        <p:nvSpPr>
          <p:cNvPr id="4" name="TextBox 3"/>
          <p:cNvSpPr txBox="1"/>
          <p:nvPr/>
        </p:nvSpPr>
        <p:spPr>
          <a:xfrm>
            <a:off x="868680" y="5074920"/>
            <a:ext cx="9144000" cy="457200"/>
          </a:xfrm>
          <a:prstGeom prst="rect">
            <a:avLst/>
          </a:prstGeom>
          <a:noFill/>
        </p:spPr>
        <p:txBody>
          <a:bodyPr wrap="square">
            <a:spAutoFit/>
          </a:bodyPr>
          <a:lstStyle/>
          <a:p>
            <a:pPr algn="l">
              <a:spcBef>
                <a:spcPts val="0"/>
              </a:spcBef>
              <a:spcAft>
                <a:spcPts val="600"/>
              </a:spcAft>
            </a:pPr>
            <a:r>
              <a:rPr sz="1300" b="0" i="1">
                <a:solidFill>
                  <a:srgbClr val="5B655F"/>
                </a:solidFill>
                <a:latin typeface="Calibri"/>
              </a:rPr>
              <a:t>— Baker, M. (2016). "1,500 scientists lift the lid on reproducibility." Nature, 533(7604), 452–454.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2F6F5E"/>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C7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1554480"/>
            <a:ext cx="2743200" cy="914400"/>
          </a:xfrm>
          <a:prstGeom prst="rect">
            <a:avLst/>
          </a:prstGeom>
          <a:noFill/>
        </p:spPr>
        <p:txBody>
          <a:bodyPr wrap="square">
            <a:spAutoFit/>
          </a:bodyPr>
          <a:lstStyle/>
          <a:p>
            <a:pPr algn="l">
              <a:spcBef>
                <a:spcPts val="0"/>
              </a:spcBef>
              <a:spcAft>
                <a:spcPts val="600"/>
              </a:spcAft>
            </a:pPr>
            <a:r>
              <a:rPr sz="1600" b="1" i="0">
                <a:solidFill>
                  <a:srgbClr val="E3EEE9"/>
                </a:solidFill>
                <a:latin typeface="Calibri"/>
              </a:rPr>
              <a:t>MODULE 1</a:t>
            </a:r>
          </a:p>
        </p:txBody>
      </p:sp>
      <p:sp>
        <p:nvSpPr>
          <p:cNvPr id="4" name="TextBox 3"/>
          <p:cNvSpPr txBox="1"/>
          <p:nvPr/>
        </p:nvSpPr>
        <p:spPr>
          <a:xfrm>
            <a:off x="822960" y="2011680"/>
            <a:ext cx="10058400" cy="1554480"/>
          </a:xfrm>
          <a:prstGeom prst="rect">
            <a:avLst/>
          </a:prstGeom>
          <a:noFill/>
        </p:spPr>
        <p:txBody>
          <a:bodyPr wrap="square">
            <a:spAutoFit/>
          </a:bodyPr>
          <a:lstStyle/>
          <a:p>
            <a:pPr algn="l">
              <a:spcBef>
                <a:spcPts val="0"/>
              </a:spcBef>
              <a:spcAft>
                <a:spcPts val="600"/>
              </a:spcAft>
            </a:pPr>
            <a:r>
              <a:rPr sz="4800" b="1" i="0">
                <a:solidFill>
                  <a:srgbClr val="FFFFFF"/>
                </a:solidFill>
                <a:latin typeface="Georgia"/>
              </a:rPr>
              <a:t>Open Science Ethos</a:t>
            </a:r>
          </a:p>
        </p:txBody>
      </p:sp>
      <p:sp>
        <p:nvSpPr>
          <p:cNvPr id="5" name="TextBox 4"/>
          <p:cNvSpPr txBox="1"/>
          <p:nvPr/>
        </p:nvSpPr>
        <p:spPr>
          <a:xfrm>
            <a:off x="868680" y="3246120"/>
            <a:ext cx="9601200" cy="914400"/>
          </a:xfrm>
          <a:prstGeom prst="rect">
            <a:avLst/>
          </a:prstGeom>
          <a:noFill/>
        </p:spPr>
        <p:txBody>
          <a:bodyPr wrap="square">
            <a:spAutoFit/>
          </a:bodyPr>
          <a:lstStyle/>
          <a:p>
            <a:pPr algn="l">
              <a:lnSpc>
                <a:spcPct val="120000"/>
              </a:lnSpc>
              <a:spcBef>
                <a:spcPts val="0"/>
              </a:spcBef>
              <a:spcAft>
                <a:spcPts val="600"/>
              </a:spcAft>
            </a:pPr>
            <a:r>
              <a:rPr sz="1800" b="0" i="0">
                <a:solidFill>
                  <a:srgbClr val="E3EEE9"/>
                </a:solidFill>
                <a:latin typeface="Calibri"/>
              </a:rPr>
              <a:t>What open science actually means, why it matters, and — just as important — when it's okay not to be open.</a:t>
            </a:r>
          </a:p>
        </p:txBody>
      </p:sp>
      <p:sp>
        <p:nvSpPr>
          <p:cNvPr id="6" name="TextBox 5"/>
          <p:cNvSpPr txBox="1"/>
          <p:nvPr/>
        </p:nvSpPr>
        <p:spPr>
          <a:xfrm>
            <a:off x="868680" y="6126480"/>
            <a:ext cx="3657600" cy="457200"/>
          </a:xfrm>
          <a:prstGeom prst="rect">
            <a:avLst/>
          </a:prstGeom>
          <a:noFill/>
        </p:spPr>
        <p:txBody>
          <a:bodyPr wrap="square">
            <a:spAutoFit/>
          </a:bodyPr>
          <a:lstStyle/>
          <a:p>
            <a:pPr algn="l">
              <a:spcBef>
                <a:spcPts val="0"/>
              </a:spcBef>
              <a:spcAft>
                <a:spcPts val="600"/>
              </a:spcAft>
            </a:pPr>
            <a:r>
              <a:rPr sz="1400" b="1" i="0">
                <a:solidFill>
                  <a:srgbClr val="E3EEE9"/>
                </a:solidFill>
                <a:latin typeface="Consolas"/>
              </a:rPr>
              <a:t>30 MINUTES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5EE"/>
        </a:solidFill>
        <a:effectLst/>
      </p:bgPr>
    </p:bg>
    <p:spTree>
      <p:nvGrpSpPr>
        <p:cNvPr id="1" name=""/>
        <p:cNvGrpSpPr/>
        <p:nvPr/>
      </p:nvGrpSpPr>
      <p:grpSpPr/>
      <p:sp>
        <p:nvSpPr>
          <p:cNvPr id="2" name="TextBox 1"/>
          <p:cNvSpPr txBox="1"/>
          <p:nvPr/>
        </p:nvSpPr>
        <p:spPr>
          <a:xfrm>
            <a:off x="548640" y="411480"/>
            <a:ext cx="7315200" cy="365760"/>
          </a:xfrm>
          <a:prstGeom prst="rect">
            <a:avLst/>
          </a:prstGeom>
          <a:noFill/>
        </p:spPr>
        <p:txBody>
          <a:bodyPr wrap="square">
            <a:spAutoFit/>
          </a:bodyPr>
          <a:lstStyle/>
          <a:p>
            <a:pPr algn="l">
              <a:spcBef>
                <a:spcPts val="0"/>
              </a:spcBef>
              <a:spcAft>
                <a:spcPts val="600"/>
              </a:spcAft>
            </a:pPr>
            <a:r>
              <a:rPr sz="1300" b="1" i="0" spc="120">
                <a:solidFill>
                  <a:srgbClr val="2F6F5E"/>
                </a:solidFill>
                <a:latin typeface="Calibri"/>
              </a:rPr>
              <a:t>MODULE 1 AT A GLANCE</a:t>
            </a:r>
          </a:p>
        </p:txBody>
      </p:sp>
      <p:sp>
        <p:nvSpPr>
          <p:cNvPr id="3" name="TextBox 2"/>
          <p:cNvSpPr txBox="1"/>
          <p:nvPr/>
        </p:nvSpPr>
        <p:spPr>
          <a:xfrm>
            <a:off x="548640" y="777240"/>
            <a:ext cx="10789920" cy="822960"/>
          </a:xfrm>
          <a:prstGeom prst="rect">
            <a:avLst/>
          </a:prstGeom>
          <a:noFill/>
        </p:spPr>
        <p:txBody>
          <a:bodyPr wrap="square">
            <a:spAutoFit/>
          </a:bodyPr>
          <a:lstStyle/>
          <a:p>
            <a:pPr algn="l">
              <a:spcBef>
                <a:spcPts val="0"/>
              </a:spcBef>
              <a:spcAft>
                <a:spcPts val="600"/>
              </a:spcAft>
            </a:pPr>
            <a:r>
              <a:rPr sz="3000" b="1" i="0">
                <a:solidFill>
                  <a:srgbClr val="1B211D"/>
                </a:solidFill>
                <a:latin typeface="Georgia"/>
              </a:rPr>
              <a:t>Five lessons in the full course</a:t>
            </a:r>
          </a:p>
        </p:txBody>
      </p:sp>
      <p:sp>
        <p:nvSpPr>
          <p:cNvPr id="4" name="TextBox 3"/>
          <p:cNvSpPr txBox="1"/>
          <p:nvPr/>
        </p:nvSpPr>
        <p:spPr>
          <a:xfrm>
            <a:off x="548640" y="6473952"/>
            <a:ext cx="8229600" cy="320040"/>
          </a:xfrm>
          <a:prstGeom prst="rect">
            <a:avLst/>
          </a:prstGeom>
          <a:noFill/>
        </p:spPr>
        <p:txBody>
          <a:bodyPr wrap="square">
            <a:spAutoFit/>
          </a:bodyPr>
          <a:lstStyle/>
          <a:p>
            <a:pPr algn="l">
              <a:spcBef>
                <a:spcPts val="0"/>
              </a:spcBef>
              <a:spcAft>
                <a:spcPts val="600"/>
              </a:spcAft>
            </a:pPr>
            <a:r>
              <a:rPr sz="1000" b="0" i="0">
                <a:solidFill>
                  <a:srgbClr val="5B655F"/>
                </a:solidFill>
                <a:latin typeface="Calibri"/>
              </a:rPr>
              <a:t>Module 1 · Open Science Ethos</a:t>
            </a:r>
          </a:p>
        </p:txBody>
      </p:sp>
      <p:sp>
        <p:nvSpPr>
          <p:cNvPr id="5" name="Rectangle 4"/>
          <p:cNvSpPr/>
          <p:nvPr/>
        </p:nvSpPr>
        <p:spPr>
          <a:xfrm>
            <a:off x="0" y="6419088"/>
            <a:ext cx="12191695" cy="17780"/>
          </a:xfrm>
          <a:prstGeom prst="rect">
            <a:avLst/>
          </a:prstGeom>
          <a:solidFill>
            <a:srgbClr val="2F6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783080"/>
            <a:ext cx="10607040" cy="731520"/>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783080"/>
            <a:ext cx="640080" cy="731520"/>
          </a:xfrm>
          <a:prstGeom prst="rect">
            <a:avLst/>
          </a:prstGeom>
          <a:solidFill>
            <a:srgbClr val="2F6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965960"/>
            <a:ext cx="640080" cy="365760"/>
          </a:xfrm>
          <a:prstGeom prst="rect">
            <a:avLst/>
          </a:prstGeom>
          <a:noFill/>
        </p:spPr>
        <p:txBody>
          <a:bodyPr wrap="square" anchor="ctr">
            <a:spAutoFit/>
          </a:bodyPr>
          <a:lstStyle/>
          <a:p>
            <a:pPr algn="ctr">
              <a:spcBef>
                <a:spcPts val="0"/>
              </a:spcBef>
              <a:spcAft>
                <a:spcPts val="600"/>
              </a:spcAft>
            </a:pPr>
            <a:r>
              <a:rPr sz="1500" b="1" i="0">
                <a:solidFill>
                  <a:srgbClr val="FFFFFF"/>
                </a:solidFill>
                <a:latin typeface="Calibri"/>
              </a:rPr>
              <a:t>L1</a:t>
            </a:r>
          </a:p>
        </p:txBody>
      </p:sp>
      <p:sp>
        <p:nvSpPr>
          <p:cNvPr id="9" name="TextBox 8"/>
          <p:cNvSpPr txBox="1"/>
          <p:nvPr/>
        </p:nvSpPr>
        <p:spPr>
          <a:xfrm>
            <a:off x="1371600" y="1856232"/>
            <a:ext cx="5394960" cy="594360"/>
          </a:xfrm>
          <a:prstGeom prst="rect">
            <a:avLst/>
          </a:prstGeom>
          <a:noFill/>
        </p:spPr>
        <p:txBody>
          <a:bodyPr wrap="square">
            <a:spAutoFit/>
          </a:bodyPr>
          <a:lstStyle/>
          <a:p>
            <a:pPr algn="l">
              <a:spcBef>
                <a:spcPts val="0"/>
              </a:spcBef>
              <a:spcAft>
                <a:spcPts val="100"/>
              </a:spcAft>
            </a:pPr>
            <a:r>
              <a:rPr sz="1450" b="1" i="0">
                <a:solidFill>
                  <a:srgbClr val="1B211D"/>
                </a:solidFill>
                <a:latin typeface="Calibri"/>
              </a:rPr>
              <a:t>What is Open Science?</a:t>
            </a:r>
          </a:p>
          <a:p>
            <a:pPr algn="l">
              <a:spcBef>
                <a:spcPts val="0"/>
              </a:spcBef>
              <a:spcAft>
                <a:spcPts val="600"/>
              </a:spcAft>
            </a:pPr>
            <a:r>
              <a:rPr sz="1250" b="0" i="0">
                <a:solidFill>
                  <a:srgbClr val="5B655F"/>
                </a:solidFill>
                <a:latin typeface="Calibri"/>
              </a:rPr>
              <a:t>Definition + the Use-Make-Share framework</a:t>
            </a:r>
          </a:p>
        </p:txBody>
      </p:sp>
      <p:sp>
        <p:nvSpPr>
          <p:cNvPr id="10" name="Rounded Rectangle 9"/>
          <p:cNvSpPr/>
          <p:nvPr/>
        </p:nvSpPr>
        <p:spPr>
          <a:xfrm>
            <a:off x="8549640" y="1965960"/>
            <a:ext cx="2331720" cy="365760"/>
          </a:xfrm>
          <a:prstGeom prst="roundRect">
            <a:avLst>
              <a:gd name="adj" fmla="val 50000"/>
            </a:avLst>
          </a:prstGeom>
          <a:solidFill>
            <a:srgbClr val="2F6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49640" y="1965960"/>
            <a:ext cx="2331720" cy="365760"/>
          </a:xfrm>
          <a:prstGeom prst="rect">
            <a:avLst/>
          </a:prstGeom>
          <a:noFill/>
        </p:spPr>
        <p:txBody>
          <a:bodyPr wrap="square" anchor="ctr">
            <a:spAutoFit/>
          </a:bodyPr>
          <a:lstStyle/>
          <a:p>
            <a:pPr algn="ctr">
              <a:spcBef>
                <a:spcPts val="0"/>
              </a:spcBef>
              <a:spcAft>
                <a:spcPts val="600"/>
              </a:spcAft>
            </a:pPr>
            <a:r>
              <a:rPr sz="1050" b="1" i="0">
                <a:solidFill>
                  <a:srgbClr val="FFFFFF"/>
                </a:solidFill>
                <a:latin typeface="Calibri"/>
              </a:rPr>
              <a:t>TODAY · DEEP DIVE</a:t>
            </a:r>
          </a:p>
        </p:txBody>
      </p:sp>
      <p:sp>
        <p:nvSpPr>
          <p:cNvPr id="12" name="Rounded Rectangle 11"/>
          <p:cNvSpPr/>
          <p:nvPr/>
        </p:nvSpPr>
        <p:spPr>
          <a:xfrm>
            <a:off x="548640" y="2624328"/>
            <a:ext cx="10607040" cy="731520"/>
          </a:xfrm>
          <a:prstGeom prst="roundRect">
            <a:avLst>
              <a:gd name="adj" fmla="val 10000"/>
            </a:avLst>
          </a:prstGeom>
          <a:solidFill>
            <a:srgbClr val="EFEC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624328"/>
            <a:ext cx="640080" cy="731520"/>
          </a:xfrm>
          <a:prstGeom prst="rect">
            <a:avLst/>
          </a:prstGeom>
          <a:solidFill>
            <a:srgbClr val="2F6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2807208"/>
            <a:ext cx="640080" cy="365760"/>
          </a:xfrm>
          <a:prstGeom prst="rect">
            <a:avLst/>
          </a:prstGeom>
          <a:noFill/>
        </p:spPr>
        <p:txBody>
          <a:bodyPr wrap="square" anchor="ctr">
            <a:spAutoFit/>
          </a:bodyPr>
          <a:lstStyle/>
          <a:p>
            <a:pPr algn="ctr">
              <a:spcBef>
                <a:spcPts val="0"/>
              </a:spcBef>
              <a:spcAft>
                <a:spcPts val="600"/>
              </a:spcAft>
            </a:pPr>
            <a:r>
              <a:rPr sz="1500" b="1" i="0">
                <a:solidFill>
                  <a:srgbClr val="FFFFFF"/>
                </a:solidFill>
                <a:latin typeface="Calibri"/>
              </a:rPr>
              <a:t>L2</a:t>
            </a:r>
          </a:p>
        </p:txBody>
      </p:sp>
      <p:sp>
        <p:nvSpPr>
          <p:cNvPr id="15" name="TextBox 14"/>
          <p:cNvSpPr txBox="1"/>
          <p:nvPr/>
        </p:nvSpPr>
        <p:spPr>
          <a:xfrm>
            <a:off x="1371600" y="2697480"/>
            <a:ext cx="5394960" cy="594360"/>
          </a:xfrm>
          <a:prstGeom prst="rect">
            <a:avLst/>
          </a:prstGeom>
          <a:noFill/>
        </p:spPr>
        <p:txBody>
          <a:bodyPr wrap="square">
            <a:spAutoFit/>
          </a:bodyPr>
          <a:lstStyle/>
          <a:p>
            <a:pPr algn="l">
              <a:spcBef>
                <a:spcPts val="0"/>
              </a:spcBef>
              <a:spcAft>
                <a:spcPts val="100"/>
              </a:spcAft>
            </a:pPr>
            <a:r>
              <a:rPr sz="1450" b="1" i="0">
                <a:solidFill>
                  <a:srgbClr val="1B211D"/>
                </a:solidFill>
                <a:latin typeface="Calibri"/>
              </a:rPr>
              <a:t>Why is Open Science Important?</a:t>
            </a:r>
          </a:p>
          <a:p>
            <a:pPr algn="l">
              <a:spcBef>
                <a:spcPts val="0"/>
              </a:spcBef>
              <a:spcAft>
                <a:spcPts val="600"/>
              </a:spcAft>
            </a:pPr>
            <a:r>
              <a:rPr sz="1250" b="0" i="0">
                <a:solidFill>
                  <a:srgbClr val="5B655F"/>
                </a:solidFill>
                <a:latin typeface="Calibri"/>
              </a:rPr>
              <a:t>Career, community &amp; society benefits</a:t>
            </a:r>
          </a:p>
        </p:txBody>
      </p:sp>
      <p:sp>
        <p:nvSpPr>
          <p:cNvPr id="16" name="Rounded Rectangle 15"/>
          <p:cNvSpPr/>
          <p:nvPr/>
        </p:nvSpPr>
        <p:spPr>
          <a:xfrm>
            <a:off x="8549640" y="2807208"/>
            <a:ext cx="2331720" cy="365760"/>
          </a:xfrm>
          <a:prstGeom prst="roundRect">
            <a:avLst>
              <a:gd name="adj" fmla="val 50000"/>
            </a:avLst>
          </a:prstGeom>
          <a:solidFill>
            <a:srgbClr val="2F6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49640" y="2807208"/>
            <a:ext cx="2331720" cy="365760"/>
          </a:xfrm>
          <a:prstGeom prst="rect">
            <a:avLst/>
          </a:prstGeom>
          <a:noFill/>
        </p:spPr>
        <p:txBody>
          <a:bodyPr wrap="square" anchor="ctr">
            <a:spAutoFit/>
          </a:bodyPr>
          <a:lstStyle/>
          <a:p>
            <a:pPr algn="ctr">
              <a:spcBef>
                <a:spcPts val="0"/>
              </a:spcBef>
              <a:spcAft>
                <a:spcPts val="600"/>
              </a:spcAft>
            </a:pPr>
            <a:r>
              <a:rPr sz="1050" b="1" i="0">
                <a:solidFill>
                  <a:srgbClr val="FFFFFF"/>
                </a:solidFill>
                <a:latin typeface="Calibri"/>
              </a:rPr>
              <a:t>TODAY · DEEP DIVE</a:t>
            </a:r>
          </a:p>
        </p:txBody>
      </p:sp>
      <p:sp>
        <p:nvSpPr>
          <p:cNvPr id="18" name="Rounded Rectangle 17"/>
          <p:cNvSpPr/>
          <p:nvPr/>
        </p:nvSpPr>
        <p:spPr>
          <a:xfrm>
            <a:off x="548640" y="3465576"/>
            <a:ext cx="10607040" cy="731520"/>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465576"/>
            <a:ext cx="640080" cy="731520"/>
          </a:xfrm>
          <a:prstGeom prst="rect">
            <a:avLst/>
          </a:prstGeom>
          <a:solidFill>
            <a:srgbClr val="2F6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3648456"/>
            <a:ext cx="640080" cy="365760"/>
          </a:xfrm>
          <a:prstGeom prst="rect">
            <a:avLst/>
          </a:prstGeom>
          <a:noFill/>
        </p:spPr>
        <p:txBody>
          <a:bodyPr wrap="square" anchor="ctr">
            <a:spAutoFit/>
          </a:bodyPr>
          <a:lstStyle/>
          <a:p>
            <a:pPr algn="ctr">
              <a:spcBef>
                <a:spcPts val="0"/>
              </a:spcBef>
              <a:spcAft>
                <a:spcPts val="600"/>
              </a:spcAft>
            </a:pPr>
            <a:r>
              <a:rPr sz="1500" b="1" i="0">
                <a:solidFill>
                  <a:srgbClr val="FFFFFF"/>
                </a:solidFill>
                <a:latin typeface="Calibri"/>
              </a:rPr>
              <a:t>L3</a:t>
            </a:r>
          </a:p>
        </p:txBody>
      </p:sp>
      <p:sp>
        <p:nvSpPr>
          <p:cNvPr id="21" name="TextBox 20"/>
          <p:cNvSpPr txBox="1"/>
          <p:nvPr/>
        </p:nvSpPr>
        <p:spPr>
          <a:xfrm>
            <a:off x="1371600" y="3538728"/>
            <a:ext cx="5394960" cy="594360"/>
          </a:xfrm>
          <a:prstGeom prst="rect">
            <a:avLst/>
          </a:prstGeom>
          <a:noFill/>
        </p:spPr>
        <p:txBody>
          <a:bodyPr wrap="square">
            <a:spAutoFit/>
          </a:bodyPr>
          <a:lstStyle/>
          <a:p>
            <a:pPr algn="l">
              <a:spcBef>
                <a:spcPts val="0"/>
              </a:spcBef>
              <a:spcAft>
                <a:spcPts val="100"/>
              </a:spcAft>
            </a:pPr>
            <a:r>
              <a:rPr sz="1450" b="1" i="0">
                <a:solidFill>
                  <a:srgbClr val="1B211D"/>
                </a:solidFill>
                <a:latin typeface="Calibri"/>
              </a:rPr>
              <a:t>How to Do Open Science</a:t>
            </a:r>
          </a:p>
          <a:p>
            <a:pPr algn="l">
              <a:spcBef>
                <a:spcPts val="0"/>
              </a:spcBef>
              <a:spcAft>
                <a:spcPts val="600"/>
              </a:spcAft>
            </a:pPr>
            <a:r>
              <a:rPr sz="1250" b="0" i="0">
                <a:solidFill>
                  <a:srgbClr val="5B655F"/>
                </a:solidFill>
                <a:latin typeface="Calibri"/>
              </a:rPr>
              <a:t>Privacy, IP/licensing, funder rules</a:t>
            </a:r>
          </a:p>
        </p:txBody>
      </p:sp>
      <p:sp>
        <p:nvSpPr>
          <p:cNvPr id="22" name="Rounded Rectangle 21"/>
          <p:cNvSpPr/>
          <p:nvPr/>
        </p:nvSpPr>
        <p:spPr>
          <a:xfrm>
            <a:off x="8549640" y="3648456"/>
            <a:ext cx="2331720" cy="365760"/>
          </a:xfrm>
          <a:prstGeom prst="roundRect">
            <a:avLst>
              <a:gd name="adj" fmla="val 50000"/>
            </a:avLst>
          </a:prstGeom>
          <a:solidFill>
            <a:srgbClr val="C7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49640" y="3648456"/>
            <a:ext cx="2331720" cy="365760"/>
          </a:xfrm>
          <a:prstGeom prst="rect">
            <a:avLst/>
          </a:prstGeom>
          <a:noFill/>
        </p:spPr>
        <p:txBody>
          <a:bodyPr wrap="square" anchor="ctr">
            <a:spAutoFit/>
          </a:bodyPr>
          <a:lstStyle/>
          <a:p>
            <a:pPr algn="ctr">
              <a:spcBef>
                <a:spcPts val="0"/>
              </a:spcBef>
              <a:spcAft>
                <a:spcPts val="600"/>
              </a:spcAft>
            </a:pPr>
            <a:r>
              <a:rPr sz="1050" b="1" i="0">
                <a:solidFill>
                  <a:srgbClr val="1B211D"/>
                </a:solidFill>
                <a:latin typeface="Calibri"/>
              </a:rPr>
              <a:t>TODAY · QUICK HIT</a:t>
            </a:r>
          </a:p>
        </p:txBody>
      </p:sp>
      <p:sp>
        <p:nvSpPr>
          <p:cNvPr id="24" name="Rounded Rectangle 23"/>
          <p:cNvSpPr/>
          <p:nvPr/>
        </p:nvSpPr>
        <p:spPr>
          <a:xfrm>
            <a:off x="548640" y="4306824"/>
            <a:ext cx="10607040" cy="731520"/>
          </a:xfrm>
          <a:prstGeom prst="roundRect">
            <a:avLst>
              <a:gd name="adj" fmla="val 10000"/>
            </a:avLst>
          </a:prstGeom>
          <a:solidFill>
            <a:srgbClr val="EFEC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4306824"/>
            <a:ext cx="640080" cy="731520"/>
          </a:xfrm>
          <a:prstGeom prst="rect">
            <a:avLst/>
          </a:prstGeom>
          <a:solidFill>
            <a:srgbClr val="2F6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8640" y="4489704"/>
            <a:ext cx="640080" cy="365760"/>
          </a:xfrm>
          <a:prstGeom prst="rect">
            <a:avLst/>
          </a:prstGeom>
          <a:noFill/>
        </p:spPr>
        <p:txBody>
          <a:bodyPr wrap="square" anchor="ctr">
            <a:spAutoFit/>
          </a:bodyPr>
          <a:lstStyle/>
          <a:p>
            <a:pPr algn="ctr">
              <a:spcBef>
                <a:spcPts val="0"/>
              </a:spcBef>
              <a:spcAft>
                <a:spcPts val="600"/>
              </a:spcAft>
            </a:pPr>
            <a:r>
              <a:rPr sz="1500" b="1" i="0">
                <a:solidFill>
                  <a:srgbClr val="FFFFFF"/>
                </a:solidFill>
                <a:latin typeface="Calibri"/>
              </a:rPr>
              <a:t>L4</a:t>
            </a:r>
          </a:p>
        </p:txBody>
      </p:sp>
      <p:sp>
        <p:nvSpPr>
          <p:cNvPr id="27" name="TextBox 26"/>
          <p:cNvSpPr txBox="1"/>
          <p:nvPr/>
        </p:nvSpPr>
        <p:spPr>
          <a:xfrm>
            <a:off x="1371600" y="4379976"/>
            <a:ext cx="5394960" cy="594360"/>
          </a:xfrm>
          <a:prstGeom prst="rect">
            <a:avLst/>
          </a:prstGeom>
          <a:noFill/>
        </p:spPr>
        <p:txBody>
          <a:bodyPr wrap="square">
            <a:spAutoFit/>
          </a:bodyPr>
          <a:lstStyle/>
          <a:p>
            <a:pPr algn="l">
              <a:spcBef>
                <a:spcPts val="0"/>
              </a:spcBef>
              <a:spcAft>
                <a:spcPts val="100"/>
              </a:spcAft>
            </a:pPr>
            <a:r>
              <a:rPr sz="1450" b="1" i="0">
                <a:solidFill>
                  <a:srgbClr val="1B211D"/>
                </a:solidFill>
                <a:latin typeface="Calibri"/>
              </a:rPr>
              <a:t>When To Be or Not to Be Open</a:t>
            </a:r>
          </a:p>
          <a:p>
            <a:pPr algn="l">
              <a:spcBef>
                <a:spcPts val="0"/>
              </a:spcBef>
              <a:spcAft>
                <a:spcPts val="600"/>
              </a:spcAft>
            </a:pPr>
            <a:r>
              <a:rPr sz="1250" b="0" i="0">
                <a:solidFill>
                  <a:srgbClr val="5B655F"/>
                </a:solidFill>
                <a:latin typeface="Calibri"/>
              </a:rPr>
              <a:t>Real barriers + legitimate restrictions</a:t>
            </a:r>
          </a:p>
        </p:txBody>
      </p:sp>
      <p:sp>
        <p:nvSpPr>
          <p:cNvPr id="28" name="Rounded Rectangle 27"/>
          <p:cNvSpPr/>
          <p:nvPr/>
        </p:nvSpPr>
        <p:spPr>
          <a:xfrm>
            <a:off x="8549640" y="4489704"/>
            <a:ext cx="2331720" cy="365760"/>
          </a:xfrm>
          <a:prstGeom prst="roundRect">
            <a:avLst>
              <a:gd name="adj" fmla="val 50000"/>
            </a:avLst>
          </a:prstGeom>
          <a:solidFill>
            <a:srgbClr val="2F6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549640" y="4489704"/>
            <a:ext cx="2331720" cy="365760"/>
          </a:xfrm>
          <a:prstGeom prst="rect">
            <a:avLst/>
          </a:prstGeom>
          <a:noFill/>
        </p:spPr>
        <p:txBody>
          <a:bodyPr wrap="square" anchor="ctr">
            <a:spAutoFit/>
          </a:bodyPr>
          <a:lstStyle/>
          <a:p>
            <a:pPr algn="ctr">
              <a:spcBef>
                <a:spcPts val="0"/>
              </a:spcBef>
              <a:spcAft>
                <a:spcPts val="600"/>
              </a:spcAft>
            </a:pPr>
            <a:r>
              <a:rPr sz="1050" b="1" i="0">
                <a:solidFill>
                  <a:srgbClr val="FFFFFF"/>
                </a:solidFill>
                <a:latin typeface="Calibri"/>
              </a:rPr>
              <a:t>TODAY · DEEP DIVE</a:t>
            </a:r>
          </a:p>
        </p:txBody>
      </p:sp>
      <p:sp>
        <p:nvSpPr>
          <p:cNvPr id="30" name="Rounded Rectangle 29"/>
          <p:cNvSpPr/>
          <p:nvPr/>
        </p:nvSpPr>
        <p:spPr>
          <a:xfrm>
            <a:off x="548640" y="5148072"/>
            <a:ext cx="10607040" cy="731520"/>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48640" y="5148072"/>
            <a:ext cx="640080" cy="731520"/>
          </a:xfrm>
          <a:prstGeom prst="rect">
            <a:avLst/>
          </a:prstGeom>
          <a:solidFill>
            <a:srgbClr val="2F6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48640" y="5330952"/>
            <a:ext cx="640080" cy="365760"/>
          </a:xfrm>
          <a:prstGeom prst="rect">
            <a:avLst/>
          </a:prstGeom>
          <a:noFill/>
        </p:spPr>
        <p:txBody>
          <a:bodyPr wrap="square" anchor="ctr">
            <a:spAutoFit/>
          </a:bodyPr>
          <a:lstStyle/>
          <a:p>
            <a:pPr algn="ctr">
              <a:spcBef>
                <a:spcPts val="0"/>
              </a:spcBef>
              <a:spcAft>
                <a:spcPts val="600"/>
              </a:spcAft>
            </a:pPr>
            <a:r>
              <a:rPr sz="1500" b="1" i="0">
                <a:solidFill>
                  <a:srgbClr val="FFFFFF"/>
                </a:solidFill>
                <a:latin typeface="Calibri"/>
              </a:rPr>
              <a:t>L5</a:t>
            </a:r>
          </a:p>
        </p:txBody>
      </p:sp>
      <p:sp>
        <p:nvSpPr>
          <p:cNvPr id="33" name="TextBox 32"/>
          <p:cNvSpPr txBox="1"/>
          <p:nvPr/>
        </p:nvSpPr>
        <p:spPr>
          <a:xfrm>
            <a:off x="1371600" y="5221224"/>
            <a:ext cx="5394960" cy="594360"/>
          </a:xfrm>
          <a:prstGeom prst="rect">
            <a:avLst/>
          </a:prstGeom>
          <a:noFill/>
        </p:spPr>
        <p:txBody>
          <a:bodyPr wrap="square">
            <a:spAutoFit/>
          </a:bodyPr>
          <a:lstStyle/>
          <a:p>
            <a:pPr algn="l">
              <a:spcBef>
                <a:spcPts val="0"/>
              </a:spcBef>
              <a:spcAft>
                <a:spcPts val="100"/>
              </a:spcAft>
            </a:pPr>
            <a:r>
              <a:rPr sz="1450" b="1" i="0">
                <a:solidFill>
                  <a:srgbClr val="1B211D"/>
                </a:solidFill>
                <a:latin typeface="Calibri"/>
              </a:rPr>
              <a:t>Planning: Theory to Practice</a:t>
            </a:r>
          </a:p>
          <a:p>
            <a:pPr algn="l">
              <a:spcBef>
                <a:spcPts val="0"/>
              </a:spcBef>
              <a:spcAft>
                <a:spcPts val="600"/>
              </a:spcAft>
            </a:pPr>
            <a:r>
              <a:rPr sz="1250" b="0" i="0">
                <a:solidFill>
                  <a:srgbClr val="5B655F"/>
                </a:solidFill>
                <a:latin typeface="Calibri"/>
              </a:rPr>
              <a:t>Four steps to actually get started</a:t>
            </a:r>
          </a:p>
        </p:txBody>
      </p:sp>
      <p:sp>
        <p:nvSpPr>
          <p:cNvPr id="34" name="Rounded Rectangle 33"/>
          <p:cNvSpPr/>
          <p:nvPr/>
        </p:nvSpPr>
        <p:spPr>
          <a:xfrm>
            <a:off x="8549640" y="5330952"/>
            <a:ext cx="2331720" cy="365760"/>
          </a:xfrm>
          <a:prstGeom prst="roundRect">
            <a:avLst>
              <a:gd name="adj" fmla="val 50000"/>
            </a:avLst>
          </a:prstGeom>
          <a:solidFill>
            <a:srgbClr val="C7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549640" y="5330952"/>
            <a:ext cx="2331720" cy="365760"/>
          </a:xfrm>
          <a:prstGeom prst="rect">
            <a:avLst/>
          </a:prstGeom>
          <a:noFill/>
        </p:spPr>
        <p:txBody>
          <a:bodyPr wrap="square" anchor="ctr">
            <a:spAutoFit/>
          </a:bodyPr>
          <a:lstStyle/>
          <a:p>
            <a:pPr algn="ctr">
              <a:spcBef>
                <a:spcPts val="0"/>
              </a:spcBef>
              <a:spcAft>
                <a:spcPts val="600"/>
              </a:spcAft>
            </a:pPr>
            <a:r>
              <a:rPr sz="1050" b="1" i="0">
                <a:solidFill>
                  <a:srgbClr val="1B211D"/>
                </a:solidFill>
                <a:latin typeface="Calibri"/>
              </a:rPr>
              <a:t>TODAY · QUICK HIT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5EE"/>
        </a:solidFill>
        <a:effectLst/>
      </p:bgPr>
    </p:bg>
    <p:spTree>
      <p:nvGrpSpPr>
        <p:cNvPr id="1" name=""/>
        <p:cNvGrpSpPr/>
        <p:nvPr/>
      </p:nvGrpSpPr>
      <p:grpSpPr/>
      <p:sp>
        <p:nvSpPr>
          <p:cNvPr id="2" name="TextBox 1"/>
          <p:cNvSpPr txBox="1"/>
          <p:nvPr/>
        </p:nvSpPr>
        <p:spPr>
          <a:xfrm>
            <a:off x="548640" y="411480"/>
            <a:ext cx="7315200" cy="365760"/>
          </a:xfrm>
          <a:prstGeom prst="rect">
            <a:avLst/>
          </a:prstGeom>
          <a:noFill/>
        </p:spPr>
        <p:txBody>
          <a:bodyPr wrap="square">
            <a:spAutoFit/>
          </a:bodyPr>
          <a:lstStyle/>
          <a:p>
            <a:pPr algn="l">
              <a:spcBef>
                <a:spcPts val="0"/>
              </a:spcBef>
              <a:spcAft>
                <a:spcPts val="600"/>
              </a:spcAft>
            </a:pPr>
            <a:r>
              <a:rPr sz="1300" b="1" i="0" spc="120">
                <a:solidFill>
                  <a:srgbClr val="2F6F5E"/>
                </a:solidFill>
                <a:latin typeface="Calibri"/>
              </a:rPr>
              <a:t>1.1 · DEFINING OPEN SCIENCE</a:t>
            </a:r>
          </a:p>
        </p:txBody>
      </p:sp>
      <p:sp>
        <p:nvSpPr>
          <p:cNvPr id="3" name="TextBox 2"/>
          <p:cNvSpPr txBox="1"/>
          <p:nvPr/>
        </p:nvSpPr>
        <p:spPr>
          <a:xfrm>
            <a:off x="548640" y="777240"/>
            <a:ext cx="10789920" cy="822960"/>
          </a:xfrm>
          <a:prstGeom prst="rect">
            <a:avLst/>
          </a:prstGeom>
          <a:noFill/>
        </p:spPr>
        <p:txBody>
          <a:bodyPr wrap="square">
            <a:spAutoFit/>
          </a:bodyPr>
          <a:lstStyle/>
          <a:p>
            <a:pPr algn="l">
              <a:spcBef>
                <a:spcPts val="0"/>
              </a:spcBef>
              <a:spcAft>
                <a:spcPts val="600"/>
              </a:spcAft>
            </a:pPr>
            <a:r>
              <a:rPr sz="3000" b="1" i="0">
                <a:solidFill>
                  <a:srgbClr val="1B211D"/>
                </a:solidFill>
                <a:latin typeface="Georgia"/>
              </a:rPr>
              <a:t>Open science, defined</a:t>
            </a:r>
          </a:p>
        </p:txBody>
      </p:sp>
      <p:sp>
        <p:nvSpPr>
          <p:cNvPr id="4" name="TextBox 3"/>
          <p:cNvSpPr txBox="1"/>
          <p:nvPr/>
        </p:nvSpPr>
        <p:spPr>
          <a:xfrm>
            <a:off x="548640" y="6473952"/>
            <a:ext cx="8229600" cy="320040"/>
          </a:xfrm>
          <a:prstGeom prst="rect">
            <a:avLst/>
          </a:prstGeom>
          <a:noFill/>
        </p:spPr>
        <p:txBody>
          <a:bodyPr wrap="square">
            <a:spAutoFit/>
          </a:bodyPr>
          <a:lstStyle/>
          <a:p>
            <a:pPr algn="l">
              <a:spcBef>
                <a:spcPts val="0"/>
              </a:spcBef>
              <a:spcAft>
                <a:spcPts val="600"/>
              </a:spcAft>
            </a:pPr>
            <a:r>
              <a:rPr sz="1000" b="0" i="0">
                <a:solidFill>
                  <a:srgbClr val="5B655F"/>
                </a:solidFill>
                <a:latin typeface="Calibri"/>
              </a:rPr>
              <a:t>Module 1 · Open Science Ethos</a:t>
            </a:r>
          </a:p>
        </p:txBody>
      </p:sp>
      <p:sp>
        <p:nvSpPr>
          <p:cNvPr id="5" name="Rectangle 4"/>
          <p:cNvSpPr/>
          <p:nvPr/>
        </p:nvSpPr>
        <p:spPr>
          <a:xfrm>
            <a:off x="0" y="6419088"/>
            <a:ext cx="12191695" cy="17780"/>
          </a:xfrm>
          <a:prstGeom prst="rect">
            <a:avLst/>
          </a:prstGeom>
          <a:solidFill>
            <a:srgbClr val="2F6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691640"/>
            <a:ext cx="6035040" cy="1828800"/>
          </a:xfrm>
          <a:prstGeom prst="rect">
            <a:avLst/>
          </a:prstGeom>
          <a:noFill/>
        </p:spPr>
        <p:txBody>
          <a:bodyPr wrap="square">
            <a:spAutoFit/>
          </a:bodyPr>
          <a:lstStyle/>
          <a:p>
            <a:pPr algn="l">
              <a:lnSpc>
                <a:spcPct val="130000"/>
              </a:lnSpc>
              <a:spcBef>
                <a:spcPts val="0"/>
              </a:spcBef>
              <a:spcAft>
                <a:spcPts val="600"/>
              </a:spcAft>
            </a:pPr>
            <a:r>
              <a:rPr sz="1900" b="0" i="1">
                <a:solidFill>
                  <a:srgbClr val="1B211D"/>
                </a:solidFill>
                <a:latin typeface="Calibri"/>
              </a:rPr>
              <a:t>“The principle and practice of making the products and processes of research available to all, while respecting diverse cultures, maintaining security and privacy, fostering collaboration, enabling reproducibility, and advancing equity.”</a:t>
            </a:r>
          </a:p>
        </p:txBody>
      </p:sp>
      <p:sp>
        <p:nvSpPr>
          <p:cNvPr id="7" name="TextBox 6"/>
          <p:cNvSpPr txBox="1"/>
          <p:nvPr/>
        </p:nvSpPr>
        <p:spPr>
          <a:xfrm>
            <a:off x="6949440" y="1691640"/>
            <a:ext cx="4663440" cy="3657600"/>
          </a:xfrm>
          <a:prstGeom prst="rect">
            <a:avLst/>
          </a:prstGeom>
          <a:noFill/>
        </p:spPr>
        <p:txBody>
          <a:bodyPr wrap="square">
            <a:spAutoFit/>
          </a:bodyPr>
          <a:lstStyle/>
          <a:p>
            <a:pPr algn="l">
              <a:spcBef>
                <a:spcPts val="0"/>
              </a:spcBef>
              <a:spcAft>
                <a:spcPts val="1000"/>
              </a:spcAft>
            </a:pPr>
            <a:r>
              <a:rPr sz="1300" b="1" i="0">
                <a:solidFill>
                  <a:srgbClr val="2F6F5E"/>
                </a:solidFill>
                <a:latin typeface="Calibri"/>
              </a:rPr>
              <a:t>FIVE KEY CHARACTERISTICS</a:t>
            </a:r>
          </a:p>
          <a:p>
            <a:pPr>
              <a:lnSpc>
                <a:spcPct val="108000"/>
              </a:lnSpc>
              <a:spcAft>
                <a:spcPts val="1200"/>
              </a:spcAft>
            </a:pPr>
            <a:r>
              <a:rPr sz="1600" b="1" i="0">
                <a:solidFill>
                  <a:srgbClr val="1B211D"/>
                </a:solidFill>
                <a:latin typeface="Calibri"/>
              </a:rPr>
              <a:t>Accessible</a:t>
            </a:r>
            <a:r>
              <a:rPr sz="1600" b="0" i="0">
                <a:solidFill>
                  <a:srgbClr val="1B211D"/>
                </a:solidFill>
                <a:latin typeface="Calibri"/>
              </a:rPr>
              <a:t>  — no paywalls or barriers</a:t>
            </a:r>
          </a:p>
          <a:p>
            <a:pPr>
              <a:lnSpc>
                <a:spcPct val="108000"/>
              </a:lnSpc>
              <a:spcAft>
                <a:spcPts val="1200"/>
              </a:spcAft>
            </a:pPr>
            <a:r>
              <a:rPr sz="1600" b="1" i="0">
                <a:solidFill>
                  <a:srgbClr val="1B211D"/>
                </a:solidFill>
                <a:latin typeface="Calibri"/>
              </a:rPr>
              <a:t>Transparent</a:t>
            </a:r>
            <a:r>
              <a:rPr sz="1600" b="0" i="0">
                <a:solidFill>
                  <a:srgbClr val="1B211D"/>
                </a:solidFill>
                <a:latin typeface="Calibri"/>
              </a:rPr>
              <a:t>  — methods and data visible</a:t>
            </a:r>
          </a:p>
          <a:p>
            <a:pPr>
              <a:lnSpc>
                <a:spcPct val="108000"/>
              </a:lnSpc>
              <a:spcAft>
                <a:spcPts val="1200"/>
              </a:spcAft>
            </a:pPr>
            <a:r>
              <a:rPr sz="1600" b="1" i="0">
                <a:solidFill>
                  <a:srgbClr val="1B211D"/>
                </a:solidFill>
                <a:latin typeface="Calibri"/>
              </a:rPr>
              <a:t>Collaborative</a:t>
            </a:r>
            <a:r>
              <a:rPr sz="1600" b="0" i="0">
                <a:solidFill>
                  <a:srgbClr val="1B211D"/>
                </a:solidFill>
                <a:latin typeface="Calibri"/>
              </a:rPr>
              <a:t>  — build on each other's work</a:t>
            </a:r>
          </a:p>
          <a:p>
            <a:pPr>
              <a:lnSpc>
                <a:spcPct val="108000"/>
              </a:lnSpc>
              <a:spcAft>
                <a:spcPts val="1200"/>
              </a:spcAft>
            </a:pPr>
            <a:r>
              <a:rPr sz="1600" b="1" i="0">
                <a:solidFill>
                  <a:srgbClr val="1B211D"/>
                </a:solidFill>
                <a:latin typeface="Calibri"/>
              </a:rPr>
              <a:t>Inclusive</a:t>
            </a:r>
            <a:r>
              <a:rPr sz="1600" b="0" i="0">
                <a:solidFill>
                  <a:srgbClr val="1B211D"/>
                </a:solidFill>
                <a:latin typeface="Calibri"/>
              </a:rPr>
              <a:t>  — welcoming, addresses inequities</a:t>
            </a:r>
          </a:p>
          <a:p>
            <a:pPr>
              <a:lnSpc>
                <a:spcPct val="108000"/>
              </a:lnSpc>
              <a:spcAft>
                <a:spcPts val="1200"/>
              </a:spcAft>
            </a:pPr>
            <a:r>
              <a:rPr sz="1600" b="1" i="0">
                <a:solidFill>
                  <a:srgbClr val="1B211D"/>
                </a:solidFill>
                <a:latin typeface="Calibri"/>
              </a:rPr>
              <a:t>Accountable</a:t>
            </a:r>
            <a:r>
              <a:rPr sz="1600" b="0" i="0">
                <a:solidFill>
                  <a:srgbClr val="1B211D"/>
                </a:solidFill>
                <a:latin typeface="Calibri"/>
              </a:rPr>
              <a:t>  — clear authorship, errors corrected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5EE"/>
        </a:solidFill>
        <a:effectLst/>
      </p:bgPr>
    </p:bg>
    <p:spTree>
      <p:nvGrpSpPr>
        <p:cNvPr id="1" name=""/>
        <p:cNvGrpSpPr/>
        <p:nvPr/>
      </p:nvGrpSpPr>
      <p:grpSpPr/>
      <p:sp>
        <p:nvSpPr>
          <p:cNvPr id="2" name="TextBox 1"/>
          <p:cNvSpPr txBox="1"/>
          <p:nvPr/>
        </p:nvSpPr>
        <p:spPr>
          <a:xfrm>
            <a:off x="548640" y="411480"/>
            <a:ext cx="7315200" cy="365760"/>
          </a:xfrm>
          <a:prstGeom prst="rect">
            <a:avLst/>
          </a:prstGeom>
          <a:noFill/>
        </p:spPr>
        <p:txBody>
          <a:bodyPr wrap="square">
            <a:spAutoFit/>
          </a:bodyPr>
          <a:lstStyle/>
          <a:p>
            <a:pPr algn="l">
              <a:spcBef>
                <a:spcPts val="0"/>
              </a:spcBef>
              <a:spcAft>
                <a:spcPts val="600"/>
              </a:spcAft>
            </a:pPr>
            <a:r>
              <a:rPr sz="1300" b="1" i="0" spc="120">
                <a:solidFill>
                  <a:srgbClr val="2F6F5E"/>
                </a:solidFill>
                <a:latin typeface="Calibri"/>
              </a:rPr>
              <a:t>1.2 · THE FRAMEWORK</a:t>
            </a:r>
          </a:p>
        </p:txBody>
      </p:sp>
      <p:sp>
        <p:nvSpPr>
          <p:cNvPr id="3" name="TextBox 2"/>
          <p:cNvSpPr txBox="1"/>
          <p:nvPr/>
        </p:nvSpPr>
        <p:spPr>
          <a:xfrm>
            <a:off x="548640" y="777240"/>
            <a:ext cx="10789920" cy="822960"/>
          </a:xfrm>
          <a:prstGeom prst="rect">
            <a:avLst/>
          </a:prstGeom>
          <a:noFill/>
        </p:spPr>
        <p:txBody>
          <a:bodyPr wrap="square">
            <a:spAutoFit/>
          </a:bodyPr>
          <a:lstStyle/>
          <a:p>
            <a:pPr algn="l">
              <a:spcBef>
                <a:spcPts val="0"/>
              </a:spcBef>
              <a:spcAft>
                <a:spcPts val="600"/>
              </a:spcAft>
            </a:pPr>
            <a:r>
              <a:rPr sz="3000" b="1" i="0">
                <a:solidFill>
                  <a:srgbClr val="1B211D"/>
                </a:solidFill>
                <a:latin typeface="Georgia"/>
              </a:rPr>
              <a:t>Use → Make → Share</a:t>
            </a:r>
          </a:p>
        </p:txBody>
      </p:sp>
      <p:sp>
        <p:nvSpPr>
          <p:cNvPr id="4" name="TextBox 3"/>
          <p:cNvSpPr txBox="1"/>
          <p:nvPr/>
        </p:nvSpPr>
        <p:spPr>
          <a:xfrm>
            <a:off x="548640" y="6473952"/>
            <a:ext cx="8229600" cy="320040"/>
          </a:xfrm>
          <a:prstGeom prst="rect">
            <a:avLst/>
          </a:prstGeom>
          <a:noFill/>
        </p:spPr>
        <p:txBody>
          <a:bodyPr wrap="square">
            <a:spAutoFit/>
          </a:bodyPr>
          <a:lstStyle/>
          <a:p>
            <a:pPr algn="l">
              <a:spcBef>
                <a:spcPts val="0"/>
              </a:spcBef>
              <a:spcAft>
                <a:spcPts val="600"/>
              </a:spcAft>
            </a:pPr>
            <a:r>
              <a:rPr sz="1000" b="0" i="0">
                <a:solidFill>
                  <a:srgbClr val="5B655F"/>
                </a:solidFill>
                <a:latin typeface="Calibri"/>
              </a:rPr>
              <a:t>Module 1 · Open Science Ethos</a:t>
            </a:r>
          </a:p>
        </p:txBody>
      </p:sp>
      <p:sp>
        <p:nvSpPr>
          <p:cNvPr id="5" name="Rectangle 4"/>
          <p:cNvSpPr/>
          <p:nvPr/>
        </p:nvSpPr>
        <p:spPr>
          <a:xfrm>
            <a:off x="0" y="6419088"/>
            <a:ext cx="12191695" cy="17780"/>
          </a:xfrm>
          <a:prstGeom prst="rect">
            <a:avLst/>
          </a:prstGeom>
          <a:solidFill>
            <a:srgbClr val="2F6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828800"/>
            <a:ext cx="3429000" cy="356616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828800"/>
            <a:ext cx="3429000" cy="777240"/>
          </a:xfrm>
          <a:prstGeom prst="rect">
            <a:avLst/>
          </a:prstGeom>
          <a:solidFill>
            <a:srgbClr val="2F6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2880360" cy="548640"/>
          </a:xfrm>
          <a:prstGeom prst="rect">
            <a:avLst/>
          </a:prstGeom>
          <a:noFill/>
        </p:spPr>
        <p:txBody>
          <a:bodyPr wrap="square">
            <a:spAutoFit/>
          </a:bodyPr>
          <a:lstStyle/>
          <a:p>
            <a:pPr algn="l">
              <a:spcBef>
                <a:spcPts val="0"/>
              </a:spcBef>
              <a:spcAft>
                <a:spcPts val="600"/>
              </a:spcAft>
            </a:pPr>
            <a:r>
              <a:rPr sz="2600" b="1" i="0">
                <a:solidFill>
                  <a:srgbClr val="FFFFFF"/>
                </a:solidFill>
                <a:latin typeface="Georgia"/>
              </a:rPr>
              <a:t>USE</a:t>
            </a:r>
          </a:p>
        </p:txBody>
      </p:sp>
      <p:sp>
        <p:nvSpPr>
          <p:cNvPr id="9" name="TextBox 8"/>
          <p:cNvSpPr txBox="1"/>
          <p:nvPr/>
        </p:nvSpPr>
        <p:spPr>
          <a:xfrm>
            <a:off x="822960" y="2743200"/>
            <a:ext cx="2880360" cy="548640"/>
          </a:xfrm>
          <a:prstGeom prst="rect">
            <a:avLst/>
          </a:prstGeom>
          <a:noFill/>
        </p:spPr>
        <p:txBody>
          <a:bodyPr wrap="square">
            <a:spAutoFit/>
          </a:bodyPr>
          <a:lstStyle/>
          <a:p>
            <a:pPr algn="l">
              <a:spcBef>
                <a:spcPts val="0"/>
              </a:spcBef>
              <a:spcAft>
                <a:spcPts val="600"/>
              </a:spcAft>
            </a:pPr>
            <a:r>
              <a:rPr sz="1500" b="1" i="0">
                <a:solidFill>
                  <a:srgbClr val="2F6F5E"/>
                </a:solidFill>
                <a:latin typeface="Calibri"/>
              </a:rPr>
              <a:t>Building on Open Research</a:t>
            </a:r>
          </a:p>
        </p:txBody>
      </p:sp>
      <p:sp>
        <p:nvSpPr>
          <p:cNvPr id="10" name="TextBox 9"/>
          <p:cNvSpPr txBox="1"/>
          <p:nvPr/>
        </p:nvSpPr>
        <p:spPr>
          <a:xfrm>
            <a:off x="822960" y="3246120"/>
            <a:ext cx="2880360" cy="1920240"/>
          </a:xfrm>
          <a:prstGeom prst="rect">
            <a:avLst/>
          </a:prstGeom>
          <a:noFill/>
        </p:spPr>
        <p:txBody>
          <a:bodyPr wrap="square">
            <a:spAutoFit/>
          </a:bodyPr>
          <a:lstStyle/>
          <a:p>
            <a:pPr algn="l">
              <a:lnSpc>
                <a:spcPct val="125000"/>
              </a:lnSpc>
              <a:spcBef>
                <a:spcPts val="0"/>
              </a:spcBef>
              <a:spcAft>
                <a:spcPts val="600"/>
              </a:spcAft>
            </a:pPr>
            <a:r>
              <a:rPr sz="1400" b="0" i="0">
                <a:solidFill>
                  <a:srgbClr val="1B211D"/>
                </a:solidFill>
                <a:latin typeface="Calibri"/>
              </a:rPr>
              <a:t>Utilize existing research to accelerate discovery and avoid duplicating work that's already been done.</a:t>
            </a:r>
          </a:p>
        </p:txBody>
      </p:sp>
      <p:sp>
        <p:nvSpPr>
          <p:cNvPr id="11" name="Rounded Rectangle 10"/>
          <p:cNvSpPr/>
          <p:nvPr/>
        </p:nvSpPr>
        <p:spPr>
          <a:xfrm>
            <a:off x="4206240" y="1828800"/>
            <a:ext cx="3429000" cy="356616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06240" y="1828800"/>
            <a:ext cx="3429000" cy="777240"/>
          </a:xfrm>
          <a:prstGeom prst="rect">
            <a:avLst/>
          </a:prstGeom>
          <a:solidFill>
            <a:srgbClr val="2F6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80560" y="1965960"/>
            <a:ext cx="2880360" cy="548640"/>
          </a:xfrm>
          <a:prstGeom prst="rect">
            <a:avLst/>
          </a:prstGeom>
          <a:noFill/>
        </p:spPr>
        <p:txBody>
          <a:bodyPr wrap="square">
            <a:spAutoFit/>
          </a:bodyPr>
          <a:lstStyle/>
          <a:p>
            <a:pPr algn="l">
              <a:spcBef>
                <a:spcPts val="0"/>
              </a:spcBef>
              <a:spcAft>
                <a:spcPts val="600"/>
              </a:spcAft>
            </a:pPr>
            <a:r>
              <a:rPr sz="2600" b="1" i="0">
                <a:solidFill>
                  <a:srgbClr val="FFFFFF"/>
                </a:solidFill>
                <a:latin typeface="Georgia"/>
              </a:rPr>
              <a:t>MAKE</a:t>
            </a:r>
          </a:p>
        </p:txBody>
      </p:sp>
      <p:sp>
        <p:nvSpPr>
          <p:cNvPr id="14" name="TextBox 13"/>
          <p:cNvSpPr txBox="1"/>
          <p:nvPr/>
        </p:nvSpPr>
        <p:spPr>
          <a:xfrm>
            <a:off x="4480560" y="2743200"/>
            <a:ext cx="2880360" cy="548640"/>
          </a:xfrm>
          <a:prstGeom prst="rect">
            <a:avLst/>
          </a:prstGeom>
          <a:noFill/>
        </p:spPr>
        <p:txBody>
          <a:bodyPr wrap="square">
            <a:spAutoFit/>
          </a:bodyPr>
          <a:lstStyle/>
          <a:p>
            <a:pPr algn="l">
              <a:spcBef>
                <a:spcPts val="0"/>
              </a:spcBef>
              <a:spcAft>
                <a:spcPts val="600"/>
              </a:spcAft>
            </a:pPr>
            <a:r>
              <a:rPr sz="1500" b="1" i="0">
                <a:solidFill>
                  <a:srgbClr val="2F6F5E"/>
                </a:solidFill>
                <a:latin typeface="Calibri"/>
              </a:rPr>
              <a:t>Conducting Open Research</a:t>
            </a:r>
          </a:p>
        </p:txBody>
      </p:sp>
      <p:sp>
        <p:nvSpPr>
          <p:cNvPr id="15" name="TextBox 14"/>
          <p:cNvSpPr txBox="1"/>
          <p:nvPr/>
        </p:nvSpPr>
        <p:spPr>
          <a:xfrm>
            <a:off x="4480560" y="3246120"/>
            <a:ext cx="2880360" cy="1920240"/>
          </a:xfrm>
          <a:prstGeom prst="rect">
            <a:avLst/>
          </a:prstGeom>
          <a:noFill/>
        </p:spPr>
        <p:txBody>
          <a:bodyPr wrap="square">
            <a:spAutoFit/>
          </a:bodyPr>
          <a:lstStyle/>
          <a:p>
            <a:pPr algn="l">
              <a:lnSpc>
                <a:spcPct val="125000"/>
              </a:lnSpc>
              <a:spcBef>
                <a:spcPts val="0"/>
              </a:spcBef>
              <a:spcAft>
                <a:spcPts val="600"/>
              </a:spcAft>
            </a:pPr>
            <a:r>
              <a:rPr sz="1400" b="0" i="0">
                <a:solidFill>
                  <a:srgbClr val="1B211D"/>
                </a:solidFill>
                <a:latin typeface="Calibri"/>
              </a:rPr>
              <a:t>Conduct research with transparent methods and reproducible practices, from day one.</a:t>
            </a:r>
          </a:p>
        </p:txBody>
      </p:sp>
      <p:sp>
        <p:nvSpPr>
          <p:cNvPr id="16" name="Rounded Rectangle 15"/>
          <p:cNvSpPr/>
          <p:nvPr/>
        </p:nvSpPr>
        <p:spPr>
          <a:xfrm>
            <a:off x="7863840" y="1828800"/>
            <a:ext cx="3429000" cy="356616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863840" y="1828800"/>
            <a:ext cx="3429000" cy="777240"/>
          </a:xfrm>
          <a:prstGeom prst="rect">
            <a:avLst/>
          </a:prstGeom>
          <a:solidFill>
            <a:srgbClr val="2F6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38160" y="1965960"/>
            <a:ext cx="2880360" cy="548640"/>
          </a:xfrm>
          <a:prstGeom prst="rect">
            <a:avLst/>
          </a:prstGeom>
          <a:noFill/>
        </p:spPr>
        <p:txBody>
          <a:bodyPr wrap="square">
            <a:spAutoFit/>
          </a:bodyPr>
          <a:lstStyle/>
          <a:p>
            <a:pPr algn="l">
              <a:spcBef>
                <a:spcPts val="0"/>
              </a:spcBef>
              <a:spcAft>
                <a:spcPts val="600"/>
              </a:spcAft>
            </a:pPr>
            <a:r>
              <a:rPr sz="2600" b="1" i="0">
                <a:solidFill>
                  <a:srgbClr val="FFFFFF"/>
                </a:solidFill>
                <a:latin typeface="Georgia"/>
              </a:rPr>
              <a:t>SHARE</a:t>
            </a:r>
          </a:p>
        </p:txBody>
      </p:sp>
      <p:sp>
        <p:nvSpPr>
          <p:cNvPr id="19" name="TextBox 18"/>
          <p:cNvSpPr txBox="1"/>
          <p:nvPr/>
        </p:nvSpPr>
        <p:spPr>
          <a:xfrm>
            <a:off x="8138160" y="2743200"/>
            <a:ext cx="2880360" cy="548640"/>
          </a:xfrm>
          <a:prstGeom prst="rect">
            <a:avLst/>
          </a:prstGeom>
          <a:noFill/>
        </p:spPr>
        <p:txBody>
          <a:bodyPr wrap="square">
            <a:spAutoFit/>
          </a:bodyPr>
          <a:lstStyle/>
          <a:p>
            <a:pPr algn="l">
              <a:spcBef>
                <a:spcPts val="0"/>
              </a:spcBef>
              <a:spcAft>
                <a:spcPts val="600"/>
              </a:spcAft>
            </a:pPr>
            <a:r>
              <a:rPr sz="1500" b="1" i="0">
                <a:solidFill>
                  <a:srgbClr val="2F6F5E"/>
                </a:solidFill>
                <a:latin typeface="Calibri"/>
              </a:rPr>
              <a:t>Disseminating Research</a:t>
            </a:r>
          </a:p>
        </p:txBody>
      </p:sp>
      <p:sp>
        <p:nvSpPr>
          <p:cNvPr id="20" name="TextBox 19"/>
          <p:cNvSpPr txBox="1"/>
          <p:nvPr/>
        </p:nvSpPr>
        <p:spPr>
          <a:xfrm>
            <a:off x="8138160" y="3246120"/>
            <a:ext cx="2880360" cy="1920240"/>
          </a:xfrm>
          <a:prstGeom prst="rect">
            <a:avLst/>
          </a:prstGeom>
          <a:noFill/>
        </p:spPr>
        <p:txBody>
          <a:bodyPr wrap="square">
            <a:spAutoFit/>
          </a:bodyPr>
          <a:lstStyle/>
          <a:p>
            <a:pPr algn="l">
              <a:lnSpc>
                <a:spcPct val="125000"/>
              </a:lnSpc>
              <a:spcBef>
                <a:spcPts val="0"/>
              </a:spcBef>
              <a:spcAft>
                <a:spcPts val="600"/>
              </a:spcAft>
            </a:pPr>
            <a:r>
              <a:rPr sz="1400" b="0" i="0">
                <a:solidFill>
                  <a:srgbClr val="1B211D"/>
                </a:solidFill>
                <a:latin typeface="Calibri"/>
              </a:rPr>
              <a:t>Make outputs freely available through open access publications and repositories.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5EE"/>
        </a:solidFill>
        <a:effectLst/>
      </p:bgPr>
    </p:bg>
    <p:spTree>
      <p:nvGrpSpPr>
        <p:cNvPr id="1" name=""/>
        <p:cNvGrpSpPr/>
        <p:nvPr/>
      </p:nvGrpSpPr>
      <p:grpSpPr/>
      <p:sp>
        <p:nvSpPr>
          <p:cNvPr id="2" name="TextBox 1"/>
          <p:cNvSpPr txBox="1"/>
          <p:nvPr/>
        </p:nvSpPr>
        <p:spPr>
          <a:xfrm>
            <a:off x="548640" y="411480"/>
            <a:ext cx="7315200" cy="365760"/>
          </a:xfrm>
          <a:prstGeom prst="rect">
            <a:avLst/>
          </a:prstGeom>
          <a:noFill/>
        </p:spPr>
        <p:txBody>
          <a:bodyPr wrap="square">
            <a:spAutoFit/>
          </a:bodyPr>
          <a:lstStyle/>
          <a:p>
            <a:pPr algn="l">
              <a:spcBef>
                <a:spcPts val="0"/>
              </a:spcBef>
              <a:spcAft>
                <a:spcPts val="600"/>
              </a:spcAft>
            </a:pPr>
            <a:r>
              <a:rPr sz="1300" b="1" i="0" spc="120">
                <a:solidFill>
                  <a:srgbClr val="2F6F5E"/>
                </a:solidFill>
                <a:latin typeface="Calibri"/>
              </a:rPr>
              <a:t>1.4 · WHY IT MATTERS</a:t>
            </a:r>
          </a:p>
        </p:txBody>
      </p:sp>
      <p:sp>
        <p:nvSpPr>
          <p:cNvPr id="3" name="TextBox 2"/>
          <p:cNvSpPr txBox="1"/>
          <p:nvPr/>
        </p:nvSpPr>
        <p:spPr>
          <a:xfrm>
            <a:off x="548640" y="777240"/>
            <a:ext cx="10789920" cy="822960"/>
          </a:xfrm>
          <a:prstGeom prst="rect">
            <a:avLst/>
          </a:prstGeom>
          <a:noFill/>
        </p:spPr>
        <p:txBody>
          <a:bodyPr wrap="square">
            <a:spAutoFit/>
          </a:bodyPr>
          <a:lstStyle/>
          <a:p>
            <a:pPr algn="l">
              <a:spcBef>
                <a:spcPts val="0"/>
              </a:spcBef>
              <a:spcAft>
                <a:spcPts val="600"/>
              </a:spcAft>
            </a:pPr>
            <a:r>
              <a:rPr sz="3000" b="1" i="0">
                <a:solidFill>
                  <a:srgbClr val="1B211D"/>
                </a:solidFill>
                <a:latin typeface="Georgia"/>
              </a:rPr>
              <a:t>The case for openness, by audience</a:t>
            </a:r>
          </a:p>
        </p:txBody>
      </p:sp>
      <p:sp>
        <p:nvSpPr>
          <p:cNvPr id="4" name="TextBox 3"/>
          <p:cNvSpPr txBox="1"/>
          <p:nvPr/>
        </p:nvSpPr>
        <p:spPr>
          <a:xfrm>
            <a:off x="548640" y="6473952"/>
            <a:ext cx="8229600" cy="320040"/>
          </a:xfrm>
          <a:prstGeom prst="rect">
            <a:avLst/>
          </a:prstGeom>
          <a:noFill/>
        </p:spPr>
        <p:txBody>
          <a:bodyPr wrap="square">
            <a:spAutoFit/>
          </a:bodyPr>
          <a:lstStyle/>
          <a:p>
            <a:pPr algn="l">
              <a:spcBef>
                <a:spcPts val="0"/>
              </a:spcBef>
              <a:spcAft>
                <a:spcPts val="600"/>
              </a:spcAft>
            </a:pPr>
            <a:r>
              <a:rPr sz="1000" b="0" i="0">
                <a:solidFill>
                  <a:srgbClr val="5B655F"/>
                </a:solidFill>
                <a:latin typeface="Calibri"/>
              </a:rPr>
              <a:t>Module 1 · Open Science Ethos</a:t>
            </a:r>
          </a:p>
        </p:txBody>
      </p:sp>
      <p:sp>
        <p:nvSpPr>
          <p:cNvPr id="5" name="Rectangle 4"/>
          <p:cNvSpPr/>
          <p:nvPr/>
        </p:nvSpPr>
        <p:spPr>
          <a:xfrm>
            <a:off x="0" y="6419088"/>
            <a:ext cx="12191695" cy="17780"/>
          </a:xfrm>
          <a:prstGeom prst="rect">
            <a:avLst/>
          </a:prstGeom>
          <a:solidFill>
            <a:srgbClr val="2F6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737360"/>
            <a:ext cx="3429000" cy="457200"/>
          </a:xfrm>
          <a:prstGeom prst="rect">
            <a:avLst/>
          </a:prstGeom>
          <a:noFill/>
        </p:spPr>
        <p:txBody>
          <a:bodyPr wrap="square">
            <a:spAutoFit/>
          </a:bodyPr>
          <a:lstStyle/>
          <a:p>
            <a:pPr algn="l">
              <a:spcBef>
                <a:spcPts val="0"/>
              </a:spcBef>
              <a:spcAft>
                <a:spcPts val="600"/>
              </a:spcAft>
            </a:pPr>
            <a:r>
              <a:rPr sz="1400" b="1" i="0">
                <a:solidFill>
                  <a:srgbClr val="2F6F5E"/>
                </a:solidFill>
                <a:latin typeface="Calibri"/>
              </a:rPr>
              <a:t>FOR YOU</a:t>
            </a:r>
          </a:p>
        </p:txBody>
      </p:sp>
      <p:sp>
        <p:nvSpPr>
          <p:cNvPr id="7" name="Rectangle 6"/>
          <p:cNvSpPr/>
          <p:nvPr/>
        </p:nvSpPr>
        <p:spPr>
          <a:xfrm>
            <a:off x="548640" y="2148840"/>
            <a:ext cx="548640" cy="31750"/>
          </a:xfrm>
          <a:prstGeom prst="rect">
            <a:avLst/>
          </a:prstGeom>
          <a:solidFill>
            <a:srgbClr val="C7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331720"/>
            <a:ext cx="3429000" cy="3200400"/>
          </a:xfrm>
          <a:prstGeom prst="rect">
            <a:avLst/>
          </a:prstGeom>
          <a:noFill/>
        </p:spPr>
        <p:txBody>
          <a:bodyPr wrap="square">
            <a:spAutoFit/>
          </a:bodyPr>
          <a:lstStyle/>
          <a:p>
            <a:pPr>
              <a:lnSpc>
                <a:spcPct val="108000"/>
              </a:lnSpc>
              <a:spcAft>
                <a:spcPts val="1400"/>
              </a:spcAft>
            </a:pPr>
            <a:r>
              <a:rPr sz="1500" b="0" i="0">
                <a:solidFill>
                  <a:srgbClr val="1B211D"/>
                </a:solidFill>
                <a:latin typeface="Calibri"/>
              </a:rPr>
              <a:t>•  Open work is cited more — and more visibly</a:t>
            </a:r>
          </a:p>
          <a:p>
            <a:pPr>
              <a:lnSpc>
                <a:spcPct val="108000"/>
              </a:lnSpc>
              <a:spcAft>
                <a:spcPts val="1400"/>
              </a:spcAft>
            </a:pPr>
            <a:r>
              <a:rPr sz="1500" b="0" i="0">
                <a:solidFill>
                  <a:srgbClr val="1B211D"/>
                </a:solidFill>
                <a:latin typeface="Calibri"/>
              </a:rPr>
              <a:t>•  Easier to find collaborators across institutions</a:t>
            </a:r>
          </a:p>
          <a:p>
            <a:pPr>
              <a:lnSpc>
                <a:spcPct val="108000"/>
              </a:lnSpc>
              <a:spcAft>
                <a:spcPts val="1400"/>
              </a:spcAft>
            </a:pPr>
            <a:r>
              <a:rPr sz="1500" b="0" i="0">
                <a:solidFill>
                  <a:srgbClr val="1B211D"/>
                </a:solidFill>
                <a:latin typeface="Calibri"/>
              </a:rPr>
              <a:t>•  Building on others' work speeds up your own</a:t>
            </a:r>
          </a:p>
        </p:txBody>
      </p:sp>
      <p:sp>
        <p:nvSpPr>
          <p:cNvPr id="9" name="TextBox 8"/>
          <p:cNvSpPr txBox="1"/>
          <p:nvPr/>
        </p:nvSpPr>
        <p:spPr>
          <a:xfrm>
            <a:off x="4206240" y="1737360"/>
            <a:ext cx="3429000" cy="457200"/>
          </a:xfrm>
          <a:prstGeom prst="rect">
            <a:avLst/>
          </a:prstGeom>
          <a:noFill/>
        </p:spPr>
        <p:txBody>
          <a:bodyPr wrap="square">
            <a:spAutoFit/>
          </a:bodyPr>
          <a:lstStyle/>
          <a:p>
            <a:pPr algn="l">
              <a:spcBef>
                <a:spcPts val="0"/>
              </a:spcBef>
              <a:spcAft>
                <a:spcPts val="600"/>
              </a:spcAft>
            </a:pPr>
            <a:r>
              <a:rPr sz="1400" b="1" i="0">
                <a:solidFill>
                  <a:srgbClr val="2F6F5E"/>
                </a:solidFill>
                <a:latin typeface="Calibri"/>
              </a:rPr>
              <a:t>FOR YOUR FIELD</a:t>
            </a:r>
          </a:p>
        </p:txBody>
      </p:sp>
      <p:sp>
        <p:nvSpPr>
          <p:cNvPr id="10" name="Rectangle 9"/>
          <p:cNvSpPr/>
          <p:nvPr/>
        </p:nvSpPr>
        <p:spPr>
          <a:xfrm>
            <a:off x="4206240" y="2148840"/>
            <a:ext cx="548640" cy="31750"/>
          </a:xfrm>
          <a:prstGeom prst="rect">
            <a:avLst/>
          </a:prstGeom>
          <a:solidFill>
            <a:srgbClr val="C7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206240" y="2331720"/>
            <a:ext cx="3429000" cy="3200400"/>
          </a:xfrm>
          <a:prstGeom prst="rect">
            <a:avLst/>
          </a:prstGeom>
          <a:noFill/>
        </p:spPr>
        <p:txBody>
          <a:bodyPr wrap="square">
            <a:spAutoFit/>
          </a:bodyPr>
          <a:lstStyle/>
          <a:p>
            <a:pPr>
              <a:lnSpc>
                <a:spcPct val="108000"/>
              </a:lnSpc>
              <a:spcAft>
                <a:spcPts val="1400"/>
              </a:spcAft>
            </a:pPr>
            <a:r>
              <a:rPr sz="1500" b="0" i="0">
                <a:solidFill>
                  <a:srgbClr val="1B211D"/>
                </a:solidFill>
                <a:latin typeface="Calibri"/>
              </a:rPr>
              <a:t>•  Faster discovery — less duplicated effort</a:t>
            </a:r>
          </a:p>
          <a:p>
            <a:pPr>
              <a:lnSpc>
                <a:spcPct val="108000"/>
              </a:lnSpc>
              <a:spcAft>
                <a:spcPts val="1400"/>
              </a:spcAft>
            </a:pPr>
            <a:r>
              <a:rPr sz="1500" b="0" i="0">
                <a:solidFill>
                  <a:srgbClr val="1B211D"/>
                </a:solidFill>
                <a:latin typeface="Calibri"/>
              </a:rPr>
              <a:t>•  Errors get caught through broader scrutiny</a:t>
            </a:r>
          </a:p>
          <a:p>
            <a:pPr>
              <a:lnSpc>
                <a:spcPct val="108000"/>
              </a:lnSpc>
              <a:spcAft>
                <a:spcPts val="1400"/>
              </a:spcAft>
            </a:pPr>
            <a:r>
              <a:rPr sz="1500" b="0" i="0">
                <a:solidFill>
                  <a:srgbClr val="1B211D"/>
                </a:solidFill>
                <a:latin typeface="Calibri"/>
              </a:rPr>
              <a:t>•  Cross-disciplinary insight at the boundaries</a:t>
            </a:r>
          </a:p>
        </p:txBody>
      </p:sp>
      <p:sp>
        <p:nvSpPr>
          <p:cNvPr id="12" name="TextBox 11"/>
          <p:cNvSpPr txBox="1"/>
          <p:nvPr/>
        </p:nvSpPr>
        <p:spPr>
          <a:xfrm>
            <a:off x="7863840" y="1737360"/>
            <a:ext cx="3429000" cy="457200"/>
          </a:xfrm>
          <a:prstGeom prst="rect">
            <a:avLst/>
          </a:prstGeom>
          <a:noFill/>
        </p:spPr>
        <p:txBody>
          <a:bodyPr wrap="square">
            <a:spAutoFit/>
          </a:bodyPr>
          <a:lstStyle/>
          <a:p>
            <a:pPr algn="l">
              <a:spcBef>
                <a:spcPts val="0"/>
              </a:spcBef>
              <a:spcAft>
                <a:spcPts val="600"/>
              </a:spcAft>
            </a:pPr>
            <a:r>
              <a:rPr sz="1400" b="1" i="0">
                <a:solidFill>
                  <a:srgbClr val="2F6F5E"/>
                </a:solidFill>
                <a:latin typeface="Calibri"/>
              </a:rPr>
              <a:t>FOR SOCIETY</a:t>
            </a:r>
          </a:p>
        </p:txBody>
      </p:sp>
      <p:sp>
        <p:nvSpPr>
          <p:cNvPr id="13" name="Rectangle 12"/>
          <p:cNvSpPr/>
          <p:nvPr/>
        </p:nvSpPr>
        <p:spPr>
          <a:xfrm>
            <a:off x="7863840" y="2148840"/>
            <a:ext cx="548640" cy="31750"/>
          </a:xfrm>
          <a:prstGeom prst="rect">
            <a:avLst/>
          </a:prstGeom>
          <a:solidFill>
            <a:srgbClr val="C7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863840" y="2331720"/>
            <a:ext cx="3429000" cy="3200400"/>
          </a:xfrm>
          <a:prstGeom prst="rect">
            <a:avLst/>
          </a:prstGeom>
          <a:noFill/>
        </p:spPr>
        <p:txBody>
          <a:bodyPr wrap="square">
            <a:spAutoFit/>
          </a:bodyPr>
          <a:lstStyle/>
          <a:p>
            <a:pPr>
              <a:lnSpc>
                <a:spcPct val="108000"/>
              </a:lnSpc>
              <a:spcAft>
                <a:spcPts val="1400"/>
              </a:spcAft>
            </a:pPr>
            <a:r>
              <a:rPr sz="1500" b="0" i="0">
                <a:solidFill>
                  <a:srgbClr val="1B211D"/>
                </a:solidFill>
                <a:latin typeface="Calibri"/>
              </a:rPr>
              <a:t>•  Better-informed policy decisions</a:t>
            </a:r>
          </a:p>
          <a:p>
            <a:pPr>
              <a:lnSpc>
                <a:spcPct val="108000"/>
              </a:lnSpc>
              <a:spcAft>
                <a:spcPts val="1400"/>
              </a:spcAft>
            </a:pPr>
            <a:r>
              <a:rPr sz="1500" b="0" i="0">
                <a:solidFill>
                  <a:srgbClr val="1B211D"/>
                </a:solidFill>
                <a:latin typeface="Calibri"/>
              </a:rPr>
              <a:t>•  Equitable access for LMIC researchers &amp; students</a:t>
            </a:r>
          </a:p>
          <a:p>
            <a:pPr>
              <a:lnSpc>
                <a:spcPct val="108000"/>
              </a:lnSpc>
              <a:spcAft>
                <a:spcPts val="1400"/>
              </a:spcAft>
            </a:pPr>
            <a:r>
              <a:rPr sz="1500" b="0" i="0">
                <a:solidFill>
                  <a:srgbClr val="1B211D"/>
                </a:solidFill>
                <a:latin typeface="Calibri"/>
              </a:rPr>
              <a:t>•  Rapid response in emergencies (e.g. pandemic data sharing)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5EE"/>
        </a:solidFill>
        <a:effectLst/>
      </p:bgPr>
    </p:bg>
    <p:spTree>
      <p:nvGrpSpPr>
        <p:cNvPr id="1" name=""/>
        <p:cNvGrpSpPr/>
        <p:nvPr/>
      </p:nvGrpSpPr>
      <p:grpSpPr/>
      <p:sp>
        <p:nvSpPr>
          <p:cNvPr id="2" name="TextBox 1"/>
          <p:cNvSpPr txBox="1"/>
          <p:nvPr/>
        </p:nvSpPr>
        <p:spPr>
          <a:xfrm>
            <a:off x="548640" y="411480"/>
            <a:ext cx="7315200" cy="365760"/>
          </a:xfrm>
          <a:prstGeom prst="rect">
            <a:avLst/>
          </a:prstGeom>
          <a:noFill/>
        </p:spPr>
        <p:txBody>
          <a:bodyPr wrap="square">
            <a:spAutoFit/>
          </a:bodyPr>
          <a:lstStyle/>
          <a:p>
            <a:pPr algn="l">
              <a:spcBef>
                <a:spcPts val="0"/>
              </a:spcBef>
              <a:spcAft>
                <a:spcPts val="600"/>
              </a:spcAft>
            </a:pPr>
            <a:r>
              <a:rPr sz="1300" b="1" i="0" spc="120">
                <a:solidFill>
                  <a:srgbClr val="2F6F5E"/>
                </a:solidFill>
                <a:latin typeface="Calibri"/>
              </a:rPr>
              <a:t>1.4 · WHEN NOT TO BE OPEN</a:t>
            </a:r>
          </a:p>
        </p:txBody>
      </p:sp>
      <p:sp>
        <p:nvSpPr>
          <p:cNvPr id="3" name="TextBox 2"/>
          <p:cNvSpPr txBox="1"/>
          <p:nvPr/>
        </p:nvSpPr>
        <p:spPr>
          <a:xfrm>
            <a:off x="548640" y="777240"/>
            <a:ext cx="10789920" cy="822960"/>
          </a:xfrm>
          <a:prstGeom prst="rect">
            <a:avLst/>
          </a:prstGeom>
          <a:noFill/>
        </p:spPr>
        <p:txBody>
          <a:bodyPr wrap="square">
            <a:spAutoFit/>
          </a:bodyPr>
          <a:lstStyle/>
          <a:p>
            <a:pPr algn="l">
              <a:spcBef>
                <a:spcPts val="0"/>
              </a:spcBef>
              <a:spcAft>
                <a:spcPts val="600"/>
              </a:spcAft>
            </a:pPr>
            <a:r>
              <a:rPr sz="3000" b="1" i="0">
                <a:solidFill>
                  <a:srgbClr val="1B211D"/>
                </a:solidFill>
                <a:latin typeface="Georgia"/>
              </a:rPr>
              <a:t>Openness has limits — and that's by design</a:t>
            </a:r>
          </a:p>
        </p:txBody>
      </p:sp>
      <p:sp>
        <p:nvSpPr>
          <p:cNvPr id="4" name="TextBox 3"/>
          <p:cNvSpPr txBox="1"/>
          <p:nvPr/>
        </p:nvSpPr>
        <p:spPr>
          <a:xfrm>
            <a:off x="548640" y="6473952"/>
            <a:ext cx="8229600" cy="320040"/>
          </a:xfrm>
          <a:prstGeom prst="rect">
            <a:avLst/>
          </a:prstGeom>
          <a:noFill/>
        </p:spPr>
        <p:txBody>
          <a:bodyPr wrap="square">
            <a:spAutoFit/>
          </a:bodyPr>
          <a:lstStyle/>
          <a:p>
            <a:pPr algn="l">
              <a:spcBef>
                <a:spcPts val="0"/>
              </a:spcBef>
              <a:spcAft>
                <a:spcPts val="600"/>
              </a:spcAft>
            </a:pPr>
            <a:r>
              <a:rPr sz="1000" b="0" i="0">
                <a:solidFill>
                  <a:srgbClr val="5B655F"/>
                </a:solidFill>
                <a:latin typeface="Calibri"/>
              </a:rPr>
              <a:t>Module 1 · Open Science Ethos</a:t>
            </a:r>
          </a:p>
        </p:txBody>
      </p:sp>
      <p:sp>
        <p:nvSpPr>
          <p:cNvPr id="5" name="Rectangle 4"/>
          <p:cNvSpPr/>
          <p:nvPr/>
        </p:nvSpPr>
        <p:spPr>
          <a:xfrm>
            <a:off x="0" y="6419088"/>
            <a:ext cx="12191695" cy="17780"/>
          </a:xfrm>
          <a:prstGeom prst="rect">
            <a:avLst/>
          </a:prstGeom>
          <a:solidFill>
            <a:srgbClr val="2F6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600200"/>
            <a:ext cx="10515600" cy="548640"/>
          </a:xfrm>
          <a:prstGeom prst="rect">
            <a:avLst/>
          </a:prstGeom>
          <a:noFill/>
        </p:spPr>
        <p:txBody>
          <a:bodyPr wrap="square">
            <a:spAutoFit/>
          </a:bodyPr>
          <a:lstStyle/>
          <a:p>
            <a:pPr algn="l">
              <a:spcBef>
                <a:spcPts val="0"/>
              </a:spcBef>
              <a:spcAft>
                <a:spcPts val="600"/>
              </a:spcAft>
            </a:pPr>
            <a:r>
              <a:rPr sz="1600" b="0" i="0">
                <a:solidFill>
                  <a:srgbClr val="1B211D"/>
                </a:solidFill>
                <a:latin typeface="Calibri"/>
              </a:rPr>
              <a:t>Open science is not all-or-nothing. These are legitimate, recognized reasons to restrict sharing:</a:t>
            </a:r>
          </a:p>
        </p:txBody>
      </p:sp>
      <p:sp>
        <p:nvSpPr>
          <p:cNvPr id="7" name="Rounded Rectangle 6"/>
          <p:cNvSpPr/>
          <p:nvPr/>
        </p:nvSpPr>
        <p:spPr>
          <a:xfrm>
            <a:off x="548640" y="2331720"/>
            <a:ext cx="5257800" cy="137160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2331720"/>
            <a:ext cx="82296" cy="1371600"/>
          </a:xfrm>
          <a:prstGeom prst="rect">
            <a:avLst/>
          </a:prstGeom>
          <a:solidFill>
            <a:srgbClr val="2F6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468880"/>
            <a:ext cx="4709160" cy="365760"/>
          </a:xfrm>
          <a:prstGeom prst="rect">
            <a:avLst/>
          </a:prstGeom>
          <a:noFill/>
        </p:spPr>
        <p:txBody>
          <a:bodyPr wrap="square">
            <a:spAutoFit/>
          </a:bodyPr>
          <a:lstStyle/>
          <a:p>
            <a:pPr algn="l">
              <a:spcBef>
                <a:spcPts val="0"/>
              </a:spcBef>
              <a:spcAft>
                <a:spcPts val="600"/>
              </a:spcAft>
            </a:pPr>
            <a:r>
              <a:rPr sz="1600" b="1" i="0">
                <a:solidFill>
                  <a:srgbClr val="2F6F5E"/>
                </a:solidFill>
                <a:latin typeface="Calibri"/>
              </a:rPr>
              <a:t>Privacy &amp; security</a:t>
            </a:r>
          </a:p>
        </p:txBody>
      </p:sp>
      <p:sp>
        <p:nvSpPr>
          <p:cNvPr id="10" name="TextBox 9"/>
          <p:cNvSpPr txBox="1"/>
          <p:nvPr/>
        </p:nvSpPr>
        <p:spPr>
          <a:xfrm>
            <a:off x="868680" y="2834640"/>
            <a:ext cx="4709160" cy="777240"/>
          </a:xfrm>
          <a:prstGeom prst="rect">
            <a:avLst/>
          </a:prstGeom>
          <a:noFill/>
        </p:spPr>
        <p:txBody>
          <a:bodyPr wrap="square">
            <a:spAutoFit/>
          </a:bodyPr>
          <a:lstStyle/>
          <a:p>
            <a:pPr algn="l">
              <a:lnSpc>
                <a:spcPct val="120000"/>
              </a:lnSpc>
              <a:spcBef>
                <a:spcPts val="0"/>
              </a:spcBef>
              <a:spcAft>
                <a:spcPts val="600"/>
              </a:spcAft>
            </a:pPr>
            <a:r>
              <a:rPr sz="1350" b="0" i="0">
                <a:solidFill>
                  <a:srgbClr val="1B211D"/>
                </a:solidFill>
                <a:latin typeface="Calibri"/>
              </a:rPr>
              <a:t>De-identification can fail; participants may not have consented to broader sharing.</a:t>
            </a:r>
          </a:p>
        </p:txBody>
      </p:sp>
      <p:sp>
        <p:nvSpPr>
          <p:cNvPr id="11" name="Rounded Rectangle 10"/>
          <p:cNvSpPr/>
          <p:nvPr/>
        </p:nvSpPr>
        <p:spPr>
          <a:xfrm>
            <a:off x="6080760" y="2331720"/>
            <a:ext cx="5257800" cy="137160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080760" y="2331720"/>
            <a:ext cx="82296" cy="1371600"/>
          </a:xfrm>
          <a:prstGeom prst="rect">
            <a:avLst/>
          </a:prstGeom>
          <a:solidFill>
            <a:srgbClr val="2F6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2468880"/>
            <a:ext cx="4709160" cy="365760"/>
          </a:xfrm>
          <a:prstGeom prst="rect">
            <a:avLst/>
          </a:prstGeom>
          <a:noFill/>
        </p:spPr>
        <p:txBody>
          <a:bodyPr wrap="square">
            <a:spAutoFit/>
          </a:bodyPr>
          <a:lstStyle/>
          <a:p>
            <a:pPr algn="l">
              <a:spcBef>
                <a:spcPts val="0"/>
              </a:spcBef>
              <a:spcAft>
                <a:spcPts val="600"/>
              </a:spcAft>
            </a:pPr>
            <a:r>
              <a:rPr sz="1600" b="1" i="0">
                <a:solidFill>
                  <a:srgbClr val="2F6F5E"/>
                </a:solidFill>
                <a:latin typeface="Calibri"/>
              </a:rPr>
              <a:t>Intellectual property</a:t>
            </a:r>
          </a:p>
        </p:txBody>
      </p:sp>
      <p:sp>
        <p:nvSpPr>
          <p:cNvPr id="14" name="TextBox 13"/>
          <p:cNvSpPr txBox="1"/>
          <p:nvPr/>
        </p:nvSpPr>
        <p:spPr>
          <a:xfrm>
            <a:off x="6400800" y="2834640"/>
            <a:ext cx="4709160" cy="777240"/>
          </a:xfrm>
          <a:prstGeom prst="rect">
            <a:avLst/>
          </a:prstGeom>
          <a:noFill/>
        </p:spPr>
        <p:txBody>
          <a:bodyPr wrap="square">
            <a:spAutoFit/>
          </a:bodyPr>
          <a:lstStyle/>
          <a:p>
            <a:pPr algn="l">
              <a:lnSpc>
                <a:spcPct val="120000"/>
              </a:lnSpc>
              <a:spcBef>
                <a:spcPts val="0"/>
              </a:spcBef>
              <a:spcAft>
                <a:spcPts val="600"/>
              </a:spcAft>
            </a:pPr>
            <a:r>
              <a:rPr sz="1350" b="0" i="0">
                <a:solidFill>
                  <a:srgbClr val="1B211D"/>
                </a:solidFill>
                <a:latin typeface="Calibri"/>
              </a:rPr>
              <a:t>Patents require novelty — file before you publish, then open up.</a:t>
            </a:r>
          </a:p>
        </p:txBody>
      </p:sp>
      <p:sp>
        <p:nvSpPr>
          <p:cNvPr id="15" name="Rounded Rectangle 14"/>
          <p:cNvSpPr/>
          <p:nvPr/>
        </p:nvSpPr>
        <p:spPr>
          <a:xfrm>
            <a:off x="548640" y="3931920"/>
            <a:ext cx="5257800" cy="137160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931920"/>
            <a:ext cx="82296" cy="1371600"/>
          </a:xfrm>
          <a:prstGeom prst="rect">
            <a:avLst/>
          </a:prstGeom>
          <a:solidFill>
            <a:srgbClr val="2F6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069080"/>
            <a:ext cx="4709160" cy="365760"/>
          </a:xfrm>
          <a:prstGeom prst="rect">
            <a:avLst/>
          </a:prstGeom>
          <a:noFill/>
        </p:spPr>
        <p:txBody>
          <a:bodyPr wrap="square">
            <a:spAutoFit/>
          </a:bodyPr>
          <a:lstStyle/>
          <a:p>
            <a:pPr algn="l">
              <a:spcBef>
                <a:spcPts val="0"/>
              </a:spcBef>
              <a:spcAft>
                <a:spcPts val="600"/>
              </a:spcAft>
            </a:pPr>
            <a:r>
              <a:rPr sz="1600" b="1" i="0">
                <a:solidFill>
                  <a:srgbClr val="2F6F5E"/>
                </a:solidFill>
                <a:latin typeface="Calibri"/>
              </a:rPr>
              <a:t>Safety</a:t>
            </a:r>
          </a:p>
        </p:txBody>
      </p:sp>
      <p:sp>
        <p:nvSpPr>
          <p:cNvPr id="18" name="TextBox 17"/>
          <p:cNvSpPr txBox="1"/>
          <p:nvPr/>
        </p:nvSpPr>
        <p:spPr>
          <a:xfrm>
            <a:off x="868680" y="4434840"/>
            <a:ext cx="4709160" cy="777240"/>
          </a:xfrm>
          <a:prstGeom prst="rect">
            <a:avLst/>
          </a:prstGeom>
          <a:noFill/>
        </p:spPr>
        <p:txBody>
          <a:bodyPr wrap="square">
            <a:spAutoFit/>
          </a:bodyPr>
          <a:lstStyle/>
          <a:p>
            <a:pPr algn="l">
              <a:lnSpc>
                <a:spcPct val="120000"/>
              </a:lnSpc>
              <a:spcBef>
                <a:spcPts val="0"/>
              </a:spcBef>
              <a:spcAft>
                <a:spcPts val="600"/>
              </a:spcAft>
            </a:pPr>
            <a:r>
              <a:rPr sz="1350" b="0" i="0">
                <a:solidFill>
                  <a:srgbClr val="1B211D"/>
                </a:solidFill>
                <a:latin typeface="Calibri"/>
              </a:rPr>
              <a:t>Dual-use research (pathogens, security vulnerabilities) needs risk review before disclosure.</a:t>
            </a:r>
          </a:p>
        </p:txBody>
      </p:sp>
      <p:sp>
        <p:nvSpPr>
          <p:cNvPr id="19" name="Rounded Rectangle 18"/>
          <p:cNvSpPr/>
          <p:nvPr/>
        </p:nvSpPr>
        <p:spPr>
          <a:xfrm>
            <a:off x="6080760" y="3931920"/>
            <a:ext cx="5257800" cy="137160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080760" y="3931920"/>
            <a:ext cx="82296" cy="1371600"/>
          </a:xfrm>
          <a:prstGeom prst="rect">
            <a:avLst/>
          </a:prstGeom>
          <a:solidFill>
            <a:srgbClr val="2F6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0" y="4069080"/>
            <a:ext cx="4709160" cy="365760"/>
          </a:xfrm>
          <a:prstGeom prst="rect">
            <a:avLst/>
          </a:prstGeom>
          <a:noFill/>
        </p:spPr>
        <p:txBody>
          <a:bodyPr wrap="square">
            <a:spAutoFit/>
          </a:bodyPr>
          <a:lstStyle/>
          <a:p>
            <a:pPr algn="l">
              <a:spcBef>
                <a:spcPts val="0"/>
              </a:spcBef>
              <a:spcAft>
                <a:spcPts val="600"/>
              </a:spcAft>
            </a:pPr>
            <a:r>
              <a:rPr sz="1600" b="1" i="0">
                <a:solidFill>
                  <a:srgbClr val="2F6F5E"/>
                </a:solidFill>
                <a:latin typeface="Calibri"/>
              </a:rPr>
              <a:t>Cultural &amp; Indigenous knowledge</a:t>
            </a:r>
          </a:p>
        </p:txBody>
      </p:sp>
      <p:sp>
        <p:nvSpPr>
          <p:cNvPr id="22" name="TextBox 21"/>
          <p:cNvSpPr txBox="1"/>
          <p:nvPr/>
        </p:nvSpPr>
        <p:spPr>
          <a:xfrm>
            <a:off x="6400800" y="4434840"/>
            <a:ext cx="4709160" cy="777240"/>
          </a:xfrm>
          <a:prstGeom prst="rect">
            <a:avLst/>
          </a:prstGeom>
          <a:noFill/>
        </p:spPr>
        <p:txBody>
          <a:bodyPr wrap="square">
            <a:spAutoFit/>
          </a:bodyPr>
          <a:lstStyle/>
          <a:p>
            <a:pPr algn="l">
              <a:lnSpc>
                <a:spcPct val="120000"/>
              </a:lnSpc>
              <a:spcBef>
                <a:spcPts val="0"/>
              </a:spcBef>
              <a:spcAft>
                <a:spcPts val="600"/>
              </a:spcAft>
            </a:pPr>
            <a:r>
              <a:rPr sz="1350" b="0" i="0">
                <a:solidFill>
                  <a:srgbClr val="1B211D"/>
                </a:solidFill>
                <a:latin typeface="Calibri"/>
              </a:rPr>
              <a:t>Honor data sovereignty and OCAP principles — community control comes first.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5EE"/>
        </a:solidFill>
        <a:effectLst/>
      </p:bgPr>
    </p:bg>
    <p:spTree>
      <p:nvGrpSpPr>
        <p:cNvPr id="1" name=""/>
        <p:cNvGrpSpPr/>
        <p:nvPr/>
      </p:nvGrpSpPr>
      <p:grpSpPr/>
      <p:sp>
        <p:nvSpPr>
          <p:cNvPr id="2" name="TextBox 1"/>
          <p:cNvSpPr txBox="1"/>
          <p:nvPr/>
        </p:nvSpPr>
        <p:spPr>
          <a:xfrm>
            <a:off x="548640" y="411480"/>
            <a:ext cx="7315200" cy="365760"/>
          </a:xfrm>
          <a:prstGeom prst="rect">
            <a:avLst/>
          </a:prstGeom>
          <a:noFill/>
        </p:spPr>
        <p:txBody>
          <a:bodyPr wrap="square">
            <a:spAutoFit/>
          </a:bodyPr>
          <a:lstStyle/>
          <a:p>
            <a:pPr algn="l">
              <a:spcBef>
                <a:spcPts val="0"/>
              </a:spcBef>
              <a:spcAft>
                <a:spcPts val="600"/>
              </a:spcAft>
            </a:pPr>
            <a:r>
              <a:rPr sz="1300" b="1" i="0" spc="120">
                <a:solidFill>
                  <a:srgbClr val="2F6F5E"/>
                </a:solidFill>
                <a:latin typeface="Calibri"/>
              </a:rPr>
              <a:t>1.3 · LIGHTNING ROUND</a:t>
            </a:r>
          </a:p>
        </p:txBody>
      </p:sp>
      <p:sp>
        <p:nvSpPr>
          <p:cNvPr id="3" name="TextBox 2"/>
          <p:cNvSpPr txBox="1"/>
          <p:nvPr/>
        </p:nvSpPr>
        <p:spPr>
          <a:xfrm>
            <a:off x="548640" y="777240"/>
            <a:ext cx="10789920" cy="822960"/>
          </a:xfrm>
          <a:prstGeom prst="rect">
            <a:avLst/>
          </a:prstGeom>
          <a:noFill/>
        </p:spPr>
        <p:txBody>
          <a:bodyPr wrap="square">
            <a:spAutoFit/>
          </a:bodyPr>
          <a:lstStyle/>
          <a:p>
            <a:pPr algn="l">
              <a:spcBef>
                <a:spcPts val="0"/>
              </a:spcBef>
              <a:spcAft>
                <a:spcPts val="600"/>
              </a:spcAft>
            </a:pPr>
            <a:r>
              <a:rPr sz="3000" b="1" i="0">
                <a:solidFill>
                  <a:srgbClr val="1B211D"/>
                </a:solidFill>
                <a:latin typeface="Georgia"/>
              </a:rPr>
              <a:t>L3 — How to do it: privacy, IP &amp; funder rules</a:t>
            </a:r>
          </a:p>
        </p:txBody>
      </p:sp>
      <p:sp>
        <p:nvSpPr>
          <p:cNvPr id="4" name="TextBox 3"/>
          <p:cNvSpPr txBox="1"/>
          <p:nvPr/>
        </p:nvSpPr>
        <p:spPr>
          <a:xfrm>
            <a:off x="548640" y="6473952"/>
            <a:ext cx="8229600" cy="320040"/>
          </a:xfrm>
          <a:prstGeom prst="rect">
            <a:avLst/>
          </a:prstGeom>
          <a:noFill/>
        </p:spPr>
        <p:txBody>
          <a:bodyPr wrap="square">
            <a:spAutoFit/>
          </a:bodyPr>
          <a:lstStyle/>
          <a:p>
            <a:pPr algn="l">
              <a:spcBef>
                <a:spcPts val="0"/>
              </a:spcBef>
              <a:spcAft>
                <a:spcPts val="600"/>
              </a:spcAft>
            </a:pPr>
            <a:r>
              <a:rPr sz="1000" b="0" i="0">
                <a:solidFill>
                  <a:srgbClr val="5B655F"/>
                </a:solidFill>
                <a:latin typeface="Calibri"/>
              </a:rPr>
              <a:t>Module 1 · Open Science Ethos</a:t>
            </a:r>
          </a:p>
        </p:txBody>
      </p:sp>
      <p:sp>
        <p:nvSpPr>
          <p:cNvPr id="5" name="Rectangle 4"/>
          <p:cNvSpPr/>
          <p:nvPr/>
        </p:nvSpPr>
        <p:spPr>
          <a:xfrm>
            <a:off x="0" y="6419088"/>
            <a:ext cx="12191695" cy="17780"/>
          </a:xfrm>
          <a:prstGeom prst="rect">
            <a:avLst/>
          </a:prstGeom>
          <a:solidFill>
            <a:srgbClr val="2F6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645920"/>
            <a:ext cx="3429000" cy="4206240"/>
          </a:xfrm>
          <a:prstGeom prst="rect">
            <a:avLst/>
          </a:prstGeom>
          <a:noFill/>
        </p:spPr>
        <p:txBody>
          <a:bodyPr wrap="square">
            <a:spAutoFit/>
          </a:bodyPr>
          <a:lstStyle/>
          <a:p>
            <a:pPr algn="l">
              <a:lnSpc>
                <a:spcPct val="108000"/>
              </a:lnSpc>
              <a:spcBef>
                <a:spcPts val="0"/>
              </a:spcBef>
              <a:spcAft>
                <a:spcPts val="1200"/>
              </a:spcAft>
            </a:pPr>
            <a:r>
              <a:rPr sz="1300" b="1" i="0">
                <a:solidFill>
                  <a:srgbClr val="2F6F5E"/>
                </a:solidFill>
                <a:latin typeface="Calibri"/>
              </a:rPr>
              <a:t>PRIVACY &amp; SECURITY</a:t>
            </a:r>
            <a:r>
              <a:rPr sz="1350" b="0" i="0">
                <a:solidFill>
                  <a:srgbClr val="1B211D"/>
                </a:solidFill>
                <a:latin typeface="Calibri"/>
              </a:rPr>
              <a:t>•  PII: names, birth dates, health/genetic data, location</a:t>
            </a:r>
          </a:p>
          <a:p>
            <a:pPr>
              <a:lnSpc>
                <a:spcPct val="108000"/>
              </a:lnSpc>
              <a:spcAft>
                <a:spcPts val="1200"/>
              </a:spcAft>
            </a:pPr>
            <a:r>
              <a:rPr sz="1350" b="0" i="0">
                <a:solidFill>
                  <a:srgbClr val="1B211D"/>
                </a:solidFill>
                <a:latin typeface="Calibri"/>
              </a:rPr>
              <a:t>•  De-identify: ID codes, ranges not exact values, aggregation</a:t>
            </a:r>
          </a:p>
          <a:p>
            <a:pPr>
              <a:lnSpc>
                <a:spcPct val="108000"/>
              </a:lnSpc>
              <a:spcAft>
                <a:spcPts val="1200"/>
              </a:spcAft>
            </a:pPr>
            <a:r>
              <a:rPr sz="1350" b="0" i="0">
                <a:solidFill>
                  <a:srgbClr val="1B211D"/>
                </a:solidFill>
                <a:latin typeface="Calibri"/>
              </a:rPr>
              <a:t>•  HIPAA/GDPR set the legal floor — know your data's category</a:t>
            </a:r>
          </a:p>
        </p:txBody>
      </p:sp>
      <p:sp>
        <p:nvSpPr>
          <p:cNvPr id="7" name="TextBox 6"/>
          <p:cNvSpPr txBox="1"/>
          <p:nvPr/>
        </p:nvSpPr>
        <p:spPr>
          <a:xfrm>
            <a:off x="4160520" y="1645920"/>
            <a:ext cx="3429000" cy="4206240"/>
          </a:xfrm>
          <a:prstGeom prst="rect">
            <a:avLst/>
          </a:prstGeom>
          <a:noFill/>
        </p:spPr>
        <p:txBody>
          <a:bodyPr wrap="square">
            <a:spAutoFit/>
          </a:bodyPr>
          <a:lstStyle/>
          <a:p>
            <a:pPr algn="l">
              <a:lnSpc>
                <a:spcPct val="108000"/>
              </a:lnSpc>
              <a:spcBef>
                <a:spcPts val="0"/>
              </a:spcBef>
              <a:spcAft>
                <a:spcPts val="1200"/>
              </a:spcAft>
            </a:pPr>
            <a:r>
              <a:rPr sz="1300" b="1" i="0">
                <a:solidFill>
                  <a:srgbClr val="2F6F5E"/>
                </a:solidFill>
                <a:latin typeface="Calibri"/>
              </a:rPr>
              <a:t>IP &amp; LICENSING, FAST</a:t>
            </a:r>
            <a:r>
              <a:rPr sz="1350" b="0" i="0">
                <a:solidFill>
                  <a:srgbClr val="1B211D"/>
                </a:solidFill>
                <a:latin typeface="Calibri"/>
              </a:rPr>
              <a:t>•  Data → CC0 or CC BY</a:t>
            </a:r>
          </a:p>
          <a:p>
            <a:pPr>
              <a:lnSpc>
                <a:spcPct val="108000"/>
              </a:lnSpc>
              <a:spcAft>
                <a:spcPts val="1200"/>
              </a:spcAft>
            </a:pPr>
            <a:r>
              <a:rPr sz="1350" b="0" i="0">
                <a:solidFill>
                  <a:srgbClr val="1B211D"/>
                </a:solidFill>
                <a:latin typeface="Calibri"/>
              </a:rPr>
              <a:t>•  Writing → CC BY (the field standard)</a:t>
            </a:r>
          </a:p>
          <a:p>
            <a:pPr>
              <a:lnSpc>
                <a:spcPct val="108000"/>
              </a:lnSpc>
              <a:spcAft>
                <a:spcPts val="1200"/>
              </a:spcAft>
            </a:pPr>
            <a:r>
              <a:rPr sz="1350" b="0" i="0">
                <a:solidFill>
                  <a:srgbClr val="1B211D"/>
                </a:solidFill>
                <a:latin typeface="Calibri"/>
              </a:rPr>
              <a:t>•  Software → MIT / Apache / GPL (Module 3)</a:t>
            </a:r>
          </a:p>
          <a:p>
            <a:pPr>
              <a:lnSpc>
                <a:spcPct val="108000"/>
              </a:lnSpc>
              <a:spcAft>
                <a:spcPts val="1200"/>
              </a:spcAft>
            </a:pPr>
            <a:r>
              <a:rPr sz="1350" b="0" i="0">
                <a:solidFill>
                  <a:srgbClr val="1B211D"/>
                </a:solidFill>
                <a:latin typeface="Calibri"/>
              </a:rPr>
              <a:t>•  Patent before you publish — disclosure blocks patenting</a:t>
            </a:r>
          </a:p>
        </p:txBody>
      </p:sp>
      <p:sp>
        <p:nvSpPr>
          <p:cNvPr id="8" name="TextBox 7"/>
          <p:cNvSpPr txBox="1"/>
          <p:nvPr/>
        </p:nvSpPr>
        <p:spPr>
          <a:xfrm>
            <a:off x="7772400" y="1645920"/>
            <a:ext cx="3840480" cy="4206240"/>
          </a:xfrm>
          <a:prstGeom prst="rect">
            <a:avLst/>
          </a:prstGeom>
          <a:noFill/>
        </p:spPr>
        <p:txBody>
          <a:bodyPr wrap="square">
            <a:spAutoFit/>
          </a:bodyPr>
          <a:lstStyle/>
          <a:p>
            <a:pPr algn="l">
              <a:lnSpc>
                <a:spcPct val="108000"/>
              </a:lnSpc>
              <a:spcBef>
                <a:spcPts val="0"/>
              </a:spcBef>
              <a:spcAft>
                <a:spcPts val="1200"/>
              </a:spcAft>
            </a:pPr>
            <a:r>
              <a:rPr sz="1300" b="1" i="0">
                <a:solidFill>
                  <a:srgbClr val="2F6F5E"/>
                </a:solidFill>
                <a:latin typeface="Calibri"/>
              </a:rPr>
              <a:t>FUNDER RULES</a:t>
            </a:r>
            <a:r>
              <a:rPr sz="1350" b="0" i="0">
                <a:solidFill>
                  <a:srgbClr val="1B211D"/>
                </a:solidFill>
                <a:latin typeface="Calibri"/>
              </a:rPr>
              <a:t>•  NSF — DMP + sharing required within 2 years</a:t>
            </a:r>
          </a:p>
          <a:p>
            <a:pPr>
              <a:lnSpc>
                <a:spcPct val="108000"/>
              </a:lnSpc>
              <a:spcAft>
                <a:spcPts val="1200"/>
              </a:spcAft>
            </a:pPr>
            <a:r>
              <a:rPr sz="1350" b="0" i="0">
                <a:solidFill>
                  <a:srgbClr val="1B211D"/>
                </a:solidFill>
                <a:latin typeface="Calibri"/>
              </a:rPr>
              <a:t>•  NIH — Data Mgmt &amp; Sharing Plan, required for nearly all funded research</a:t>
            </a:r>
          </a:p>
          <a:p>
            <a:pPr>
              <a:lnSpc>
                <a:spcPct val="108000"/>
              </a:lnSpc>
              <a:spcAft>
                <a:spcPts val="1200"/>
              </a:spcAft>
            </a:pPr>
            <a:r>
              <a:rPr sz="1350" b="0" i="0">
                <a:solidFill>
                  <a:srgbClr val="1B211D"/>
                </a:solidFill>
                <a:latin typeface="Calibri"/>
              </a:rPr>
              <a:t>•  EU Horizon — OA mandate + FAIR + repository required</a:t>
            </a:r>
          </a:p>
          <a:p>
            <a:pPr>
              <a:lnSpc>
                <a:spcPct val="108000"/>
              </a:lnSpc>
              <a:spcAft>
                <a:spcPts val="1200"/>
              </a:spcAft>
            </a:pPr>
            <a:r>
              <a:rPr sz="1350" b="0" i="0">
                <a:solidFill>
                  <a:srgbClr val="1B211D"/>
                </a:solidFill>
                <a:latin typeface="Calibri"/>
              </a:rPr>
              <a:t>•  Check your publisher's self-archiving policy: Jisc Open Policy Finder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5EE"/>
        </a:solidFill>
        <a:effectLst/>
      </p:bgPr>
    </p:bg>
    <p:spTree>
      <p:nvGrpSpPr>
        <p:cNvPr id="1" name=""/>
        <p:cNvGrpSpPr/>
        <p:nvPr/>
      </p:nvGrpSpPr>
      <p:grpSpPr/>
      <p:sp>
        <p:nvSpPr>
          <p:cNvPr id="2" name="TextBox 1"/>
          <p:cNvSpPr txBox="1"/>
          <p:nvPr/>
        </p:nvSpPr>
        <p:spPr>
          <a:xfrm>
            <a:off x="548640" y="411480"/>
            <a:ext cx="7315200" cy="365760"/>
          </a:xfrm>
          <a:prstGeom prst="rect">
            <a:avLst/>
          </a:prstGeom>
          <a:noFill/>
        </p:spPr>
        <p:txBody>
          <a:bodyPr wrap="square">
            <a:spAutoFit/>
          </a:bodyPr>
          <a:lstStyle/>
          <a:p>
            <a:pPr algn="l">
              <a:spcBef>
                <a:spcPts val="0"/>
              </a:spcBef>
              <a:spcAft>
                <a:spcPts val="600"/>
              </a:spcAft>
            </a:pPr>
            <a:r>
              <a:rPr sz="1300" b="1" i="0" spc="120">
                <a:solidFill>
                  <a:srgbClr val="2F6F5E"/>
                </a:solidFill>
                <a:latin typeface="Calibri"/>
              </a:rPr>
              <a:t>1.5 · LIGHTNING ROUND</a:t>
            </a:r>
          </a:p>
        </p:txBody>
      </p:sp>
      <p:sp>
        <p:nvSpPr>
          <p:cNvPr id="3" name="TextBox 2"/>
          <p:cNvSpPr txBox="1"/>
          <p:nvPr/>
        </p:nvSpPr>
        <p:spPr>
          <a:xfrm>
            <a:off x="548640" y="777240"/>
            <a:ext cx="10789920" cy="822960"/>
          </a:xfrm>
          <a:prstGeom prst="rect">
            <a:avLst/>
          </a:prstGeom>
          <a:noFill/>
        </p:spPr>
        <p:txBody>
          <a:bodyPr wrap="square">
            <a:spAutoFit/>
          </a:bodyPr>
          <a:lstStyle/>
          <a:p>
            <a:pPr algn="l">
              <a:spcBef>
                <a:spcPts val="0"/>
              </a:spcBef>
              <a:spcAft>
                <a:spcPts val="600"/>
              </a:spcAft>
            </a:pPr>
            <a:r>
              <a:rPr sz="3000" b="1" i="0">
                <a:solidFill>
                  <a:srgbClr val="1B211D"/>
                </a:solidFill>
                <a:latin typeface="Georgia"/>
              </a:rPr>
              <a:t>L5 — Four steps to actually get started</a:t>
            </a:r>
          </a:p>
        </p:txBody>
      </p:sp>
      <p:sp>
        <p:nvSpPr>
          <p:cNvPr id="4" name="TextBox 3"/>
          <p:cNvSpPr txBox="1"/>
          <p:nvPr/>
        </p:nvSpPr>
        <p:spPr>
          <a:xfrm>
            <a:off x="548640" y="6473952"/>
            <a:ext cx="8229600" cy="320040"/>
          </a:xfrm>
          <a:prstGeom prst="rect">
            <a:avLst/>
          </a:prstGeom>
          <a:noFill/>
        </p:spPr>
        <p:txBody>
          <a:bodyPr wrap="square">
            <a:spAutoFit/>
          </a:bodyPr>
          <a:lstStyle/>
          <a:p>
            <a:pPr algn="l">
              <a:spcBef>
                <a:spcPts val="0"/>
              </a:spcBef>
              <a:spcAft>
                <a:spcPts val="600"/>
              </a:spcAft>
            </a:pPr>
            <a:r>
              <a:rPr sz="1000" b="0" i="0">
                <a:solidFill>
                  <a:srgbClr val="5B655F"/>
                </a:solidFill>
                <a:latin typeface="Calibri"/>
              </a:rPr>
              <a:t>Module 1 · Open Science Ethos</a:t>
            </a:r>
          </a:p>
        </p:txBody>
      </p:sp>
      <p:sp>
        <p:nvSpPr>
          <p:cNvPr id="5" name="Rectangle 4"/>
          <p:cNvSpPr/>
          <p:nvPr/>
        </p:nvSpPr>
        <p:spPr>
          <a:xfrm>
            <a:off x="0" y="6419088"/>
            <a:ext cx="12191695" cy="17780"/>
          </a:xfrm>
          <a:prstGeom prst="rect">
            <a:avLst/>
          </a:prstGeom>
          <a:solidFill>
            <a:srgbClr val="2F6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828800"/>
            <a:ext cx="2606040" cy="32918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828800"/>
            <a:ext cx="2606040" cy="45720"/>
          </a:xfrm>
          <a:prstGeom prst="rect">
            <a:avLst/>
          </a:prstGeom>
          <a:solidFill>
            <a:srgbClr val="2F6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011680"/>
            <a:ext cx="2240280" cy="548640"/>
          </a:xfrm>
          <a:prstGeom prst="rect">
            <a:avLst/>
          </a:prstGeom>
          <a:noFill/>
        </p:spPr>
        <p:txBody>
          <a:bodyPr wrap="square">
            <a:spAutoFit/>
          </a:bodyPr>
          <a:lstStyle/>
          <a:p>
            <a:pPr algn="l">
              <a:spcBef>
                <a:spcPts val="0"/>
              </a:spcBef>
              <a:spcAft>
                <a:spcPts val="600"/>
              </a:spcAft>
            </a:pPr>
            <a:r>
              <a:rPr sz="1600" b="1" i="0">
                <a:solidFill>
                  <a:srgbClr val="2F6F5E"/>
                </a:solidFill>
                <a:latin typeface="Georgia"/>
              </a:rPr>
              <a:t>1. Assess</a:t>
            </a:r>
          </a:p>
        </p:txBody>
      </p:sp>
      <p:sp>
        <p:nvSpPr>
          <p:cNvPr id="9" name="TextBox 8"/>
          <p:cNvSpPr txBox="1"/>
          <p:nvPr/>
        </p:nvSpPr>
        <p:spPr>
          <a:xfrm>
            <a:off x="777240" y="2651760"/>
            <a:ext cx="2148840" cy="2377440"/>
          </a:xfrm>
          <a:prstGeom prst="rect">
            <a:avLst/>
          </a:prstGeom>
          <a:noFill/>
        </p:spPr>
        <p:txBody>
          <a:bodyPr wrap="square">
            <a:spAutoFit/>
          </a:bodyPr>
          <a:lstStyle/>
          <a:p>
            <a:pPr algn="l">
              <a:lnSpc>
                <a:spcPct val="125000"/>
              </a:lnSpc>
              <a:spcBef>
                <a:spcPts val="0"/>
              </a:spcBef>
              <a:spcAft>
                <a:spcPts val="600"/>
              </a:spcAft>
            </a:pPr>
            <a:r>
              <a:rPr sz="1250" b="0" i="0">
                <a:solidFill>
                  <a:srgbClr val="1B211D"/>
                </a:solidFill>
                <a:latin typeface="Calibri"/>
              </a:rPr>
              <a:t>Where are you today? Data management, code comments, version control — be honest.</a:t>
            </a:r>
          </a:p>
        </p:txBody>
      </p:sp>
      <p:sp>
        <p:nvSpPr>
          <p:cNvPr id="10" name="Rounded Rectangle 9"/>
          <p:cNvSpPr/>
          <p:nvPr/>
        </p:nvSpPr>
        <p:spPr>
          <a:xfrm>
            <a:off x="3337560" y="1828800"/>
            <a:ext cx="2606040" cy="32918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337560" y="1828800"/>
            <a:ext cx="2606040" cy="45720"/>
          </a:xfrm>
          <a:prstGeom prst="rect">
            <a:avLst/>
          </a:prstGeom>
          <a:solidFill>
            <a:srgbClr val="2F6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20440" y="2011680"/>
            <a:ext cx="2240280" cy="548640"/>
          </a:xfrm>
          <a:prstGeom prst="rect">
            <a:avLst/>
          </a:prstGeom>
          <a:noFill/>
        </p:spPr>
        <p:txBody>
          <a:bodyPr wrap="square">
            <a:spAutoFit/>
          </a:bodyPr>
          <a:lstStyle/>
          <a:p>
            <a:pPr algn="l">
              <a:spcBef>
                <a:spcPts val="0"/>
              </a:spcBef>
              <a:spcAft>
                <a:spcPts val="600"/>
              </a:spcAft>
            </a:pPr>
            <a:r>
              <a:rPr sz="1600" b="1" i="0">
                <a:solidFill>
                  <a:srgbClr val="2F6F5E"/>
                </a:solidFill>
                <a:latin typeface="Georgia"/>
              </a:rPr>
              <a:t>2. Set realistic goals</a:t>
            </a:r>
          </a:p>
        </p:txBody>
      </p:sp>
      <p:sp>
        <p:nvSpPr>
          <p:cNvPr id="13" name="TextBox 12"/>
          <p:cNvSpPr txBox="1"/>
          <p:nvPr/>
        </p:nvSpPr>
        <p:spPr>
          <a:xfrm>
            <a:off x="3566160" y="2651760"/>
            <a:ext cx="2148840" cy="2377440"/>
          </a:xfrm>
          <a:prstGeom prst="rect">
            <a:avLst/>
          </a:prstGeom>
          <a:noFill/>
        </p:spPr>
        <p:txBody>
          <a:bodyPr wrap="square">
            <a:spAutoFit/>
          </a:bodyPr>
          <a:lstStyle/>
          <a:p>
            <a:pPr algn="l">
              <a:lnSpc>
                <a:spcPct val="125000"/>
              </a:lnSpc>
              <a:spcBef>
                <a:spcPts val="0"/>
              </a:spcBef>
              <a:spcAft>
                <a:spcPts val="600"/>
              </a:spcAft>
            </a:pPr>
            <a:r>
              <a:rPr sz="1250" b="0" i="0">
                <a:solidFill>
                  <a:srgbClr val="1B211D"/>
                </a:solidFill>
                <a:latin typeface="Calibri"/>
              </a:rPr>
              <a:t>Don't try everything at once. E.g. Q1 Git basics → Q2 venues → Q3 code repo → Q4 data sharing.</a:t>
            </a:r>
          </a:p>
        </p:txBody>
      </p:sp>
      <p:sp>
        <p:nvSpPr>
          <p:cNvPr id="14" name="Rounded Rectangle 13"/>
          <p:cNvSpPr/>
          <p:nvPr/>
        </p:nvSpPr>
        <p:spPr>
          <a:xfrm>
            <a:off x="6126480" y="1828800"/>
            <a:ext cx="2606040" cy="32918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26480" y="1828800"/>
            <a:ext cx="2606040" cy="45720"/>
          </a:xfrm>
          <a:prstGeom prst="rect">
            <a:avLst/>
          </a:prstGeom>
          <a:solidFill>
            <a:srgbClr val="2F6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09360" y="2011680"/>
            <a:ext cx="2240280" cy="548640"/>
          </a:xfrm>
          <a:prstGeom prst="rect">
            <a:avLst/>
          </a:prstGeom>
          <a:noFill/>
        </p:spPr>
        <p:txBody>
          <a:bodyPr wrap="square">
            <a:spAutoFit/>
          </a:bodyPr>
          <a:lstStyle/>
          <a:p>
            <a:pPr algn="l">
              <a:spcBef>
                <a:spcPts val="0"/>
              </a:spcBef>
              <a:spcAft>
                <a:spcPts val="600"/>
              </a:spcAft>
            </a:pPr>
            <a:r>
              <a:rPr sz="1600" b="1" i="0">
                <a:solidFill>
                  <a:srgbClr val="2F6F5E"/>
                </a:solidFill>
                <a:latin typeface="Georgia"/>
              </a:rPr>
              <a:t>3. Build your network</a:t>
            </a:r>
          </a:p>
        </p:txBody>
      </p:sp>
      <p:sp>
        <p:nvSpPr>
          <p:cNvPr id="17" name="TextBox 16"/>
          <p:cNvSpPr txBox="1"/>
          <p:nvPr/>
        </p:nvSpPr>
        <p:spPr>
          <a:xfrm>
            <a:off x="6355080" y="2651760"/>
            <a:ext cx="2148840" cy="2377440"/>
          </a:xfrm>
          <a:prstGeom prst="rect">
            <a:avLst/>
          </a:prstGeom>
          <a:noFill/>
        </p:spPr>
        <p:txBody>
          <a:bodyPr wrap="square">
            <a:spAutoFit/>
          </a:bodyPr>
          <a:lstStyle/>
          <a:p>
            <a:pPr algn="l">
              <a:lnSpc>
                <a:spcPct val="125000"/>
              </a:lnSpc>
              <a:spcBef>
                <a:spcPts val="0"/>
              </a:spcBef>
              <a:spcAft>
                <a:spcPts val="600"/>
              </a:spcAft>
            </a:pPr>
            <a:r>
              <a:rPr sz="1250" b="0" i="0">
                <a:solidFill>
                  <a:srgbClr val="1B211D"/>
                </a:solidFill>
                <a:latin typeface="Calibri"/>
              </a:rPr>
              <a:t>Local: library staff, colleagues. Regional: workshops. Global: online communities.</a:t>
            </a:r>
          </a:p>
        </p:txBody>
      </p:sp>
      <p:sp>
        <p:nvSpPr>
          <p:cNvPr id="18" name="Rounded Rectangle 17"/>
          <p:cNvSpPr/>
          <p:nvPr/>
        </p:nvSpPr>
        <p:spPr>
          <a:xfrm>
            <a:off x="8915400" y="1828800"/>
            <a:ext cx="2606040" cy="32918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915400" y="1828800"/>
            <a:ext cx="2606040" cy="45720"/>
          </a:xfrm>
          <a:prstGeom prst="rect">
            <a:avLst/>
          </a:prstGeom>
          <a:solidFill>
            <a:srgbClr val="2F6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98280" y="2011680"/>
            <a:ext cx="2240280" cy="548640"/>
          </a:xfrm>
          <a:prstGeom prst="rect">
            <a:avLst/>
          </a:prstGeom>
          <a:noFill/>
        </p:spPr>
        <p:txBody>
          <a:bodyPr wrap="square">
            <a:spAutoFit/>
          </a:bodyPr>
          <a:lstStyle/>
          <a:p>
            <a:pPr algn="l">
              <a:spcBef>
                <a:spcPts val="0"/>
              </a:spcBef>
              <a:spcAft>
                <a:spcPts val="600"/>
              </a:spcAft>
            </a:pPr>
            <a:r>
              <a:rPr sz="1600" b="1" i="0">
                <a:solidFill>
                  <a:srgbClr val="2F6F5E"/>
                </a:solidFill>
                <a:latin typeface="Georgia"/>
              </a:rPr>
              <a:t>4. Plan for sustainability</a:t>
            </a:r>
          </a:p>
        </p:txBody>
      </p:sp>
      <p:sp>
        <p:nvSpPr>
          <p:cNvPr id="21" name="TextBox 20"/>
          <p:cNvSpPr txBox="1"/>
          <p:nvPr/>
        </p:nvSpPr>
        <p:spPr>
          <a:xfrm>
            <a:off x="9144000" y="2651760"/>
            <a:ext cx="2148840" cy="2377440"/>
          </a:xfrm>
          <a:prstGeom prst="rect">
            <a:avLst/>
          </a:prstGeom>
          <a:noFill/>
        </p:spPr>
        <p:txBody>
          <a:bodyPr wrap="square">
            <a:spAutoFit/>
          </a:bodyPr>
          <a:lstStyle/>
          <a:p>
            <a:pPr algn="l">
              <a:lnSpc>
                <a:spcPct val="125000"/>
              </a:lnSpc>
              <a:spcBef>
                <a:spcPts val="0"/>
              </a:spcBef>
              <a:spcAft>
                <a:spcPts val="600"/>
              </a:spcAft>
            </a:pPr>
            <a:r>
              <a:rPr sz="1250" b="0" i="0">
                <a:solidFill>
                  <a:srgbClr val="1B211D"/>
                </a:solidFill>
                <a:latin typeface="Calibri"/>
              </a:rPr>
              <a:t>Monthly: update docs, check backups. Annually: reflect and set new goals.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E3EEE9"/>
        </a:solidFill>
        <a:effectLst/>
      </p:bgPr>
    </p:bg>
    <p:spTree>
      <p:nvGrpSpPr>
        <p:cNvPr id="1" name=""/>
        <p:cNvGrpSpPr/>
        <p:nvPr/>
      </p:nvGrpSpPr>
      <p:grpSpPr/>
      <p:sp>
        <p:nvSpPr>
          <p:cNvPr id="2" name="Rectangle 1"/>
          <p:cNvSpPr/>
          <p:nvPr/>
        </p:nvSpPr>
        <p:spPr>
          <a:xfrm>
            <a:off x="0" y="0"/>
            <a:ext cx="12191695" cy="1371600"/>
          </a:xfrm>
          <a:prstGeom prst="rect">
            <a:avLst/>
          </a:prstGeom>
          <a:solidFill>
            <a:srgbClr val="2F6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28600"/>
            <a:ext cx="5486400" cy="365760"/>
          </a:xfrm>
          <a:prstGeom prst="rect">
            <a:avLst/>
          </a:prstGeom>
          <a:noFill/>
        </p:spPr>
        <p:txBody>
          <a:bodyPr wrap="square">
            <a:spAutoFit/>
          </a:bodyPr>
          <a:lstStyle/>
          <a:p>
            <a:pPr algn="l">
              <a:spcBef>
                <a:spcPts val="0"/>
              </a:spcBef>
              <a:spcAft>
                <a:spcPts val="600"/>
              </a:spcAft>
            </a:pPr>
            <a:r>
              <a:rPr sz="1500" b="1" i="0">
                <a:solidFill>
                  <a:srgbClr val="C78A1E"/>
                </a:solidFill>
                <a:latin typeface="Calibri"/>
              </a:rPr>
              <a:t>★ ACTIVITY</a:t>
            </a:r>
          </a:p>
        </p:txBody>
      </p:sp>
      <p:sp>
        <p:nvSpPr>
          <p:cNvPr id="4" name="TextBox 3"/>
          <p:cNvSpPr txBox="1"/>
          <p:nvPr/>
        </p:nvSpPr>
        <p:spPr>
          <a:xfrm>
            <a:off x="548640" y="566928"/>
            <a:ext cx="8686800" cy="731520"/>
          </a:xfrm>
          <a:prstGeom prst="rect">
            <a:avLst/>
          </a:prstGeom>
          <a:noFill/>
        </p:spPr>
        <p:txBody>
          <a:bodyPr wrap="square">
            <a:spAutoFit/>
          </a:bodyPr>
          <a:lstStyle/>
          <a:p>
            <a:pPr algn="l">
              <a:spcBef>
                <a:spcPts val="0"/>
              </a:spcBef>
              <a:spcAft>
                <a:spcPts val="600"/>
              </a:spcAft>
            </a:pPr>
            <a:r>
              <a:rPr sz="2600" b="1" i="0">
                <a:solidFill>
                  <a:srgbClr val="FFFFFF"/>
                </a:solidFill>
                <a:latin typeface="Georgia"/>
              </a:rPr>
              <a:t>Map Your Project: Use → Make → Share</a:t>
            </a:r>
          </a:p>
        </p:txBody>
      </p:sp>
      <p:sp>
        <p:nvSpPr>
          <p:cNvPr id="5" name="TextBox 4"/>
          <p:cNvSpPr txBox="1"/>
          <p:nvPr/>
        </p:nvSpPr>
        <p:spPr>
          <a:xfrm>
            <a:off x="9692640" y="320040"/>
            <a:ext cx="1920240" cy="822960"/>
          </a:xfrm>
          <a:prstGeom prst="rect">
            <a:avLst/>
          </a:prstGeom>
          <a:noFill/>
        </p:spPr>
        <p:txBody>
          <a:bodyPr wrap="square" anchor="ctr">
            <a:spAutoFit/>
          </a:bodyPr>
          <a:lstStyle/>
          <a:p>
            <a:pPr algn="r">
              <a:spcBef>
                <a:spcPts val="0"/>
              </a:spcBef>
              <a:spcAft>
                <a:spcPts val="600"/>
              </a:spcAft>
            </a:pPr>
            <a:r>
              <a:rPr sz="2200" b="1" i="0">
                <a:solidFill>
                  <a:srgbClr val="FFFFFF"/>
                </a:solidFill>
                <a:latin typeface="Consolas"/>
              </a:rPr>
              <a:t>8 MIN</a:t>
            </a:r>
          </a:p>
        </p:txBody>
      </p:sp>
      <p:sp>
        <p:nvSpPr>
          <p:cNvPr id="6" name="TextBox 5"/>
          <p:cNvSpPr txBox="1"/>
          <p:nvPr/>
        </p:nvSpPr>
        <p:spPr>
          <a:xfrm>
            <a:off x="548640" y="1600200"/>
            <a:ext cx="10789920" cy="502920"/>
          </a:xfrm>
          <a:prstGeom prst="rect">
            <a:avLst/>
          </a:prstGeom>
          <a:noFill/>
        </p:spPr>
        <p:txBody>
          <a:bodyPr wrap="square">
            <a:spAutoFit/>
          </a:bodyPr>
          <a:lstStyle/>
          <a:p>
            <a:pPr algn="l">
              <a:lnSpc>
                <a:spcPct val="115000"/>
              </a:lnSpc>
              <a:spcBef>
                <a:spcPts val="0"/>
              </a:spcBef>
              <a:spcAft>
                <a:spcPts val="600"/>
              </a:spcAft>
            </a:pPr>
            <a:r>
              <a:rPr sz="1600" b="0" i="1">
                <a:solidFill>
                  <a:srgbClr val="1B211D"/>
                </a:solidFill>
                <a:latin typeface="Calibri"/>
              </a:rPr>
              <a:t>In pairs or trios, pick one real (or recent) research project and walk it through the framework.</a:t>
            </a:r>
          </a:p>
        </p:txBody>
      </p:sp>
      <p:sp>
        <p:nvSpPr>
          <p:cNvPr id="7" name="TextBox 6"/>
          <p:cNvSpPr txBox="1"/>
          <p:nvPr/>
        </p:nvSpPr>
        <p:spPr>
          <a:xfrm>
            <a:off x="548640" y="2240280"/>
            <a:ext cx="10789920" cy="3566160"/>
          </a:xfrm>
          <a:prstGeom prst="rect">
            <a:avLst/>
          </a:prstGeom>
          <a:noFill/>
        </p:spPr>
        <p:txBody>
          <a:bodyPr wrap="square">
            <a:spAutoFit/>
          </a:bodyPr>
          <a:lstStyle/>
          <a:p>
            <a:pPr>
              <a:lnSpc>
                <a:spcPct val="108000"/>
              </a:lnSpc>
              <a:spcAft>
                <a:spcPts val="1000"/>
              </a:spcAft>
            </a:pPr>
            <a:r>
              <a:rPr sz="1600" b="0" i="0">
                <a:solidFill>
                  <a:srgbClr val="1B211D"/>
                </a:solidFill>
                <a:latin typeface="Calibri"/>
              </a:rPr>
              <a:t>USE — What open research or data did you build on? What could have helped that you didn't use?</a:t>
            </a:r>
          </a:p>
          <a:p>
            <a:pPr>
              <a:lnSpc>
                <a:spcPct val="108000"/>
              </a:lnSpc>
              <a:spcAft>
                <a:spcPts val="1000"/>
              </a:spcAft>
            </a:pPr>
            <a:r>
              <a:rPr sz="1600" b="0" i="0">
                <a:solidFill>
                  <a:srgbClr val="1B211D"/>
                </a:solidFill>
                <a:latin typeface="Calibri"/>
              </a:rPr>
              <a:t>MAKE — Which parts of your methods are transparent today? What's still a black box?</a:t>
            </a:r>
          </a:p>
          <a:p>
            <a:pPr>
              <a:lnSpc>
                <a:spcPct val="108000"/>
              </a:lnSpc>
              <a:spcAft>
                <a:spcPts val="1000"/>
              </a:spcAft>
            </a:pPr>
            <a:r>
              <a:rPr sz="1600" b="0" i="0">
                <a:solidFill>
                  <a:srgbClr val="1B211D"/>
                </a:solidFill>
                <a:latin typeface="Calibri"/>
              </a:rPr>
              <a:t>SHARE — How are you sharing results now? What's the biggest barrier to sharing more?</a:t>
            </a:r>
          </a:p>
          <a:p>
            <a:pPr>
              <a:lnSpc>
                <a:spcPct val="108000"/>
              </a:lnSpc>
              <a:spcAft>
                <a:spcPts val="1000"/>
              </a:spcAft>
            </a:pPr>
            <a:r>
              <a:rPr sz="1600" b="0" i="0">
                <a:solidFill>
                  <a:srgbClr val="1B211D"/>
                </a:solidFill>
                <a:latin typeface="Calibri"/>
              </a:rPr>
              <a:t>Rate the project 1–5 on: Accessible · Transparent · Collaborative · Inclusive · Accountable</a:t>
            </a:r>
          </a:p>
          <a:p>
            <a:pPr>
              <a:lnSpc>
                <a:spcPct val="108000"/>
              </a:lnSpc>
              <a:spcAft>
                <a:spcPts val="1000"/>
              </a:spcAft>
            </a:pPr>
            <a:r>
              <a:rPr sz="1600" b="0" i="0">
                <a:solidFill>
                  <a:srgbClr val="1B211D"/>
                </a:solidFill>
                <a:latin typeface="Calibri"/>
              </a:rPr>
              <a:t>Pick one pair to share their biggest “aha” with the room.</a:t>
            </a:r>
          </a:p>
        </p:txBody>
      </p:sp>
      <p:sp>
        <p:nvSpPr>
          <p:cNvPr id="8" name="Rounded Rectangle 7"/>
          <p:cNvSpPr/>
          <p:nvPr/>
        </p:nvSpPr>
        <p:spPr>
          <a:xfrm>
            <a:off x="548640" y="5989320"/>
            <a:ext cx="10789920" cy="548640"/>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6062472"/>
            <a:ext cx="10332720" cy="411480"/>
          </a:xfrm>
          <a:prstGeom prst="rect">
            <a:avLst/>
          </a:prstGeom>
          <a:noFill/>
        </p:spPr>
        <p:txBody>
          <a:bodyPr wrap="square">
            <a:spAutoFit/>
          </a:bodyPr>
          <a:lstStyle/>
          <a:p>
            <a:pPr algn="l">
              <a:spcBef>
                <a:spcPts val="0"/>
              </a:spcBef>
              <a:spcAft>
                <a:spcPts val="600"/>
              </a:spcAft>
            </a:pPr>
            <a:r>
              <a:rPr sz="1400" b="1" i="0">
                <a:solidFill>
                  <a:srgbClr val="2F6F5E"/>
                </a:solidFill>
                <a:latin typeface="Calibri"/>
              </a:rPr>
              <a:t>Deliverable: a 2-minute verbal share-out per group — no written output required for this session.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2A5C8A"/>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C7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1554480"/>
            <a:ext cx="2743200" cy="914400"/>
          </a:xfrm>
          <a:prstGeom prst="rect">
            <a:avLst/>
          </a:prstGeom>
          <a:noFill/>
        </p:spPr>
        <p:txBody>
          <a:bodyPr wrap="square">
            <a:spAutoFit/>
          </a:bodyPr>
          <a:lstStyle/>
          <a:p>
            <a:pPr algn="l">
              <a:spcBef>
                <a:spcPts val="0"/>
              </a:spcBef>
              <a:spcAft>
                <a:spcPts val="600"/>
              </a:spcAft>
            </a:pPr>
            <a:r>
              <a:rPr sz="1600" b="1" i="0">
                <a:solidFill>
                  <a:srgbClr val="E1EAF2"/>
                </a:solidFill>
                <a:latin typeface="Calibri"/>
              </a:rPr>
              <a:t>MODULE 2</a:t>
            </a:r>
          </a:p>
        </p:txBody>
      </p:sp>
      <p:sp>
        <p:nvSpPr>
          <p:cNvPr id="4" name="TextBox 3"/>
          <p:cNvSpPr txBox="1"/>
          <p:nvPr/>
        </p:nvSpPr>
        <p:spPr>
          <a:xfrm>
            <a:off x="822960" y="2011680"/>
            <a:ext cx="10058400" cy="1554480"/>
          </a:xfrm>
          <a:prstGeom prst="rect">
            <a:avLst/>
          </a:prstGeom>
          <a:noFill/>
        </p:spPr>
        <p:txBody>
          <a:bodyPr wrap="square">
            <a:spAutoFit/>
          </a:bodyPr>
          <a:lstStyle/>
          <a:p>
            <a:pPr algn="l">
              <a:spcBef>
                <a:spcPts val="0"/>
              </a:spcBef>
              <a:spcAft>
                <a:spcPts val="600"/>
              </a:spcAft>
            </a:pPr>
            <a:r>
              <a:rPr sz="4800" b="1" i="0">
                <a:solidFill>
                  <a:srgbClr val="FFFFFF"/>
                </a:solidFill>
                <a:latin typeface="Georgia"/>
              </a:rPr>
              <a:t>Open Data</a:t>
            </a:r>
          </a:p>
        </p:txBody>
      </p:sp>
      <p:sp>
        <p:nvSpPr>
          <p:cNvPr id="5" name="TextBox 4"/>
          <p:cNvSpPr txBox="1"/>
          <p:nvPr/>
        </p:nvSpPr>
        <p:spPr>
          <a:xfrm>
            <a:off x="868680" y="3246120"/>
            <a:ext cx="9601200" cy="914400"/>
          </a:xfrm>
          <a:prstGeom prst="rect">
            <a:avLst/>
          </a:prstGeom>
          <a:noFill/>
        </p:spPr>
        <p:txBody>
          <a:bodyPr wrap="square">
            <a:spAutoFit/>
          </a:bodyPr>
          <a:lstStyle/>
          <a:p>
            <a:pPr algn="l">
              <a:lnSpc>
                <a:spcPct val="120000"/>
              </a:lnSpc>
              <a:spcBef>
                <a:spcPts val="0"/>
              </a:spcBef>
              <a:spcAft>
                <a:spcPts val="600"/>
              </a:spcAft>
            </a:pPr>
            <a:r>
              <a:rPr sz="1800" b="0" i="0">
                <a:solidFill>
                  <a:srgbClr val="E1EAF2"/>
                </a:solidFill>
                <a:latin typeface="Calibri"/>
              </a:rPr>
              <a:t>Making your data FAIR, well-documented, and actually reusable by someone who has never met you.</a:t>
            </a:r>
          </a:p>
        </p:txBody>
      </p:sp>
      <p:sp>
        <p:nvSpPr>
          <p:cNvPr id="6" name="TextBox 5"/>
          <p:cNvSpPr txBox="1"/>
          <p:nvPr/>
        </p:nvSpPr>
        <p:spPr>
          <a:xfrm>
            <a:off x="868680" y="6126480"/>
            <a:ext cx="3657600" cy="457200"/>
          </a:xfrm>
          <a:prstGeom prst="rect">
            <a:avLst/>
          </a:prstGeom>
          <a:noFill/>
        </p:spPr>
        <p:txBody>
          <a:bodyPr wrap="square">
            <a:spAutoFit/>
          </a:bodyPr>
          <a:lstStyle/>
          <a:p>
            <a:pPr algn="l">
              <a:spcBef>
                <a:spcPts val="0"/>
              </a:spcBef>
              <a:spcAft>
                <a:spcPts val="600"/>
              </a:spcAft>
            </a:pPr>
            <a:r>
              <a:rPr sz="1400" b="1" i="0">
                <a:solidFill>
                  <a:srgbClr val="E1EAF2"/>
                </a:solidFill>
                <a:latin typeface="Consolas"/>
              </a:rPr>
              <a:t>30 MINUTES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5EE"/>
        </a:solidFill>
        <a:effectLst/>
      </p:bgPr>
    </p:bg>
    <p:spTree>
      <p:nvGrpSpPr>
        <p:cNvPr id="1" name=""/>
        <p:cNvGrpSpPr/>
        <p:nvPr/>
      </p:nvGrpSpPr>
      <p:grpSpPr/>
      <p:sp>
        <p:nvSpPr>
          <p:cNvPr id="2" name="TextBox 1"/>
          <p:cNvSpPr txBox="1"/>
          <p:nvPr/>
        </p:nvSpPr>
        <p:spPr>
          <a:xfrm>
            <a:off x="548640" y="411480"/>
            <a:ext cx="7315200" cy="365760"/>
          </a:xfrm>
          <a:prstGeom prst="rect">
            <a:avLst/>
          </a:prstGeom>
          <a:noFill/>
        </p:spPr>
        <p:txBody>
          <a:bodyPr wrap="square">
            <a:spAutoFit/>
          </a:bodyPr>
          <a:lstStyle/>
          <a:p>
            <a:pPr algn="l">
              <a:spcBef>
                <a:spcPts val="0"/>
              </a:spcBef>
              <a:spcAft>
                <a:spcPts val="600"/>
              </a:spcAft>
            </a:pPr>
            <a:r>
              <a:rPr sz="1300" b="1" i="0" spc="120">
                <a:solidFill>
                  <a:srgbClr val="2A5C8A"/>
                </a:solidFill>
                <a:latin typeface="Calibri"/>
              </a:rPr>
              <a:t>MODULE 2 AT A GLANCE</a:t>
            </a:r>
          </a:p>
        </p:txBody>
      </p:sp>
      <p:sp>
        <p:nvSpPr>
          <p:cNvPr id="3" name="TextBox 2"/>
          <p:cNvSpPr txBox="1"/>
          <p:nvPr/>
        </p:nvSpPr>
        <p:spPr>
          <a:xfrm>
            <a:off x="548640" y="777240"/>
            <a:ext cx="10789920" cy="822960"/>
          </a:xfrm>
          <a:prstGeom prst="rect">
            <a:avLst/>
          </a:prstGeom>
          <a:noFill/>
        </p:spPr>
        <p:txBody>
          <a:bodyPr wrap="square">
            <a:spAutoFit/>
          </a:bodyPr>
          <a:lstStyle/>
          <a:p>
            <a:pPr algn="l">
              <a:spcBef>
                <a:spcPts val="0"/>
              </a:spcBef>
              <a:spcAft>
                <a:spcPts val="600"/>
              </a:spcAft>
            </a:pPr>
            <a:r>
              <a:rPr sz="3000" b="1" i="0">
                <a:solidFill>
                  <a:srgbClr val="1B211D"/>
                </a:solidFill>
                <a:latin typeface="Georgia"/>
              </a:rPr>
              <a:t>Five lessons in the full course</a:t>
            </a:r>
          </a:p>
        </p:txBody>
      </p:sp>
      <p:sp>
        <p:nvSpPr>
          <p:cNvPr id="4" name="TextBox 3"/>
          <p:cNvSpPr txBox="1"/>
          <p:nvPr/>
        </p:nvSpPr>
        <p:spPr>
          <a:xfrm>
            <a:off x="548640" y="6473952"/>
            <a:ext cx="8229600" cy="320040"/>
          </a:xfrm>
          <a:prstGeom prst="rect">
            <a:avLst/>
          </a:prstGeom>
          <a:noFill/>
        </p:spPr>
        <p:txBody>
          <a:bodyPr wrap="square">
            <a:spAutoFit/>
          </a:bodyPr>
          <a:lstStyle/>
          <a:p>
            <a:pPr algn="l">
              <a:spcBef>
                <a:spcPts val="0"/>
              </a:spcBef>
              <a:spcAft>
                <a:spcPts val="600"/>
              </a:spcAft>
            </a:pPr>
            <a:r>
              <a:rPr sz="1000" b="0" i="0">
                <a:solidFill>
                  <a:srgbClr val="5B655F"/>
                </a:solidFill>
                <a:latin typeface="Calibri"/>
              </a:rPr>
              <a:t>Module 2 · Open Data</a:t>
            </a:r>
          </a:p>
        </p:txBody>
      </p:sp>
      <p:sp>
        <p:nvSpPr>
          <p:cNvPr id="5" name="Rectangle 4"/>
          <p:cNvSpPr/>
          <p:nvPr/>
        </p:nvSpPr>
        <p:spPr>
          <a:xfrm>
            <a:off x="0" y="6419088"/>
            <a:ext cx="12191695" cy="17780"/>
          </a:xfrm>
          <a:prstGeom prst="rect">
            <a:avLst/>
          </a:prstGeom>
          <a:solidFill>
            <a:srgbClr val="2A5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783080"/>
            <a:ext cx="10607040" cy="731520"/>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783080"/>
            <a:ext cx="640080" cy="731520"/>
          </a:xfrm>
          <a:prstGeom prst="rect">
            <a:avLst/>
          </a:prstGeom>
          <a:solidFill>
            <a:srgbClr val="2A5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965960"/>
            <a:ext cx="640080" cy="365760"/>
          </a:xfrm>
          <a:prstGeom prst="rect">
            <a:avLst/>
          </a:prstGeom>
          <a:noFill/>
        </p:spPr>
        <p:txBody>
          <a:bodyPr wrap="square" anchor="ctr">
            <a:spAutoFit/>
          </a:bodyPr>
          <a:lstStyle/>
          <a:p>
            <a:pPr algn="ctr">
              <a:spcBef>
                <a:spcPts val="0"/>
              </a:spcBef>
              <a:spcAft>
                <a:spcPts val="600"/>
              </a:spcAft>
            </a:pPr>
            <a:r>
              <a:rPr sz="1500" b="1" i="0">
                <a:solidFill>
                  <a:srgbClr val="FFFFFF"/>
                </a:solidFill>
                <a:latin typeface="Calibri"/>
              </a:rPr>
              <a:t>L1</a:t>
            </a:r>
          </a:p>
        </p:txBody>
      </p:sp>
      <p:sp>
        <p:nvSpPr>
          <p:cNvPr id="9" name="TextBox 8"/>
          <p:cNvSpPr txBox="1"/>
          <p:nvPr/>
        </p:nvSpPr>
        <p:spPr>
          <a:xfrm>
            <a:off x="1371600" y="1856232"/>
            <a:ext cx="5394960" cy="594360"/>
          </a:xfrm>
          <a:prstGeom prst="rect">
            <a:avLst/>
          </a:prstGeom>
          <a:noFill/>
        </p:spPr>
        <p:txBody>
          <a:bodyPr wrap="square">
            <a:spAutoFit/>
          </a:bodyPr>
          <a:lstStyle/>
          <a:p>
            <a:pPr algn="l">
              <a:spcBef>
                <a:spcPts val="0"/>
              </a:spcBef>
              <a:spcAft>
                <a:spcPts val="100"/>
              </a:spcAft>
            </a:pPr>
            <a:r>
              <a:rPr sz="1450" b="1" i="0">
                <a:solidFill>
                  <a:srgbClr val="1B211D"/>
                </a:solidFill>
                <a:latin typeface="Calibri"/>
              </a:rPr>
              <a:t>Introduction to Open Data</a:t>
            </a:r>
          </a:p>
          <a:p>
            <a:pPr algn="l">
              <a:spcBef>
                <a:spcPts val="0"/>
              </a:spcBef>
              <a:spcAft>
                <a:spcPts val="600"/>
              </a:spcAft>
            </a:pPr>
            <a:r>
              <a:rPr sz="1250" b="0" i="0">
                <a:solidFill>
                  <a:srgbClr val="5B655F"/>
                </a:solidFill>
                <a:latin typeface="Calibri"/>
              </a:rPr>
              <a:t>What is open data + the FAIR principles</a:t>
            </a:r>
          </a:p>
        </p:txBody>
      </p:sp>
      <p:sp>
        <p:nvSpPr>
          <p:cNvPr id="10" name="Rounded Rectangle 9"/>
          <p:cNvSpPr/>
          <p:nvPr/>
        </p:nvSpPr>
        <p:spPr>
          <a:xfrm>
            <a:off x="8549640" y="1965960"/>
            <a:ext cx="2331720" cy="365760"/>
          </a:xfrm>
          <a:prstGeom prst="roundRect">
            <a:avLst>
              <a:gd name="adj" fmla="val 50000"/>
            </a:avLst>
          </a:prstGeom>
          <a:solidFill>
            <a:srgbClr val="2A5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49640" y="1965960"/>
            <a:ext cx="2331720" cy="365760"/>
          </a:xfrm>
          <a:prstGeom prst="rect">
            <a:avLst/>
          </a:prstGeom>
          <a:noFill/>
        </p:spPr>
        <p:txBody>
          <a:bodyPr wrap="square" anchor="ctr">
            <a:spAutoFit/>
          </a:bodyPr>
          <a:lstStyle/>
          <a:p>
            <a:pPr algn="ctr">
              <a:spcBef>
                <a:spcPts val="0"/>
              </a:spcBef>
              <a:spcAft>
                <a:spcPts val="600"/>
              </a:spcAft>
            </a:pPr>
            <a:r>
              <a:rPr sz="1050" b="1" i="0">
                <a:solidFill>
                  <a:srgbClr val="FFFFFF"/>
                </a:solidFill>
                <a:latin typeface="Calibri"/>
              </a:rPr>
              <a:t>TODAY · DEEP DIVE</a:t>
            </a:r>
          </a:p>
        </p:txBody>
      </p:sp>
      <p:sp>
        <p:nvSpPr>
          <p:cNvPr id="12" name="Rounded Rectangle 11"/>
          <p:cNvSpPr/>
          <p:nvPr/>
        </p:nvSpPr>
        <p:spPr>
          <a:xfrm>
            <a:off x="548640" y="2624328"/>
            <a:ext cx="10607040" cy="731520"/>
          </a:xfrm>
          <a:prstGeom prst="roundRect">
            <a:avLst>
              <a:gd name="adj" fmla="val 10000"/>
            </a:avLst>
          </a:prstGeom>
          <a:solidFill>
            <a:srgbClr val="EFEC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624328"/>
            <a:ext cx="640080" cy="731520"/>
          </a:xfrm>
          <a:prstGeom prst="rect">
            <a:avLst/>
          </a:prstGeom>
          <a:solidFill>
            <a:srgbClr val="2A5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2807208"/>
            <a:ext cx="640080" cy="365760"/>
          </a:xfrm>
          <a:prstGeom prst="rect">
            <a:avLst/>
          </a:prstGeom>
          <a:noFill/>
        </p:spPr>
        <p:txBody>
          <a:bodyPr wrap="square" anchor="ctr">
            <a:spAutoFit/>
          </a:bodyPr>
          <a:lstStyle/>
          <a:p>
            <a:pPr algn="ctr">
              <a:spcBef>
                <a:spcPts val="0"/>
              </a:spcBef>
              <a:spcAft>
                <a:spcPts val="600"/>
              </a:spcAft>
            </a:pPr>
            <a:r>
              <a:rPr sz="1500" b="1" i="0">
                <a:solidFill>
                  <a:srgbClr val="FFFFFF"/>
                </a:solidFill>
                <a:latin typeface="Calibri"/>
              </a:rPr>
              <a:t>L2</a:t>
            </a:r>
          </a:p>
        </p:txBody>
      </p:sp>
      <p:sp>
        <p:nvSpPr>
          <p:cNvPr id="15" name="TextBox 14"/>
          <p:cNvSpPr txBox="1"/>
          <p:nvPr/>
        </p:nvSpPr>
        <p:spPr>
          <a:xfrm>
            <a:off x="1371600" y="2697480"/>
            <a:ext cx="5394960" cy="594360"/>
          </a:xfrm>
          <a:prstGeom prst="rect">
            <a:avLst/>
          </a:prstGeom>
          <a:noFill/>
        </p:spPr>
        <p:txBody>
          <a:bodyPr wrap="square">
            <a:spAutoFit/>
          </a:bodyPr>
          <a:lstStyle/>
          <a:p>
            <a:pPr algn="l">
              <a:spcBef>
                <a:spcPts val="0"/>
              </a:spcBef>
              <a:spcAft>
                <a:spcPts val="100"/>
              </a:spcAft>
            </a:pPr>
            <a:r>
              <a:rPr sz="1450" b="1" i="0">
                <a:solidFill>
                  <a:srgbClr val="1B211D"/>
                </a:solidFill>
                <a:latin typeface="Calibri"/>
              </a:rPr>
              <a:t>Using Open Data</a:t>
            </a:r>
          </a:p>
          <a:p>
            <a:pPr algn="l">
              <a:spcBef>
                <a:spcPts val="0"/>
              </a:spcBef>
              <a:spcAft>
                <a:spcPts val="600"/>
              </a:spcAft>
            </a:pPr>
            <a:r>
              <a:rPr sz="1250" b="0" i="0">
                <a:solidFill>
                  <a:srgbClr val="5B655F"/>
                </a:solidFill>
                <a:latin typeface="Calibri"/>
              </a:rPr>
              <a:t>Discovering, assessing &amp; citing others' data</a:t>
            </a:r>
          </a:p>
        </p:txBody>
      </p:sp>
      <p:sp>
        <p:nvSpPr>
          <p:cNvPr id="16" name="Rounded Rectangle 15"/>
          <p:cNvSpPr/>
          <p:nvPr/>
        </p:nvSpPr>
        <p:spPr>
          <a:xfrm>
            <a:off x="8549640" y="2807208"/>
            <a:ext cx="2331720" cy="365760"/>
          </a:xfrm>
          <a:prstGeom prst="roundRect">
            <a:avLst>
              <a:gd name="adj" fmla="val 50000"/>
            </a:avLst>
          </a:prstGeom>
          <a:solidFill>
            <a:srgbClr val="C7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49640" y="2807208"/>
            <a:ext cx="2331720" cy="365760"/>
          </a:xfrm>
          <a:prstGeom prst="rect">
            <a:avLst/>
          </a:prstGeom>
          <a:noFill/>
        </p:spPr>
        <p:txBody>
          <a:bodyPr wrap="square" anchor="ctr">
            <a:spAutoFit/>
          </a:bodyPr>
          <a:lstStyle/>
          <a:p>
            <a:pPr algn="ctr">
              <a:spcBef>
                <a:spcPts val="0"/>
              </a:spcBef>
              <a:spcAft>
                <a:spcPts val="600"/>
              </a:spcAft>
            </a:pPr>
            <a:r>
              <a:rPr sz="1050" b="1" i="0">
                <a:solidFill>
                  <a:srgbClr val="1B211D"/>
                </a:solidFill>
                <a:latin typeface="Calibri"/>
              </a:rPr>
              <a:t>TODAY · QUICK HIT</a:t>
            </a:r>
          </a:p>
        </p:txBody>
      </p:sp>
      <p:sp>
        <p:nvSpPr>
          <p:cNvPr id="18" name="Rounded Rectangle 17"/>
          <p:cNvSpPr/>
          <p:nvPr/>
        </p:nvSpPr>
        <p:spPr>
          <a:xfrm>
            <a:off x="548640" y="3465576"/>
            <a:ext cx="10607040" cy="731520"/>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465576"/>
            <a:ext cx="640080" cy="731520"/>
          </a:xfrm>
          <a:prstGeom prst="rect">
            <a:avLst/>
          </a:prstGeom>
          <a:solidFill>
            <a:srgbClr val="2A5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3648456"/>
            <a:ext cx="640080" cy="365760"/>
          </a:xfrm>
          <a:prstGeom prst="rect">
            <a:avLst/>
          </a:prstGeom>
          <a:noFill/>
        </p:spPr>
        <p:txBody>
          <a:bodyPr wrap="square" anchor="ctr">
            <a:spAutoFit/>
          </a:bodyPr>
          <a:lstStyle/>
          <a:p>
            <a:pPr algn="ctr">
              <a:spcBef>
                <a:spcPts val="0"/>
              </a:spcBef>
              <a:spcAft>
                <a:spcPts val="600"/>
              </a:spcAft>
            </a:pPr>
            <a:r>
              <a:rPr sz="1500" b="1" i="0">
                <a:solidFill>
                  <a:srgbClr val="FFFFFF"/>
                </a:solidFill>
                <a:latin typeface="Calibri"/>
              </a:rPr>
              <a:t>L3</a:t>
            </a:r>
          </a:p>
        </p:txBody>
      </p:sp>
      <p:sp>
        <p:nvSpPr>
          <p:cNvPr id="21" name="TextBox 20"/>
          <p:cNvSpPr txBox="1"/>
          <p:nvPr/>
        </p:nvSpPr>
        <p:spPr>
          <a:xfrm>
            <a:off x="1371600" y="3538728"/>
            <a:ext cx="5394960" cy="594360"/>
          </a:xfrm>
          <a:prstGeom prst="rect">
            <a:avLst/>
          </a:prstGeom>
          <a:noFill/>
        </p:spPr>
        <p:txBody>
          <a:bodyPr wrap="square">
            <a:spAutoFit/>
          </a:bodyPr>
          <a:lstStyle/>
          <a:p>
            <a:pPr algn="l">
              <a:spcBef>
                <a:spcPts val="0"/>
              </a:spcBef>
              <a:spcAft>
                <a:spcPts val="100"/>
              </a:spcAft>
            </a:pPr>
            <a:r>
              <a:rPr sz="1450" b="1" i="0">
                <a:solidFill>
                  <a:srgbClr val="1B211D"/>
                </a:solidFill>
                <a:latin typeface="Calibri"/>
              </a:rPr>
              <a:t>Making Open Data</a:t>
            </a:r>
          </a:p>
          <a:p>
            <a:pPr algn="l">
              <a:spcBef>
                <a:spcPts val="0"/>
              </a:spcBef>
              <a:spcAft>
                <a:spcPts val="600"/>
              </a:spcAft>
            </a:pPr>
            <a:r>
              <a:rPr sz="1250" b="0" i="0">
                <a:solidFill>
                  <a:srgbClr val="5B655F"/>
                </a:solidFill>
                <a:latin typeface="Calibri"/>
              </a:rPr>
              <a:t>Data management plans, formats, metadata</a:t>
            </a:r>
          </a:p>
        </p:txBody>
      </p:sp>
      <p:sp>
        <p:nvSpPr>
          <p:cNvPr id="22" name="Rounded Rectangle 21"/>
          <p:cNvSpPr/>
          <p:nvPr/>
        </p:nvSpPr>
        <p:spPr>
          <a:xfrm>
            <a:off x="8549640" y="3648456"/>
            <a:ext cx="2331720" cy="365760"/>
          </a:xfrm>
          <a:prstGeom prst="roundRect">
            <a:avLst>
              <a:gd name="adj" fmla="val 50000"/>
            </a:avLst>
          </a:prstGeom>
          <a:solidFill>
            <a:srgbClr val="2A5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49640" y="3648456"/>
            <a:ext cx="2331720" cy="365760"/>
          </a:xfrm>
          <a:prstGeom prst="rect">
            <a:avLst/>
          </a:prstGeom>
          <a:noFill/>
        </p:spPr>
        <p:txBody>
          <a:bodyPr wrap="square" anchor="ctr">
            <a:spAutoFit/>
          </a:bodyPr>
          <a:lstStyle/>
          <a:p>
            <a:pPr algn="ctr">
              <a:spcBef>
                <a:spcPts val="0"/>
              </a:spcBef>
              <a:spcAft>
                <a:spcPts val="600"/>
              </a:spcAft>
            </a:pPr>
            <a:r>
              <a:rPr sz="1050" b="1" i="0">
                <a:solidFill>
                  <a:srgbClr val="FFFFFF"/>
                </a:solidFill>
                <a:latin typeface="Calibri"/>
              </a:rPr>
              <a:t>TODAY · DEEP DIVE</a:t>
            </a:r>
          </a:p>
        </p:txBody>
      </p:sp>
      <p:sp>
        <p:nvSpPr>
          <p:cNvPr id="24" name="Rounded Rectangle 23"/>
          <p:cNvSpPr/>
          <p:nvPr/>
        </p:nvSpPr>
        <p:spPr>
          <a:xfrm>
            <a:off x="548640" y="4306824"/>
            <a:ext cx="10607040" cy="731520"/>
          </a:xfrm>
          <a:prstGeom prst="roundRect">
            <a:avLst>
              <a:gd name="adj" fmla="val 10000"/>
            </a:avLst>
          </a:prstGeom>
          <a:solidFill>
            <a:srgbClr val="EFEC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4306824"/>
            <a:ext cx="640080" cy="731520"/>
          </a:xfrm>
          <a:prstGeom prst="rect">
            <a:avLst/>
          </a:prstGeom>
          <a:solidFill>
            <a:srgbClr val="2A5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8640" y="4489704"/>
            <a:ext cx="640080" cy="365760"/>
          </a:xfrm>
          <a:prstGeom prst="rect">
            <a:avLst/>
          </a:prstGeom>
          <a:noFill/>
        </p:spPr>
        <p:txBody>
          <a:bodyPr wrap="square" anchor="ctr">
            <a:spAutoFit/>
          </a:bodyPr>
          <a:lstStyle/>
          <a:p>
            <a:pPr algn="ctr">
              <a:spcBef>
                <a:spcPts val="0"/>
              </a:spcBef>
              <a:spcAft>
                <a:spcPts val="600"/>
              </a:spcAft>
            </a:pPr>
            <a:r>
              <a:rPr sz="1500" b="1" i="0">
                <a:solidFill>
                  <a:srgbClr val="FFFFFF"/>
                </a:solidFill>
                <a:latin typeface="Calibri"/>
              </a:rPr>
              <a:t>L4</a:t>
            </a:r>
          </a:p>
        </p:txBody>
      </p:sp>
      <p:sp>
        <p:nvSpPr>
          <p:cNvPr id="27" name="TextBox 26"/>
          <p:cNvSpPr txBox="1"/>
          <p:nvPr/>
        </p:nvSpPr>
        <p:spPr>
          <a:xfrm>
            <a:off x="1371600" y="4379976"/>
            <a:ext cx="5394960" cy="594360"/>
          </a:xfrm>
          <a:prstGeom prst="rect">
            <a:avLst/>
          </a:prstGeom>
          <a:noFill/>
        </p:spPr>
        <p:txBody>
          <a:bodyPr wrap="square">
            <a:spAutoFit/>
          </a:bodyPr>
          <a:lstStyle/>
          <a:p>
            <a:pPr algn="l">
              <a:spcBef>
                <a:spcPts val="0"/>
              </a:spcBef>
              <a:spcAft>
                <a:spcPts val="100"/>
              </a:spcAft>
            </a:pPr>
            <a:r>
              <a:rPr sz="1450" b="1" i="0">
                <a:solidFill>
                  <a:srgbClr val="1B211D"/>
                </a:solidFill>
                <a:latin typeface="Calibri"/>
              </a:rPr>
              <a:t>Sharing Open Data</a:t>
            </a:r>
          </a:p>
          <a:p>
            <a:pPr algn="l">
              <a:spcBef>
                <a:spcPts val="0"/>
              </a:spcBef>
              <a:spcAft>
                <a:spcPts val="600"/>
              </a:spcAft>
            </a:pPr>
            <a:r>
              <a:rPr sz="1250" b="0" i="0">
                <a:solidFill>
                  <a:srgbClr val="5B655F"/>
                </a:solidFill>
                <a:latin typeface="Calibri"/>
              </a:rPr>
              <a:t>Licenses + choosing a repository</a:t>
            </a:r>
          </a:p>
        </p:txBody>
      </p:sp>
      <p:sp>
        <p:nvSpPr>
          <p:cNvPr id="28" name="Rounded Rectangle 27"/>
          <p:cNvSpPr/>
          <p:nvPr/>
        </p:nvSpPr>
        <p:spPr>
          <a:xfrm>
            <a:off x="8549640" y="4489704"/>
            <a:ext cx="2331720" cy="365760"/>
          </a:xfrm>
          <a:prstGeom prst="roundRect">
            <a:avLst>
              <a:gd name="adj" fmla="val 50000"/>
            </a:avLst>
          </a:prstGeom>
          <a:solidFill>
            <a:srgbClr val="2A5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549640" y="4489704"/>
            <a:ext cx="2331720" cy="365760"/>
          </a:xfrm>
          <a:prstGeom prst="rect">
            <a:avLst/>
          </a:prstGeom>
          <a:noFill/>
        </p:spPr>
        <p:txBody>
          <a:bodyPr wrap="square" anchor="ctr">
            <a:spAutoFit/>
          </a:bodyPr>
          <a:lstStyle/>
          <a:p>
            <a:pPr algn="ctr">
              <a:spcBef>
                <a:spcPts val="0"/>
              </a:spcBef>
              <a:spcAft>
                <a:spcPts val="600"/>
              </a:spcAft>
            </a:pPr>
            <a:r>
              <a:rPr sz="1050" b="1" i="0">
                <a:solidFill>
                  <a:srgbClr val="FFFFFF"/>
                </a:solidFill>
                <a:latin typeface="Calibri"/>
              </a:rPr>
              <a:t>TODAY · DEEP DIVE</a:t>
            </a:r>
          </a:p>
        </p:txBody>
      </p:sp>
      <p:sp>
        <p:nvSpPr>
          <p:cNvPr id="30" name="Rounded Rectangle 29"/>
          <p:cNvSpPr/>
          <p:nvPr/>
        </p:nvSpPr>
        <p:spPr>
          <a:xfrm>
            <a:off x="548640" y="5148072"/>
            <a:ext cx="10607040" cy="731520"/>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48640" y="5148072"/>
            <a:ext cx="640080" cy="731520"/>
          </a:xfrm>
          <a:prstGeom prst="rect">
            <a:avLst/>
          </a:prstGeom>
          <a:solidFill>
            <a:srgbClr val="2A5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48640" y="5330952"/>
            <a:ext cx="640080" cy="365760"/>
          </a:xfrm>
          <a:prstGeom prst="rect">
            <a:avLst/>
          </a:prstGeom>
          <a:noFill/>
        </p:spPr>
        <p:txBody>
          <a:bodyPr wrap="square" anchor="ctr">
            <a:spAutoFit/>
          </a:bodyPr>
          <a:lstStyle/>
          <a:p>
            <a:pPr algn="ctr">
              <a:spcBef>
                <a:spcPts val="0"/>
              </a:spcBef>
              <a:spcAft>
                <a:spcPts val="600"/>
              </a:spcAft>
            </a:pPr>
            <a:r>
              <a:rPr sz="1500" b="1" i="0">
                <a:solidFill>
                  <a:srgbClr val="FFFFFF"/>
                </a:solidFill>
                <a:latin typeface="Calibri"/>
              </a:rPr>
              <a:t>L5</a:t>
            </a:r>
          </a:p>
        </p:txBody>
      </p:sp>
      <p:sp>
        <p:nvSpPr>
          <p:cNvPr id="33" name="TextBox 32"/>
          <p:cNvSpPr txBox="1"/>
          <p:nvPr/>
        </p:nvSpPr>
        <p:spPr>
          <a:xfrm>
            <a:off x="1371600" y="5221224"/>
            <a:ext cx="5394960" cy="594360"/>
          </a:xfrm>
          <a:prstGeom prst="rect">
            <a:avLst/>
          </a:prstGeom>
          <a:noFill/>
        </p:spPr>
        <p:txBody>
          <a:bodyPr wrap="square">
            <a:spAutoFit/>
          </a:bodyPr>
          <a:lstStyle/>
          <a:p>
            <a:pPr algn="l">
              <a:spcBef>
                <a:spcPts val="0"/>
              </a:spcBef>
              <a:spcAft>
                <a:spcPts val="100"/>
              </a:spcAft>
            </a:pPr>
            <a:r>
              <a:rPr sz="1450" b="1" i="0">
                <a:solidFill>
                  <a:srgbClr val="1B211D"/>
                </a:solidFill>
                <a:latin typeface="Calibri"/>
              </a:rPr>
              <a:t>From Theory to Practice</a:t>
            </a:r>
          </a:p>
          <a:p>
            <a:pPr algn="l">
              <a:spcBef>
                <a:spcPts val="0"/>
              </a:spcBef>
              <a:spcAft>
                <a:spcPts val="600"/>
              </a:spcAft>
            </a:pPr>
            <a:r>
              <a:rPr sz="1250" b="0" i="0">
                <a:solidFill>
                  <a:srgbClr val="5B655F"/>
                </a:solidFill>
                <a:latin typeface="Calibri"/>
              </a:rPr>
              <a:t>Drafting your own data section</a:t>
            </a:r>
          </a:p>
        </p:txBody>
      </p:sp>
      <p:sp>
        <p:nvSpPr>
          <p:cNvPr id="34" name="Rounded Rectangle 33"/>
          <p:cNvSpPr/>
          <p:nvPr/>
        </p:nvSpPr>
        <p:spPr>
          <a:xfrm>
            <a:off x="8549640" y="5330952"/>
            <a:ext cx="2331720" cy="365760"/>
          </a:xfrm>
          <a:prstGeom prst="roundRect">
            <a:avLst>
              <a:gd name="adj" fmla="val 50000"/>
            </a:avLst>
          </a:prstGeom>
          <a:solidFill>
            <a:srgbClr val="C9C5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549640" y="5330952"/>
            <a:ext cx="2331720" cy="365760"/>
          </a:xfrm>
          <a:prstGeom prst="rect">
            <a:avLst/>
          </a:prstGeom>
          <a:noFill/>
        </p:spPr>
        <p:txBody>
          <a:bodyPr wrap="square" anchor="ctr">
            <a:spAutoFit/>
          </a:bodyPr>
          <a:lstStyle/>
          <a:p>
            <a:pPr algn="ctr">
              <a:spcBef>
                <a:spcPts val="0"/>
              </a:spcBef>
              <a:spcAft>
                <a:spcPts val="600"/>
              </a:spcAft>
            </a:pPr>
            <a:r>
              <a:rPr sz="1050" b="1" i="0">
                <a:solidFill>
                  <a:srgbClr val="1B211D"/>
                </a:solidFill>
                <a:latin typeface="Calibri"/>
              </a:rPr>
              <a:t>SELF-PACED FOLLOW-UP</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5EE"/>
        </a:solidFill>
        <a:effectLst/>
      </p:bgPr>
    </p:bg>
    <p:spTree>
      <p:nvGrpSpPr>
        <p:cNvPr id="1" name=""/>
        <p:cNvGrpSpPr/>
        <p:nvPr/>
      </p:nvGrpSpPr>
      <p:grpSpPr/>
      <p:sp>
        <p:nvSpPr>
          <p:cNvPr id="2" name="TextBox 1"/>
          <p:cNvSpPr txBox="1"/>
          <p:nvPr/>
        </p:nvSpPr>
        <p:spPr>
          <a:xfrm>
            <a:off x="548640" y="411480"/>
            <a:ext cx="7315200" cy="365760"/>
          </a:xfrm>
          <a:prstGeom prst="rect">
            <a:avLst/>
          </a:prstGeom>
          <a:noFill/>
        </p:spPr>
        <p:txBody>
          <a:bodyPr wrap="square">
            <a:spAutoFit/>
          </a:bodyPr>
          <a:lstStyle/>
          <a:p>
            <a:pPr algn="l">
              <a:spcBef>
                <a:spcPts val="0"/>
              </a:spcBef>
              <a:spcAft>
                <a:spcPts val="600"/>
              </a:spcAft>
            </a:pPr>
            <a:r>
              <a:rPr sz="1300" b="1" i="0" spc="120">
                <a:solidFill>
                  <a:srgbClr val="2A5C8A"/>
                </a:solidFill>
                <a:latin typeface="Calibri"/>
              </a:rPr>
              <a:t>1.3 · THE FAIR PRINCIPLES</a:t>
            </a:r>
          </a:p>
        </p:txBody>
      </p:sp>
      <p:sp>
        <p:nvSpPr>
          <p:cNvPr id="3" name="TextBox 2"/>
          <p:cNvSpPr txBox="1"/>
          <p:nvPr/>
        </p:nvSpPr>
        <p:spPr>
          <a:xfrm>
            <a:off x="548640" y="777240"/>
            <a:ext cx="10789920" cy="822960"/>
          </a:xfrm>
          <a:prstGeom prst="rect">
            <a:avLst/>
          </a:prstGeom>
          <a:noFill/>
        </p:spPr>
        <p:txBody>
          <a:bodyPr wrap="square">
            <a:spAutoFit/>
          </a:bodyPr>
          <a:lstStyle/>
          <a:p>
            <a:pPr algn="l">
              <a:spcBef>
                <a:spcPts val="0"/>
              </a:spcBef>
              <a:spcAft>
                <a:spcPts val="600"/>
              </a:spcAft>
            </a:pPr>
            <a:r>
              <a:rPr sz="3000" b="1" i="0">
                <a:solidFill>
                  <a:srgbClr val="1B211D"/>
                </a:solidFill>
                <a:latin typeface="Georgia"/>
              </a:rPr>
              <a:t>FAIR: Findable, Accessible, Interoperable, Reusable</a:t>
            </a:r>
          </a:p>
        </p:txBody>
      </p:sp>
      <p:sp>
        <p:nvSpPr>
          <p:cNvPr id="4" name="TextBox 3"/>
          <p:cNvSpPr txBox="1"/>
          <p:nvPr/>
        </p:nvSpPr>
        <p:spPr>
          <a:xfrm>
            <a:off x="548640" y="6473952"/>
            <a:ext cx="8229600" cy="320040"/>
          </a:xfrm>
          <a:prstGeom prst="rect">
            <a:avLst/>
          </a:prstGeom>
          <a:noFill/>
        </p:spPr>
        <p:txBody>
          <a:bodyPr wrap="square">
            <a:spAutoFit/>
          </a:bodyPr>
          <a:lstStyle/>
          <a:p>
            <a:pPr algn="l">
              <a:spcBef>
                <a:spcPts val="0"/>
              </a:spcBef>
              <a:spcAft>
                <a:spcPts val="600"/>
              </a:spcAft>
            </a:pPr>
            <a:r>
              <a:rPr sz="1000" b="0" i="0">
                <a:solidFill>
                  <a:srgbClr val="5B655F"/>
                </a:solidFill>
                <a:latin typeface="Calibri"/>
              </a:rPr>
              <a:t>Module 2 · Open Data</a:t>
            </a:r>
          </a:p>
        </p:txBody>
      </p:sp>
      <p:sp>
        <p:nvSpPr>
          <p:cNvPr id="5" name="Rectangle 4"/>
          <p:cNvSpPr/>
          <p:nvPr/>
        </p:nvSpPr>
        <p:spPr>
          <a:xfrm>
            <a:off x="0" y="6419088"/>
            <a:ext cx="12191695" cy="17780"/>
          </a:xfrm>
          <a:prstGeom prst="rect">
            <a:avLst/>
          </a:prstGeom>
          <a:solidFill>
            <a:srgbClr val="2A5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737360"/>
            <a:ext cx="2606040" cy="301752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874519"/>
            <a:ext cx="2606040" cy="914400"/>
          </a:xfrm>
          <a:prstGeom prst="rect">
            <a:avLst/>
          </a:prstGeom>
          <a:noFill/>
        </p:spPr>
        <p:txBody>
          <a:bodyPr wrap="square">
            <a:spAutoFit/>
          </a:bodyPr>
          <a:lstStyle/>
          <a:p>
            <a:pPr algn="ctr">
              <a:spcBef>
                <a:spcPts val="0"/>
              </a:spcBef>
              <a:spcAft>
                <a:spcPts val="600"/>
              </a:spcAft>
            </a:pPr>
            <a:r>
              <a:rPr sz="4600" b="1" i="0">
                <a:solidFill>
                  <a:srgbClr val="2A5C8A"/>
                </a:solidFill>
                <a:latin typeface="Georgia"/>
              </a:rPr>
              <a:t>F</a:t>
            </a:r>
          </a:p>
        </p:txBody>
      </p:sp>
      <p:sp>
        <p:nvSpPr>
          <p:cNvPr id="8" name="TextBox 7"/>
          <p:cNvSpPr txBox="1"/>
          <p:nvPr/>
        </p:nvSpPr>
        <p:spPr>
          <a:xfrm>
            <a:off x="731520" y="2697480"/>
            <a:ext cx="2240280" cy="457200"/>
          </a:xfrm>
          <a:prstGeom prst="rect">
            <a:avLst/>
          </a:prstGeom>
          <a:noFill/>
        </p:spPr>
        <p:txBody>
          <a:bodyPr wrap="square">
            <a:spAutoFit/>
          </a:bodyPr>
          <a:lstStyle/>
          <a:p>
            <a:pPr algn="ctr">
              <a:spcBef>
                <a:spcPts val="0"/>
              </a:spcBef>
              <a:spcAft>
                <a:spcPts val="600"/>
              </a:spcAft>
            </a:pPr>
            <a:r>
              <a:rPr sz="1500" b="1" i="0">
                <a:solidFill>
                  <a:srgbClr val="1B211D"/>
                </a:solidFill>
                <a:latin typeface="Calibri"/>
              </a:rPr>
              <a:t>Findable</a:t>
            </a:r>
          </a:p>
        </p:txBody>
      </p:sp>
      <p:sp>
        <p:nvSpPr>
          <p:cNvPr id="9" name="TextBox 8"/>
          <p:cNvSpPr txBox="1"/>
          <p:nvPr/>
        </p:nvSpPr>
        <p:spPr>
          <a:xfrm>
            <a:off x="777240" y="3108960"/>
            <a:ext cx="2148840" cy="1554480"/>
          </a:xfrm>
          <a:prstGeom prst="rect">
            <a:avLst/>
          </a:prstGeom>
          <a:noFill/>
        </p:spPr>
        <p:txBody>
          <a:bodyPr wrap="square">
            <a:spAutoFit/>
          </a:bodyPr>
          <a:lstStyle/>
          <a:p>
            <a:pPr algn="ctr">
              <a:lnSpc>
                <a:spcPct val="120000"/>
              </a:lnSpc>
              <a:spcBef>
                <a:spcPts val="0"/>
              </a:spcBef>
              <a:spcAft>
                <a:spcPts val="600"/>
              </a:spcAft>
            </a:pPr>
            <a:r>
              <a:rPr sz="1250" b="0" i="0">
                <a:solidFill>
                  <a:srgbClr val="5B655F"/>
                </a:solidFill>
                <a:latin typeface="Calibri"/>
              </a:rPr>
              <a:t>Persistent identifiers (DOIs); metadata indexed in searchable repositories.</a:t>
            </a:r>
          </a:p>
        </p:txBody>
      </p:sp>
      <p:sp>
        <p:nvSpPr>
          <p:cNvPr id="10" name="Rounded Rectangle 9"/>
          <p:cNvSpPr/>
          <p:nvPr/>
        </p:nvSpPr>
        <p:spPr>
          <a:xfrm>
            <a:off x="3337560" y="1737360"/>
            <a:ext cx="2606040" cy="301752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337560" y="1874519"/>
            <a:ext cx="2606040" cy="914400"/>
          </a:xfrm>
          <a:prstGeom prst="rect">
            <a:avLst/>
          </a:prstGeom>
          <a:noFill/>
        </p:spPr>
        <p:txBody>
          <a:bodyPr wrap="square">
            <a:spAutoFit/>
          </a:bodyPr>
          <a:lstStyle/>
          <a:p>
            <a:pPr algn="ctr">
              <a:spcBef>
                <a:spcPts val="0"/>
              </a:spcBef>
              <a:spcAft>
                <a:spcPts val="600"/>
              </a:spcAft>
            </a:pPr>
            <a:r>
              <a:rPr sz="4600" b="1" i="0">
                <a:solidFill>
                  <a:srgbClr val="2A5C8A"/>
                </a:solidFill>
                <a:latin typeface="Georgia"/>
              </a:rPr>
              <a:t>A</a:t>
            </a:r>
          </a:p>
        </p:txBody>
      </p:sp>
      <p:sp>
        <p:nvSpPr>
          <p:cNvPr id="12" name="TextBox 11"/>
          <p:cNvSpPr txBox="1"/>
          <p:nvPr/>
        </p:nvSpPr>
        <p:spPr>
          <a:xfrm>
            <a:off x="3520440" y="2697480"/>
            <a:ext cx="2240280" cy="457200"/>
          </a:xfrm>
          <a:prstGeom prst="rect">
            <a:avLst/>
          </a:prstGeom>
          <a:noFill/>
        </p:spPr>
        <p:txBody>
          <a:bodyPr wrap="square">
            <a:spAutoFit/>
          </a:bodyPr>
          <a:lstStyle/>
          <a:p>
            <a:pPr algn="ctr">
              <a:spcBef>
                <a:spcPts val="0"/>
              </a:spcBef>
              <a:spcAft>
                <a:spcPts val="600"/>
              </a:spcAft>
            </a:pPr>
            <a:r>
              <a:rPr sz="1500" b="1" i="0">
                <a:solidFill>
                  <a:srgbClr val="1B211D"/>
                </a:solidFill>
                <a:latin typeface="Calibri"/>
              </a:rPr>
              <a:t>Accessible</a:t>
            </a:r>
          </a:p>
        </p:txBody>
      </p:sp>
      <p:sp>
        <p:nvSpPr>
          <p:cNvPr id="13" name="TextBox 12"/>
          <p:cNvSpPr txBox="1"/>
          <p:nvPr/>
        </p:nvSpPr>
        <p:spPr>
          <a:xfrm>
            <a:off x="3566160" y="3108960"/>
            <a:ext cx="2148840" cy="1554480"/>
          </a:xfrm>
          <a:prstGeom prst="rect">
            <a:avLst/>
          </a:prstGeom>
          <a:noFill/>
        </p:spPr>
        <p:txBody>
          <a:bodyPr wrap="square">
            <a:spAutoFit/>
          </a:bodyPr>
          <a:lstStyle/>
          <a:p>
            <a:pPr algn="ctr">
              <a:lnSpc>
                <a:spcPct val="120000"/>
              </a:lnSpc>
              <a:spcBef>
                <a:spcPts val="0"/>
              </a:spcBef>
              <a:spcAft>
                <a:spcPts val="600"/>
              </a:spcAft>
            </a:pPr>
            <a:r>
              <a:rPr sz="1250" b="0" i="0">
                <a:solidFill>
                  <a:srgbClr val="5B655F"/>
                </a:solidFill>
                <a:latin typeface="Calibri"/>
              </a:rPr>
              <a:t>Retrievable via standard protocols; metadata persist even if data doesn't.</a:t>
            </a:r>
          </a:p>
        </p:txBody>
      </p:sp>
      <p:sp>
        <p:nvSpPr>
          <p:cNvPr id="14" name="Rounded Rectangle 13"/>
          <p:cNvSpPr/>
          <p:nvPr/>
        </p:nvSpPr>
        <p:spPr>
          <a:xfrm>
            <a:off x="6126480" y="1737360"/>
            <a:ext cx="2606040" cy="301752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26480" y="1874519"/>
            <a:ext cx="2606040" cy="914400"/>
          </a:xfrm>
          <a:prstGeom prst="rect">
            <a:avLst/>
          </a:prstGeom>
          <a:noFill/>
        </p:spPr>
        <p:txBody>
          <a:bodyPr wrap="square">
            <a:spAutoFit/>
          </a:bodyPr>
          <a:lstStyle/>
          <a:p>
            <a:pPr algn="ctr">
              <a:spcBef>
                <a:spcPts val="0"/>
              </a:spcBef>
              <a:spcAft>
                <a:spcPts val="600"/>
              </a:spcAft>
            </a:pPr>
            <a:r>
              <a:rPr sz="4600" b="1" i="0">
                <a:solidFill>
                  <a:srgbClr val="2A5C8A"/>
                </a:solidFill>
                <a:latin typeface="Georgia"/>
              </a:rPr>
              <a:t>I</a:t>
            </a:r>
          </a:p>
        </p:txBody>
      </p:sp>
      <p:sp>
        <p:nvSpPr>
          <p:cNvPr id="16" name="TextBox 15"/>
          <p:cNvSpPr txBox="1"/>
          <p:nvPr/>
        </p:nvSpPr>
        <p:spPr>
          <a:xfrm>
            <a:off x="6309360" y="2697480"/>
            <a:ext cx="2240280" cy="457200"/>
          </a:xfrm>
          <a:prstGeom prst="rect">
            <a:avLst/>
          </a:prstGeom>
          <a:noFill/>
        </p:spPr>
        <p:txBody>
          <a:bodyPr wrap="square">
            <a:spAutoFit/>
          </a:bodyPr>
          <a:lstStyle/>
          <a:p>
            <a:pPr algn="ctr">
              <a:spcBef>
                <a:spcPts val="0"/>
              </a:spcBef>
              <a:spcAft>
                <a:spcPts val="600"/>
              </a:spcAft>
            </a:pPr>
            <a:r>
              <a:rPr sz="1500" b="1" i="0">
                <a:solidFill>
                  <a:srgbClr val="1B211D"/>
                </a:solidFill>
                <a:latin typeface="Calibri"/>
              </a:rPr>
              <a:t>Interoperable</a:t>
            </a:r>
          </a:p>
        </p:txBody>
      </p:sp>
      <p:sp>
        <p:nvSpPr>
          <p:cNvPr id="17" name="TextBox 16"/>
          <p:cNvSpPr txBox="1"/>
          <p:nvPr/>
        </p:nvSpPr>
        <p:spPr>
          <a:xfrm>
            <a:off x="6355080" y="3108960"/>
            <a:ext cx="2148840" cy="1554480"/>
          </a:xfrm>
          <a:prstGeom prst="rect">
            <a:avLst/>
          </a:prstGeom>
          <a:noFill/>
        </p:spPr>
        <p:txBody>
          <a:bodyPr wrap="square">
            <a:spAutoFit/>
          </a:bodyPr>
          <a:lstStyle/>
          <a:p>
            <a:pPr algn="ctr">
              <a:lnSpc>
                <a:spcPct val="120000"/>
              </a:lnSpc>
              <a:spcBef>
                <a:spcPts val="0"/>
              </a:spcBef>
              <a:spcAft>
                <a:spcPts val="600"/>
              </a:spcAft>
            </a:pPr>
            <a:r>
              <a:rPr sz="1250" b="0" i="0">
                <a:solidFill>
                  <a:srgbClr val="5B655F"/>
                </a:solidFill>
                <a:latin typeface="Calibri"/>
              </a:rPr>
              <a:t>Standard formats &amp; vocabularies — can be combined with other datasets.</a:t>
            </a:r>
          </a:p>
        </p:txBody>
      </p:sp>
      <p:sp>
        <p:nvSpPr>
          <p:cNvPr id="18" name="Rounded Rectangle 17"/>
          <p:cNvSpPr/>
          <p:nvPr/>
        </p:nvSpPr>
        <p:spPr>
          <a:xfrm>
            <a:off x="8915400" y="1737360"/>
            <a:ext cx="2606040" cy="301752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915400" y="1874519"/>
            <a:ext cx="2606040" cy="914400"/>
          </a:xfrm>
          <a:prstGeom prst="rect">
            <a:avLst/>
          </a:prstGeom>
          <a:noFill/>
        </p:spPr>
        <p:txBody>
          <a:bodyPr wrap="square">
            <a:spAutoFit/>
          </a:bodyPr>
          <a:lstStyle/>
          <a:p>
            <a:pPr algn="ctr">
              <a:spcBef>
                <a:spcPts val="0"/>
              </a:spcBef>
              <a:spcAft>
                <a:spcPts val="600"/>
              </a:spcAft>
            </a:pPr>
            <a:r>
              <a:rPr sz="4600" b="1" i="0">
                <a:solidFill>
                  <a:srgbClr val="2A5C8A"/>
                </a:solidFill>
                <a:latin typeface="Georgia"/>
              </a:rPr>
              <a:t>R</a:t>
            </a:r>
          </a:p>
        </p:txBody>
      </p:sp>
      <p:sp>
        <p:nvSpPr>
          <p:cNvPr id="20" name="TextBox 19"/>
          <p:cNvSpPr txBox="1"/>
          <p:nvPr/>
        </p:nvSpPr>
        <p:spPr>
          <a:xfrm>
            <a:off x="9098280" y="2697480"/>
            <a:ext cx="2240280" cy="457200"/>
          </a:xfrm>
          <a:prstGeom prst="rect">
            <a:avLst/>
          </a:prstGeom>
          <a:noFill/>
        </p:spPr>
        <p:txBody>
          <a:bodyPr wrap="square">
            <a:spAutoFit/>
          </a:bodyPr>
          <a:lstStyle/>
          <a:p>
            <a:pPr algn="ctr">
              <a:spcBef>
                <a:spcPts val="0"/>
              </a:spcBef>
              <a:spcAft>
                <a:spcPts val="600"/>
              </a:spcAft>
            </a:pPr>
            <a:r>
              <a:rPr sz="1500" b="1" i="0">
                <a:solidFill>
                  <a:srgbClr val="1B211D"/>
                </a:solidFill>
                <a:latin typeface="Calibri"/>
              </a:rPr>
              <a:t>Reusable</a:t>
            </a:r>
          </a:p>
        </p:txBody>
      </p:sp>
      <p:sp>
        <p:nvSpPr>
          <p:cNvPr id="21" name="TextBox 20"/>
          <p:cNvSpPr txBox="1"/>
          <p:nvPr/>
        </p:nvSpPr>
        <p:spPr>
          <a:xfrm>
            <a:off x="9144000" y="3108960"/>
            <a:ext cx="2148840" cy="1554480"/>
          </a:xfrm>
          <a:prstGeom prst="rect">
            <a:avLst/>
          </a:prstGeom>
          <a:noFill/>
        </p:spPr>
        <p:txBody>
          <a:bodyPr wrap="square">
            <a:spAutoFit/>
          </a:bodyPr>
          <a:lstStyle/>
          <a:p>
            <a:pPr algn="ctr">
              <a:lnSpc>
                <a:spcPct val="120000"/>
              </a:lnSpc>
              <a:spcBef>
                <a:spcPts val="0"/>
              </a:spcBef>
              <a:spcAft>
                <a:spcPts val="600"/>
              </a:spcAft>
            </a:pPr>
            <a:r>
              <a:rPr sz="1250" b="0" i="0">
                <a:solidFill>
                  <a:srgbClr val="5B655F"/>
                </a:solidFill>
                <a:latin typeface="Calibri"/>
              </a:rPr>
              <a:t>Clear license; enough metadata to understand methods, limits, and scope.</a:t>
            </a:r>
          </a:p>
        </p:txBody>
      </p:sp>
      <p:sp>
        <p:nvSpPr>
          <p:cNvPr id="22" name="TextBox 21"/>
          <p:cNvSpPr txBox="1"/>
          <p:nvPr/>
        </p:nvSpPr>
        <p:spPr>
          <a:xfrm>
            <a:off x="548640" y="4937760"/>
            <a:ext cx="10789920" cy="1097280"/>
          </a:xfrm>
          <a:prstGeom prst="rect">
            <a:avLst/>
          </a:prstGeom>
          <a:noFill/>
        </p:spPr>
        <p:txBody>
          <a:bodyPr wrap="square">
            <a:spAutoFit/>
          </a:bodyPr>
          <a:lstStyle/>
          <a:p>
            <a:pPr algn="l">
              <a:spcBef>
                <a:spcPts val="0"/>
              </a:spcBef>
              <a:spcAft>
                <a:spcPts val="600"/>
              </a:spcAft>
            </a:pPr>
            <a:r>
              <a:rPr sz="1600" b="1" i="0">
                <a:solidFill>
                  <a:srgbClr val="2A5C8A"/>
                </a:solidFill>
                <a:latin typeface="Calibri"/>
              </a:rPr>
              <a:t>FAIR ≠ OPEN.</a:t>
            </a:r>
          </a:p>
          <a:p>
            <a:pPr algn="l">
              <a:lnSpc>
                <a:spcPct val="120000"/>
              </a:lnSpc>
              <a:spcBef>
                <a:spcPts val="200"/>
              </a:spcBef>
              <a:spcAft>
                <a:spcPts val="600"/>
              </a:spcAft>
            </a:pPr>
            <a:r>
              <a:rPr sz="1400" b="0" i="0">
                <a:solidFill>
                  <a:srgbClr val="1B211D"/>
                </a:solidFill>
                <a:latin typeface="Calibri"/>
              </a:rPr>
              <a:t>FAIR describes how data are documented; open describes access and licensing. Data can be FAIR-but-closed (restricted, well-documented) or open-but-not-FAIR (public, poorly described). The goal is both.</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7F5EE"/>
        </a:solidFill>
        <a:effectLst/>
      </p:bgPr>
    </p:bg>
    <p:spTree>
      <p:nvGrpSpPr>
        <p:cNvPr id="1" name=""/>
        <p:cNvGrpSpPr/>
        <p:nvPr/>
      </p:nvGrpSpPr>
      <p:grpSpPr/>
      <p:sp>
        <p:nvSpPr>
          <p:cNvPr id="2" name="TextBox 1"/>
          <p:cNvSpPr txBox="1"/>
          <p:nvPr/>
        </p:nvSpPr>
        <p:spPr>
          <a:xfrm>
            <a:off x="548640" y="411480"/>
            <a:ext cx="7315200" cy="365760"/>
          </a:xfrm>
          <a:prstGeom prst="rect">
            <a:avLst/>
          </a:prstGeom>
          <a:noFill/>
        </p:spPr>
        <p:txBody>
          <a:bodyPr wrap="square">
            <a:spAutoFit/>
          </a:bodyPr>
          <a:lstStyle/>
          <a:p>
            <a:pPr algn="l">
              <a:spcBef>
                <a:spcPts val="0"/>
              </a:spcBef>
              <a:spcAft>
                <a:spcPts val="600"/>
              </a:spcAft>
            </a:pPr>
            <a:r>
              <a:rPr sz="1300" b="1" i="0" spc="120">
                <a:solidFill>
                  <a:srgbClr val="2A5C8A"/>
                </a:solidFill>
                <a:latin typeface="Calibri"/>
              </a:rPr>
              <a:t>2.1 · LIGHTNING ROUND</a:t>
            </a:r>
          </a:p>
        </p:txBody>
      </p:sp>
      <p:sp>
        <p:nvSpPr>
          <p:cNvPr id="3" name="TextBox 2"/>
          <p:cNvSpPr txBox="1"/>
          <p:nvPr/>
        </p:nvSpPr>
        <p:spPr>
          <a:xfrm>
            <a:off x="548640" y="777240"/>
            <a:ext cx="10789920" cy="822960"/>
          </a:xfrm>
          <a:prstGeom prst="rect">
            <a:avLst/>
          </a:prstGeom>
          <a:noFill/>
        </p:spPr>
        <p:txBody>
          <a:bodyPr wrap="square">
            <a:spAutoFit/>
          </a:bodyPr>
          <a:lstStyle/>
          <a:p>
            <a:pPr algn="l">
              <a:spcBef>
                <a:spcPts val="0"/>
              </a:spcBef>
              <a:spcAft>
                <a:spcPts val="600"/>
              </a:spcAft>
            </a:pPr>
            <a:r>
              <a:rPr sz="3000" b="1" i="0">
                <a:solidFill>
                  <a:srgbClr val="1B211D"/>
                </a:solidFill>
                <a:latin typeface="Georgia"/>
              </a:rPr>
              <a:t>L2 — Discover, assess &amp; cite open data</a:t>
            </a:r>
          </a:p>
        </p:txBody>
      </p:sp>
      <p:sp>
        <p:nvSpPr>
          <p:cNvPr id="4" name="TextBox 3"/>
          <p:cNvSpPr txBox="1"/>
          <p:nvPr/>
        </p:nvSpPr>
        <p:spPr>
          <a:xfrm>
            <a:off x="548640" y="6473952"/>
            <a:ext cx="8229600" cy="320040"/>
          </a:xfrm>
          <a:prstGeom prst="rect">
            <a:avLst/>
          </a:prstGeom>
          <a:noFill/>
        </p:spPr>
        <p:txBody>
          <a:bodyPr wrap="square">
            <a:spAutoFit/>
          </a:bodyPr>
          <a:lstStyle/>
          <a:p>
            <a:pPr algn="l">
              <a:spcBef>
                <a:spcPts val="0"/>
              </a:spcBef>
              <a:spcAft>
                <a:spcPts val="600"/>
              </a:spcAft>
            </a:pPr>
            <a:r>
              <a:rPr sz="1000" b="0" i="0">
                <a:solidFill>
                  <a:srgbClr val="5B655F"/>
                </a:solidFill>
                <a:latin typeface="Calibri"/>
              </a:rPr>
              <a:t>Module 2 · Open Data</a:t>
            </a:r>
          </a:p>
        </p:txBody>
      </p:sp>
      <p:sp>
        <p:nvSpPr>
          <p:cNvPr id="5" name="Rectangle 4"/>
          <p:cNvSpPr/>
          <p:nvPr/>
        </p:nvSpPr>
        <p:spPr>
          <a:xfrm>
            <a:off x="0" y="6419088"/>
            <a:ext cx="12191695" cy="17780"/>
          </a:xfrm>
          <a:prstGeom prst="rect">
            <a:avLst/>
          </a:prstGeom>
          <a:solidFill>
            <a:srgbClr val="2A5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645920"/>
            <a:ext cx="5120640" cy="4297680"/>
          </a:xfrm>
          <a:prstGeom prst="rect">
            <a:avLst/>
          </a:prstGeom>
          <a:noFill/>
        </p:spPr>
        <p:txBody>
          <a:bodyPr wrap="square">
            <a:spAutoFit/>
          </a:bodyPr>
          <a:lstStyle/>
          <a:p>
            <a:pPr algn="l">
              <a:lnSpc>
                <a:spcPct val="108000"/>
              </a:lnSpc>
              <a:spcBef>
                <a:spcPts val="0"/>
              </a:spcBef>
              <a:spcAft>
                <a:spcPts val="1300"/>
              </a:spcAft>
            </a:pPr>
            <a:r>
              <a:rPr sz="1300" b="1" i="0">
                <a:solidFill>
                  <a:srgbClr val="2A5C8A"/>
                </a:solidFill>
                <a:latin typeface="Calibri"/>
              </a:rPr>
              <a:t>FOUR WAYS TO SEARCH</a:t>
            </a:r>
            <a:r>
              <a:rPr sz="1400" b="0" i="0">
                <a:solidFill>
                  <a:srgbClr val="1B211D"/>
                </a:solidFill>
                <a:latin typeface="Calibri"/>
              </a:rPr>
              <a:t>•  Keyword search — specific beats vague (“soil microbial 16S rRNA”, not “microbial data”)</a:t>
            </a:r>
          </a:p>
          <a:p>
            <a:pPr>
              <a:lnSpc>
                <a:spcPct val="108000"/>
              </a:lnSpc>
              <a:spcAft>
                <a:spcPts val="1300"/>
              </a:spcAft>
            </a:pPr>
            <a:r>
              <a:rPr sz="1400" b="0" i="0">
                <a:solidFill>
                  <a:srgbClr val="1B211D"/>
                </a:solidFill>
                <a:latin typeface="Calibri"/>
              </a:rPr>
              <a:t>•  Filters — date range, file type, license, discipline</a:t>
            </a:r>
          </a:p>
          <a:p>
            <a:pPr>
              <a:lnSpc>
                <a:spcPct val="108000"/>
              </a:lnSpc>
              <a:spcAft>
                <a:spcPts val="1300"/>
              </a:spcAft>
            </a:pPr>
            <a:r>
              <a:rPr sz="1400" b="0" i="0">
                <a:solidFill>
                  <a:srgbClr val="1B211D"/>
                </a:solidFill>
                <a:latin typeface="Calibri"/>
              </a:rPr>
              <a:t>•  Citation tracking — see what datasets similar papers cite</a:t>
            </a:r>
          </a:p>
          <a:p>
            <a:pPr>
              <a:lnSpc>
                <a:spcPct val="108000"/>
              </a:lnSpc>
              <a:spcAft>
                <a:spcPts val="1300"/>
              </a:spcAft>
            </a:pPr>
            <a:r>
              <a:rPr sz="1400" b="0" i="0">
                <a:solidFill>
                  <a:srgbClr val="1B211D"/>
                </a:solidFill>
                <a:latin typeface="Calibri"/>
              </a:rPr>
              <a:t>•  Ask your community — colleagues, forums, mailing lists</a:t>
            </a:r>
          </a:p>
        </p:txBody>
      </p:sp>
      <p:sp>
        <p:nvSpPr>
          <p:cNvPr id="7" name="TextBox 6"/>
          <p:cNvSpPr txBox="1"/>
          <p:nvPr/>
        </p:nvSpPr>
        <p:spPr>
          <a:xfrm>
            <a:off x="5943600" y="1645920"/>
            <a:ext cx="5394960" cy="4297680"/>
          </a:xfrm>
          <a:prstGeom prst="rect">
            <a:avLst/>
          </a:prstGeom>
          <a:noFill/>
        </p:spPr>
        <p:txBody>
          <a:bodyPr wrap="square">
            <a:spAutoFit/>
          </a:bodyPr>
          <a:lstStyle/>
          <a:p>
            <a:pPr algn="l">
              <a:lnSpc>
                <a:spcPct val="108000"/>
              </a:lnSpc>
              <a:spcBef>
                <a:spcPts val="0"/>
              </a:spcBef>
              <a:spcAft>
                <a:spcPts val="1300"/>
              </a:spcAft>
            </a:pPr>
            <a:r>
              <a:rPr sz="1300" b="1" i="0">
                <a:solidFill>
                  <a:srgbClr val="2A5C8A"/>
                </a:solidFill>
                <a:latin typeface="Calibri"/>
              </a:rPr>
              <a:t>BEFORE YOU TRUST IT</a:t>
            </a:r>
            <a:r>
              <a:rPr sz="1400" b="0" i="0">
                <a:solidFill>
                  <a:srgbClr val="1B211D"/>
                </a:solidFill>
                <a:latin typeface="Calibri"/>
              </a:rPr>
              <a:t>•  Documentation — is there a real README, not just a filename?</a:t>
            </a:r>
          </a:p>
          <a:p>
            <a:pPr>
              <a:lnSpc>
                <a:spcPct val="108000"/>
              </a:lnSpc>
              <a:spcAft>
                <a:spcPts val="1300"/>
              </a:spcAft>
            </a:pPr>
            <a:r>
              <a:rPr sz="1400" b="0" i="0">
                <a:solidFill>
                  <a:srgbClr val="1B211D"/>
                </a:solidFill>
                <a:latin typeface="Calibri"/>
              </a:rPr>
              <a:t>•  Provenance — who collected it, how, and when?</a:t>
            </a:r>
          </a:p>
          <a:p>
            <a:pPr>
              <a:lnSpc>
                <a:spcPct val="108000"/>
              </a:lnSpc>
              <a:spcAft>
                <a:spcPts val="1300"/>
              </a:spcAft>
            </a:pPr>
            <a:r>
              <a:rPr sz="1400" b="0" i="0">
                <a:solidFill>
                  <a:srgbClr val="1B211D"/>
                </a:solidFill>
                <a:latin typeface="Calibri"/>
              </a:rPr>
              <a:t>•  License — is reuse actually permitted, and how must you cite it?</a:t>
            </a:r>
          </a:p>
          <a:p>
            <a:pPr>
              <a:lnSpc>
                <a:spcPct val="108000"/>
              </a:lnSpc>
              <a:spcAft>
                <a:spcPts val="1300"/>
              </a:spcAft>
            </a:pPr>
            <a:r>
              <a:rPr sz="1400" b="0" i="0">
                <a:solidFill>
                  <a:srgbClr val="1B211D"/>
                </a:solidFill>
                <a:latin typeface="Calibri"/>
              </a:rPr>
              <a:t>•  Citing it — treat a dataset DOI like a citation, in your reference list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7F5EE"/>
        </a:solidFill>
        <a:effectLst/>
      </p:bgPr>
    </p:bg>
    <p:spTree>
      <p:nvGrpSpPr>
        <p:cNvPr id="1" name=""/>
        <p:cNvGrpSpPr/>
        <p:nvPr/>
      </p:nvGrpSpPr>
      <p:grpSpPr/>
      <p:sp>
        <p:nvSpPr>
          <p:cNvPr id="2" name="TextBox 1"/>
          <p:cNvSpPr txBox="1"/>
          <p:nvPr/>
        </p:nvSpPr>
        <p:spPr>
          <a:xfrm>
            <a:off x="548640" y="411480"/>
            <a:ext cx="7315200" cy="365760"/>
          </a:xfrm>
          <a:prstGeom prst="rect">
            <a:avLst/>
          </a:prstGeom>
          <a:noFill/>
        </p:spPr>
        <p:txBody>
          <a:bodyPr wrap="square">
            <a:spAutoFit/>
          </a:bodyPr>
          <a:lstStyle/>
          <a:p>
            <a:pPr algn="l">
              <a:spcBef>
                <a:spcPts val="0"/>
              </a:spcBef>
              <a:spcAft>
                <a:spcPts val="600"/>
              </a:spcAft>
            </a:pPr>
            <a:r>
              <a:rPr sz="1300" b="1" i="0" spc="120">
                <a:solidFill>
                  <a:srgbClr val="2A5C8A"/>
                </a:solidFill>
                <a:latin typeface="Calibri"/>
              </a:rPr>
              <a:t>3.3 · DOCUMENTATION</a:t>
            </a:r>
          </a:p>
        </p:txBody>
      </p:sp>
      <p:sp>
        <p:nvSpPr>
          <p:cNvPr id="3" name="TextBox 2"/>
          <p:cNvSpPr txBox="1"/>
          <p:nvPr/>
        </p:nvSpPr>
        <p:spPr>
          <a:xfrm>
            <a:off x="548640" y="777240"/>
            <a:ext cx="10789920" cy="822960"/>
          </a:xfrm>
          <a:prstGeom prst="rect">
            <a:avLst/>
          </a:prstGeom>
          <a:noFill/>
        </p:spPr>
        <p:txBody>
          <a:bodyPr wrap="square">
            <a:spAutoFit/>
          </a:bodyPr>
          <a:lstStyle/>
          <a:p>
            <a:pPr algn="l">
              <a:spcBef>
                <a:spcPts val="0"/>
              </a:spcBef>
              <a:spcAft>
                <a:spcPts val="600"/>
              </a:spcAft>
            </a:pPr>
            <a:r>
              <a:rPr sz="3000" b="1" i="0">
                <a:solidFill>
                  <a:srgbClr val="1B211D"/>
                </a:solidFill>
                <a:latin typeface="Georgia"/>
              </a:rPr>
              <a:t>Anatomy of a dataset README</a:t>
            </a:r>
          </a:p>
        </p:txBody>
      </p:sp>
      <p:sp>
        <p:nvSpPr>
          <p:cNvPr id="4" name="TextBox 3"/>
          <p:cNvSpPr txBox="1"/>
          <p:nvPr/>
        </p:nvSpPr>
        <p:spPr>
          <a:xfrm>
            <a:off x="548640" y="6473952"/>
            <a:ext cx="8229600" cy="320040"/>
          </a:xfrm>
          <a:prstGeom prst="rect">
            <a:avLst/>
          </a:prstGeom>
          <a:noFill/>
        </p:spPr>
        <p:txBody>
          <a:bodyPr wrap="square">
            <a:spAutoFit/>
          </a:bodyPr>
          <a:lstStyle/>
          <a:p>
            <a:pPr algn="l">
              <a:spcBef>
                <a:spcPts val="0"/>
              </a:spcBef>
              <a:spcAft>
                <a:spcPts val="600"/>
              </a:spcAft>
            </a:pPr>
            <a:r>
              <a:rPr sz="1000" b="0" i="0">
                <a:solidFill>
                  <a:srgbClr val="5B655F"/>
                </a:solidFill>
                <a:latin typeface="Calibri"/>
              </a:rPr>
              <a:t>Module 2 · Open Data</a:t>
            </a:r>
          </a:p>
        </p:txBody>
      </p:sp>
      <p:sp>
        <p:nvSpPr>
          <p:cNvPr id="5" name="Rectangle 4"/>
          <p:cNvSpPr/>
          <p:nvPr/>
        </p:nvSpPr>
        <p:spPr>
          <a:xfrm>
            <a:off x="0" y="6419088"/>
            <a:ext cx="12191695" cy="17780"/>
          </a:xfrm>
          <a:prstGeom prst="rect">
            <a:avLst/>
          </a:prstGeom>
          <a:solidFill>
            <a:srgbClr val="2A5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691640"/>
            <a:ext cx="4937760" cy="4206240"/>
          </a:xfrm>
          <a:prstGeom prst="rect">
            <a:avLst/>
          </a:prstGeom>
          <a:noFill/>
        </p:spPr>
        <p:txBody>
          <a:bodyPr wrap="square">
            <a:spAutoFit/>
          </a:bodyPr>
          <a:lstStyle/>
          <a:p>
            <a:pPr algn="l">
              <a:spcBef>
                <a:spcPts val="0"/>
              </a:spcBef>
              <a:spcAft>
                <a:spcPts val="1400"/>
              </a:spcAft>
            </a:pPr>
            <a:r>
              <a:rPr sz="1500" b="0" i="1">
                <a:solidFill>
                  <a:srgbClr val="5B655F"/>
                </a:solidFill>
                <a:latin typeface="Calibri"/>
              </a:rPr>
              <a:t>A README someone can use without ever meeting you:</a:t>
            </a:r>
          </a:p>
          <a:p>
            <a:pPr>
              <a:lnSpc>
                <a:spcPct val="108000"/>
              </a:lnSpc>
              <a:spcAft>
                <a:spcPts val="1100"/>
              </a:spcAft>
            </a:pPr>
            <a:r>
              <a:rPr sz="1450" b="1" i="0">
                <a:solidFill>
                  <a:srgbClr val="1B211D"/>
                </a:solidFill>
                <a:latin typeface="Calibri"/>
              </a:rPr>
              <a:t>Overview </a:t>
            </a:r>
            <a:r>
              <a:rPr sz="1450" b="0" i="0">
                <a:solidFill>
                  <a:srgbClr val="1B211D"/>
                </a:solidFill>
                <a:latin typeface="Calibri"/>
              </a:rPr>
              <a:t>  — what is this dataset, in one paragraph</a:t>
            </a:r>
          </a:p>
          <a:p>
            <a:pPr>
              <a:lnSpc>
                <a:spcPct val="108000"/>
              </a:lnSpc>
              <a:spcAft>
                <a:spcPts val="1100"/>
              </a:spcAft>
            </a:pPr>
            <a:r>
              <a:rPr sz="1450" b="1" i="0">
                <a:solidFill>
                  <a:srgbClr val="1B211D"/>
                </a:solidFill>
                <a:latin typeface="Calibri"/>
              </a:rPr>
              <a:t>Variables </a:t>
            </a:r>
            <a:r>
              <a:rPr sz="1450" b="0" i="0">
                <a:solidFill>
                  <a:srgbClr val="1B211D"/>
                </a:solidFill>
                <a:latin typeface="Calibri"/>
              </a:rPr>
              <a:t>  — name, unit, type, and description for every column</a:t>
            </a:r>
          </a:p>
          <a:p>
            <a:pPr>
              <a:lnSpc>
                <a:spcPct val="108000"/>
              </a:lnSpc>
              <a:spcAft>
                <a:spcPts val="1100"/>
              </a:spcAft>
            </a:pPr>
            <a:r>
              <a:rPr sz="1450" b="1" i="0">
                <a:solidFill>
                  <a:srgbClr val="1B211D"/>
                </a:solidFill>
                <a:latin typeface="Calibri"/>
              </a:rPr>
              <a:t>Collection methods </a:t>
            </a:r>
            <a:r>
              <a:rPr sz="1450" b="0" i="0">
                <a:solidFill>
                  <a:srgbClr val="1B211D"/>
                </a:solidFill>
                <a:latin typeface="Calibri"/>
              </a:rPr>
              <a:t>  — instruments, sampling, time/location</a:t>
            </a:r>
          </a:p>
          <a:p>
            <a:pPr>
              <a:lnSpc>
                <a:spcPct val="108000"/>
              </a:lnSpc>
              <a:spcAft>
                <a:spcPts val="1100"/>
              </a:spcAft>
            </a:pPr>
            <a:r>
              <a:rPr sz="1450" b="1" i="0">
                <a:solidFill>
                  <a:srgbClr val="1B211D"/>
                </a:solidFill>
                <a:latin typeface="Calibri"/>
              </a:rPr>
              <a:t>Data quality </a:t>
            </a:r>
            <a:r>
              <a:rPr sz="1450" b="0" i="0">
                <a:solidFill>
                  <a:srgbClr val="1B211D"/>
                </a:solidFill>
                <a:latin typeface="Calibri"/>
              </a:rPr>
              <a:t>  — known gaps, QA/QC steps taken</a:t>
            </a:r>
          </a:p>
          <a:p>
            <a:pPr>
              <a:lnSpc>
                <a:spcPct val="108000"/>
              </a:lnSpc>
              <a:spcAft>
                <a:spcPts val="1100"/>
              </a:spcAft>
            </a:pPr>
            <a:r>
              <a:rPr sz="1450" b="1" i="0">
                <a:solidFill>
                  <a:srgbClr val="1B211D"/>
                </a:solidFill>
                <a:latin typeface="Calibri"/>
              </a:rPr>
              <a:t>Attribution &amp; citation </a:t>
            </a:r>
            <a:r>
              <a:rPr sz="1450" b="0" i="0">
                <a:solidFill>
                  <a:srgbClr val="1B211D"/>
                </a:solidFill>
                <a:latin typeface="Calibri"/>
              </a:rPr>
              <a:t>  — exact format you want people to use</a:t>
            </a:r>
          </a:p>
          <a:p>
            <a:pPr>
              <a:lnSpc>
                <a:spcPct val="108000"/>
              </a:lnSpc>
              <a:spcAft>
                <a:spcPts val="1100"/>
              </a:spcAft>
            </a:pPr>
            <a:r>
              <a:rPr sz="1450" b="1" i="0">
                <a:solidFill>
                  <a:srgbClr val="1B211D"/>
                </a:solidFill>
                <a:latin typeface="Calibri"/>
              </a:rPr>
              <a:t>License </a:t>
            </a:r>
            <a:r>
              <a:rPr sz="1450" b="0" i="0">
                <a:solidFill>
                  <a:srgbClr val="1B211D"/>
                </a:solidFill>
                <a:latin typeface="Calibri"/>
              </a:rPr>
              <a:t>  — CC0 / CC BY / CC BY-SA, stated explicitly</a:t>
            </a:r>
          </a:p>
          <a:p>
            <a:pPr>
              <a:lnSpc>
                <a:spcPct val="108000"/>
              </a:lnSpc>
              <a:spcAft>
                <a:spcPts val="1100"/>
              </a:spcAft>
            </a:pPr>
            <a:r>
              <a:rPr sz="1450" b="1" i="0">
                <a:solidFill>
                  <a:srgbClr val="1B211D"/>
                </a:solidFill>
                <a:latin typeface="Calibri"/>
              </a:rPr>
              <a:t>Version history </a:t>
            </a:r>
            <a:r>
              <a:rPr sz="1450" b="0" i="0">
                <a:solidFill>
                  <a:srgbClr val="1B211D"/>
                </a:solidFill>
                <a:latin typeface="Calibri"/>
              </a:rPr>
              <a:t>  — what changed, and when</a:t>
            </a:r>
          </a:p>
        </p:txBody>
      </p:sp>
      <p:sp>
        <p:nvSpPr>
          <p:cNvPr id="7" name="Rounded Rectangle 6"/>
          <p:cNvSpPr/>
          <p:nvPr/>
        </p:nvSpPr>
        <p:spPr>
          <a:xfrm>
            <a:off x="5852160" y="1691640"/>
            <a:ext cx="5577840" cy="4251960"/>
          </a:xfrm>
          <a:prstGeom prst="roundRect">
            <a:avLst>
              <a:gd name="adj" fmla="val 4000"/>
            </a:avLst>
          </a:prstGeom>
          <a:solidFill>
            <a:srgbClr val="1B2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126480" y="1874519"/>
            <a:ext cx="5029200" cy="3840480"/>
          </a:xfrm>
          <a:prstGeom prst="rect">
            <a:avLst/>
          </a:prstGeom>
          <a:noFill/>
        </p:spPr>
        <p:txBody>
          <a:bodyPr wrap="square">
            <a:spAutoFit/>
          </a:bodyPr>
          <a:lstStyle/>
          <a:p>
            <a:pPr algn="l">
              <a:spcBef>
                <a:spcPts val="0"/>
              </a:spcBef>
              <a:spcAft>
                <a:spcPts val="200"/>
              </a:spcAft>
            </a:pPr>
            <a:r>
              <a:rPr sz="1300" b="1" i="0">
                <a:solidFill>
                  <a:srgbClr val="C78A1E"/>
                </a:solidFill>
                <a:latin typeface="Consolas"/>
              </a:rPr>
              <a:t># Global Temperature Dataset 1980-2023</a:t>
            </a:r>
          </a:p>
          <a:p>
            <a:pPr algn="l">
              <a:spcBef>
                <a:spcPts val="0"/>
              </a:spcBef>
              <a:spcAft>
                <a:spcPts val="200"/>
              </a:spcAft>
            </a:pPr>
            <a:r>
              <a:rPr sz="1300" b="0" i="0">
                <a:solidFill>
                  <a:srgbClr val="D8DCD6"/>
                </a:solidFill>
                <a:latin typeface="Consolas"/>
              </a:rPr>
              <a:t> </a:t>
            </a:r>
          </a:p>
          <a:p>
            <a:pPr algn="l">
              <a:spcBef>
                <a:spcPts val="0"/>
              </a:spcBef>
              <a:spcAft>
                <a:spcPts val="200"/>
              </a:spcAft>
            </a:pPr>
            <a:r>
              <a:rPr sz="1300" b="1" i="0">
                <a:solidFill>
                  <a:srgbClr val="C78A1E"/>
                </a:solidFill>
                <a:latin typeface="Consolas"/>
              </a:rPr>
              <a:t>## Overview</a:t>
            </a:r>
          </a:p>
          <a:p>
            <a:pPr algn="l">
              <a:spcBef>
                <a:spcPts val="0"/>
              </a:spcBef>
              <a:spcAft>
                <a:spcPts val="200"/>
              </a:spcAft>
            </a:pPr>
            <a:r>
              <a:rPr sz="1300" b="0" i="0">
                <a:solidFill>
                  <a:srgbClr val="D8DCD6"/>
                </a:solidFill>
                <a:latin typeface="Consolas"/>
              </a:rPr>
              <a:t>Monthly land-surface temperature</a:t>
            </a:r>
          </a:p>
          <a:p>
            <a:pPr algn="l">
              <a:spcBef>
                <a:spcPts val="0"/>
              </a:spcBef>
              <a:spcAft>
                <a:spcPts val="200"/>
              </a:spcAft>
            </a:pPr>
            <a:r>
              <a:rPr sz="1300" b="0" i="0">
                <a:solidFill>
                  <a:srgbClr val="D8DCD6"/>
                </a:solidFill>
                <a:latin typeface="Consolas"/>
              </a:rPr>
              <a:t>anomalies for 1,200 stations...</a:t>
            </a:r>
          </a:p>
          <a:p>
            <a:pPr algn="l">
              <a:spcBef>
                <a:spcPts val="0"/>
              </a:spcBef>
              <a:spcAft>
                <a:spcPts val="200"/>
              </a:spcAft>
            </a:pPr>
            <a:r>
              <a:rPr sz="1300" b="0" i="0">
                <a:solidFill>
                  <a:srgbClr val="D8DCD6"/>
                </a:solidFill>
                <a:latin typeface="Consolas"/>
              </a:rPr>
              <a:t> </a:t>
            </a:r>
          </a:p>
          <a:p>
            <a:pPr algn="l">
              <a:spcBef>
                <a:spcPts val="0"/>
              </a:spcBef>
              <a:spcAft>
                <a:spcPts val="200"/>
              </a:spcAft>
            </a:pPr>
            <a:r>
              <a:rPr sz="1300" b="1" i="0">
                <a:solidFill>
                  <a:srgbClr val="C78A1E"/>
                </a:solidFill>
                <a:latin typeface="Consolas"/>
              </a:rPr>
              <a:t>## Variables</a:t>
            </a:r>
          </a:p>
          <a:p>
            <a:pPr algn="l">
              <a:spcBef>
                <a:spcPts val="0"/>
              </a:spcBef>
              <a:spcAft>
                <a:spcPts val="200"/>
              </a:spcAft>
            </a:pPr>
            <a:r>
              <a:rPr sz="1300" b="1" i="0">
                <a:solidFill>
                  <a:srgbClr val="C78A1E"/>
                </a:solidFill>
                <a:latin typeface="Consolas"/>
              </a:rPr>
              <a:t>### temperature (Celsius)</a:t>
            </a:r>
          </a:p>
          <a:p>
            <a:pPr algn="l">
              <a:spcBef>
                <a:spcPts val="0"/>
              </a:spcBef>
              <a:spcAft>
                <a:spcPts val="200"/>
              </a:spcAft>
            </a:pPr>
            <a:r>
              <a:rPr sz="1300" b="0" i="0">
                <a:solidFill>
                  <a:srgbClr val="D8DCD6"/>
                </a:solidFill>
                <a:latin typeface="Consolas"/>
              </a:rPr>
              <a:t>  Monthly mean, QC'd against...</a:t>
            </a:r>
          </a:p>
          <a:p>
            <a:pPr algn="l">
              <a:spcBef>
                <a:spcPts val="0"/>
              </a:spcBef>
              <a:spcAft>
                <a:spcPts val="200"/>
              </a:spcAft>
            </a:pPr>
            <a:r>
              <a:rPr sz="1300" b="0" i="0">
                <a:solidFill>
                  <a:srgbClr val="D8DCD6"/>
                </a:solidFill>
                <a:latin typeface="Consolas"/>
              </a:rPr>
              <a:t> </a:t>
            </a:r>
          </a:p>
          <a:p>
            <a:pPr algn="l">
              <a:spcBef>
                <a:spcPts val="0"/>
              </a:spcBef>
              <a:spcAft>
                <a:spcPts val="200"/>
              </a:spcAft>
            </a:pPr>
            <a:r>
              <a:rPr sz="1300" b="1" i="0">
                <a:solidFill>
                  <a:srgbClr val="C78A1E"/>
                </a:solidFill>
                <a:latin typeface="Consolas"/>
              </a:rPr>
              <a:t>## License</a:t>
            </a:r>
          </a:p>
          <a:p>
            <a:pPr algn="l">
              <a:spcBef>
                <a:spcPts val="0"/>
              </a:spcBef>
              <a:spcAft>
                <a:spcPts val="200"/>
              </a:spcAft>
            </a:pPr>
            <a:r>
              <a:rPr sz="1300" b="0" i="0">
                <a:solidFill>
                  <a:srgbClr val="D8DCD6"/>
                </a:solidFill>
                <a:latin typeface="Consolas"/>
              </a:rPr>
              <a:t>CC BY 4.0</a:t>
            </a:r>
          </a:p>
          <a:p>
            <a:pPr algn="l">
              <a:spcBef>
                <a:spcPts val="0"/>
              </a:spcBef>
              <a:spcAft>
                <a:spcPts val="200"/>
              </a:spcAft>
            </a:pPr>
            <a:r>
              <a:rPr sz="1300" b="0" i="0">
                <a:solidFill>
                  <a:srgbClr val="D8DCD6"/>
                </a:solidFill>
                <a:latin typeface="Consolas"/>
              </a:rPr>
              <a:t> </a:t>
            </a:r>
          </a:p>
          <a:p>
            <a:pPr algn="l">
              <a:spcBef>
                <a:spcPts val="0"/>
              </a:spcBef>
              <a:spcAft>
                <a:spcPts val="200"/>
              </a:spcAft>
            </a:pPr>
            <a:r>
              <a:rPr sz="1300" b="1" i="0">
                <a:solidFill>
                  <a:srgbClr val="C78A1E"/>
                </a:solidFill>
                <a:latin typeface="Consolas"/>
              </a:rPr>
              <a:t>## Citation</a:t>
            </a:r>
          </a:p>
          <a:p>
            <a:pPr algn="l">
              <a:spcBef>
                <a:spcPts val="0"/>
              </a:spcBef>
              <a:spcAft>
                <a:spcPts val="200"/>
              </a:spcAft>
            </a:pPr>
            <a:r>
              <a:rPr sz="1300" b="0" i="0">
                <a:solidFill>
                  <a:srgbClr val="D8DCD6"/>
                </a:solidFill>
                <a:latin typeface="Consolas"/>
              </a:rPr>
              <a:t>Smith, J. et al. (2024). ...</a:t>
            </a:r>
          </a:p>
          <a:p>
            <a:pPr algn="l">
              <a:spcBef>
                <a:spcPts val="0"/>
              </a:spcBef>
              <a:spcAft>
                <a:spcPts val="200"/>
              </a:spcAft>
            </a:pPr>
            <a:r>
              <a:rPr sz="1300" b="0" i="0">
                <a:solidFill>
                  <a:srgbClr val="D8DCD6"/>
                </a:solidFill>
                <a:latin typeface="Consolas"/>
              </a:rPr>
              <a:t>  doi:10.5281/zenodo.XXXXXXX</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7F5EE"/>
        </a:solidFill>
        <a:effectLst/>
      </p:bgPr>
    </p:bg>
    <p:spTree>
      <p:nvGrpSpPr>
        <p:cNvPr id="1" name=""/>
        <p:cNvGrpSpPr/>
        <p:nvPr/>
      </p:nvGrpSpPr>
      <p:grpSpPr/>
      <p:sp>
        <p:nvSpPr>
          <p:cNvPr id="2" name="TextBox 1"/>
          <p:cNvSpPr txBox="1"/>
          <p:nvPr/>
        </p:nvSpPr>
        <p:spPr>
          <a:xfrm>
            <a:off x="548640" y="411480"/>
            <a:ext cx="7315200" cy="365760"/>
          </a:xfrm>
          <a:prstGeom prst="rect">
            <a:avLst/>
          </a:prstGeom>
          <a:noFill/>
        </p:spPr>
        <p:txBody>
          <a:bodyPr wrap="square">
            <a:spAutoFit/>
          </a:bodyPr>
          <a:lstStyle/>
          <a:p>
            <a:pPr algn="l">
              <a:spcBef>
                <a:spcPts val="0"/>
              </a:spcBef>
              <a:spcAft>
                <a:spcPts val="600"/>
              </a:spcAft>
            </a:pPr>
            <a:r>
              <a:rPr sz="1300" b="1" i="0" spc="120">
                <a:solidFill>
                  <a:srgbClr val="2A5C8A"/>
                </a:solidFill>
                <a:latin typeface="Calibri"/>
              </a:rPr>
              <a:t>3.3 &amp; 4 · LICENSING &amp; REPOSITORIES</a:t>
            </a:r>
          </a:p>
        </p:txBody>
      </p:sp>
      <p:sp>
        <p:nvSpPr>
          <p:cNvPr id="3" name="TextBox 2"/>
          <p:cNvSpPr txBox="1"/>
          <p:nvPr/>
        </p:nvSpPr>
        <p:spPr>
          <a:xfrm>
            <a:off x="548640" y="777240"/>
            <a:ext cx="10789920" cy="822960"/>
          </a:xfrm>
          <a:prstGeom prst="rect">
            <a:avLst/>
          </a:prstGeom>
          <a:noFill/>
        </p:spPr>
        <p:txBody>
          <a:bodyPr wrap="square">
            <a:spAutoFit/>
          </a:bodyPr>
          <a:lstStyle/>
          <a:p>
            <a:pPr algn="l">
              <a:spcBef>
                <a:spcPts val="0"/>
              </a:spcBef>
              <a:spcAft>
                <a:spcPts val="600"/>
              </a:spcAft>
            </a:pPr>
            <a:r>
              <a:rPr sz="3000" b="1" i="0">
                <a:solidFill>
                  <a:srgbClr val="1B211D"/>
                </a:solidFill>
                <a:latin typeface="Georgia"/>
              </a:rPr>
              <a:t>Choosing a license and a home for your data</a:t>
            </a:r>
          </a:p>
        </p:txBody>
      </p:sp>
      <p:sp>
        <p:nvSpPr>
          <p:cNvPr id="4" name="TextBox 3"/>
          <p:cNvSpPr txBox="1"/>
          <p:nvPr/>
        </p:nvSpPr>
        <p:spPr>
          <a:xfrm>
            <a:off x="548640" y="6473952"/>
            <a:ext cx="8229600" cy="320040"/>
          </a:xfrm>
          <a:prstGeom prst="rect">
            <a:avLst/>
          </a:prstGeom>
          <a:noFill/>
        </p:spPr>
        <p:txBody>
          <a:bodyPr wrap="square">
            <a:spAutoFit/>
          </a:bodyPr>
          <a:lstStyle/>
          <a:p>
            <a:pPr algn="l">
              <a:spcBef>
                <a:spcPts val="0"/>
              </a:spcBef>
              <a:spcAft>
                <a:spcPts val="600"/>
              </a:spcAft>
            </a:pPr>
            <a:r>
              <a:rPr sz="1000" b="0" i="0">
                <a:solidFill>
                  <a:srgbClr val="5B655F"/>
                </a:solidFill>
                <a:latin typeface="Calibri"/>
              </a:rPr>
              <a:t>Module 2 · Open Data</a:t>
            </a:r>
          </a:p>
        </p:txBody>
      </p:sp>
      <p:sp>
        <p:nvSpPr>
          <p:cNvPr id="5" name="Rectangle 4"/>
          <p:cNvSpPr/>
          <p:nvPr/>
        </p:nvSpPr>
        <p:spPr>
          <a:xfrm>
            <a:off x="0" y="6419088"/>
            <a:ext cx="12191695" cy="17780"/>
          </a:xfrm>
          <a:prstGeom prst="rect">
            <a:avLst/>
          </a:prstGeom>
          <a:solidFill>
            <a:srgbClr val="2A5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691640"/>
            <a:ext cx="5120640" cy="4114800"/>
          </a:xfrm>
          <a:prstGeom prst="rect">
            <a:avLst/>
          </a:prstGeom>
          <a:noFill/>
        </p:spPr>
        <p:txBody>
          <a:bodyPr wrap="square">
            <a:spAutoFit/>
          </a:bodyPr>
          <a:lstStyle/>
          <a:p>
            <a:pPr algn="l">
              <a:spcBef>
                <a:spcPts val="0"/>
              </a:spcBef>
              <a:spcAft>
                <a:spcPts val="1000"/>
              </a:spcAft>
            </a:pPr>
            <a:r>
              <a:rPr sz="1300" b="1" i="0">
                <a:solidFill>
                  <a:srgbClr val="2A5C8A"/>
                </a:solidFill>
                <a:latin typeface="Calibri"/>
              </a:rPr>
              <a:t>COMMON DATA LICENSES</a:t>
            </a:r>
          </a:p>
          <a:p>
            <a:pPr>
              <a:lnSpc>
                <a:spcPct val="108000"/>
              </a:lnSpc>
              <a:spcAft>
                <a:spcPts val="1400"/>
              </a:spcAft>
            </a:pPr>
            <a:r>
              <a:rPr sz="1450" b="1" i="0">
                <a:solidFill>
                  <a:srgbClr val="1B211D"/>
                </a:solidFill>
                <a:latin typeface="Calibri"/>
              </a:rPr>
              <a:t>CC0  —</a:t>
            </a:r>
            <a:r>
              <a:rPr sz="1450" b="0" i="0">
                <a:solidFill>
                  <a:srgbClr val="1B211D"/>
                </a:solidFill>
                <a:latin typeface="Calibri"/>
              </a:rPr>
              <a:t>  Public domain — no requirements at all. Best for maximum reuse.</a:t>
            </a:r>
          </a:p>
          <a:p>
            <a:pPr>
              <a:lnSpc>
                <a:spcPct val="108000"/>
              </a:lnSpc>
              <a:spcAft>
                <a:spcPts val="1400"/>
              </a:spcAft>
            </a:pPr>
            <a:r>
              <a:rPr sz="1450" b="1" i="0">
                <a:solidFill>
                  <a:srgbClr val="1B211D"/>
                </a:solidFill>
                <a:latin typeface="Calibri"/>
              </a:rPr>
              <a:t>CC BY 4.0  —</a:t>
            </a:r>
            <a:r>
              <a:rPr sz="1450" b="0" i="0">
                <a:solidFill>
                  <a:srgbClr val="1B211D"/>
                </a:solidFill>
                <a:latin typeface="Calibri"/>
              </a:rPr>
              <a:t>  Attribution required. The most common choice for research data.</a:t>
            </a:r>
          </a:p>
          <a:p>
            <a:pPr>
              <a:lnSpc>
                <a:spcPct val="108000"/>
              </a:lnSpc>
              <a:spcAft>
                <a:spcPts val="1400"/>
              </a:spcAft>
            </a:pPr>
            <a:r>
              <a:rPr sz="1450" b="1" i="0">
                <a:solidFill>
                  <a:srgbClr val="1B211D"/>
                </a:solidFill>
                <a:latin typeface="Calibri"/>
              </a:rPr>
              <a:t>CC BY-SA  —</a:t>
            </a:r>
            <a:r>
              <a:rPr sz="1450" b="0" i="0">
                <a:solidFill>
                  <a:srgbClr val="1B211D"/>
                </a:solidFill>
                <a:latin typeface="Calibri"/>
              </a:rPr>
              <a:t>  Attribution + “share-alike” — derivatives must use the same license.</a:t>
            </a:r>
          </a:p>
        </p:txBody>
      </p:sp>
      <p:sp>
        <p:nvSpPr>
          <p:cNvPr id="7" name="TextBox 6"/>
          <p:cNvSpPr txBox="1"/>
          <p:nvPr/>
        </p:nvSpPr>
        <p:spPr>
          <a:xfrm>
            <a:off x="5943600" y="1691640"/>
            <a:ext cx="5486400" cy="4114800"/>
          </a:xfrm>
          <a:prstGeom prst="rect">
            <a:avLst/>
          </a:prstGeom>
          <a:noFill/>
        </p:spPr>
        <p:txBody>
          <a:bodyPr wrap="square">
            <a:spAutoFit/>
          </a:bodyPr>
          <a:lstStyle/>
          <a:p>
            <a:pPr algn="l">
              <a:spcBef>
                <a:spcPts val="0"/>
              </a:spcBef>
              <a:spcAft>
                <a:spcPts val="1000"/>
              </a:spcAft>
            </a:pPr>
            <a:r>
              <a:rPr sz="1300" b="1" i="0">
                <a:solidFill>
                  <a:srgbClr val="2A5C8A"/>
                </a:solidFill>
                <a:latin typeface="Calibri"/>
              </a:rPr>
              <a:t>WHERE TO ARCHIVE</a:t>
            </a:r>
          </a:p>
          <a:p>
            <a:pPr>
              <a:lnSpc>
                <a:spcPct val="108000"/>
              </a:lnSpc>
              <a:spcAft>
                <a:spcPts val="1400"/>
              </a:spcAft>
            </a:pPr>
            <a:r>
              <a:rPr sz="1450" b="1" i="0">
                <a:solidFill>
                  <a:srgbClr val="1B211D"/>
                </a:solidFill>
                <a:latin typeface="Calibri"/>
              </a:rPr>
              <a:t>Zenodo  —</a:t>
            </a:r>
            <a:r>
              <a:rPr sz="1450" b="0" i="0">
                <a:solidFill>
                  <a:srgbClr val="1B211D"/>
                </a:solidFill>
                <a:latin typeface="Calibri"/>
              </a:rPr>
              <a:t>  Free, general-purpose, gets you a DOI automatically.</a:t>
            </a:r>
          </a:p>
          <a:p>
            <a:pPr>
              <a:lnSpc>
                <a:spcPct val="108000"/>
              </a:lnSpc>
              <a:spcAft>
                <a:spcPts val="1400"/>
              </a:spcAft>
            </a:pPr>
            <a:r>
              <a:rPr sz="1450" b="1" i="0">
                <a:solidFill>
                  <a:srgbClr val="1B211D"/>
                </a:solidFill>
                <a:latin typeface="Calibri"/>
              </a:rPr>
              <a:t>Dryad / Dataverse  —</a:t>
            </a:r>
            <a:r>
              <a:rPr sz="1450" b="0" i="0">
                <a:solidFill>
                  <a:srgbClr val="1B211D"/>
                </a:solidFill>
                <a:latin typeface="Calibri"/>
              </a:rPr>
              <a:t>  Discipline- or institution-curated options.</a:t>
            </a:r>
          </a:p>
          <a:p>
            <a:pPr>
              <a:lnSpc>
                <a:spcPct val="108000"/>
              </a:lnSpc>
              <a:spcAft>
                <a:spcPts val="1400"/>
              </a:spcAft>
            </a:pPr>
            <a:r>
              <a:rPr sz="1450" b="1" i="0">
                <a:solidFill>
                  <a:srgbClr val="1B211D"/>
                </a:solidFill>
                <a:latin typeface="Calibri"/>
              </a:rPr>
              <a:t>re3data.org  —</a:t>
            </a:r>
            <a:r>
              <a:rPr sz="1450" b="0" i="0">
                <a:solidFill>
                  <a:srgbClr val="1B211D"/>
                </a:solidFill>
                <a:latin typeface="Calibri"/>
              </a:rPr>
              <a:t>  Registry to find the right repository for your field.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E1EAF2"/>
        </a:solidFill>
        <a:effectLst/>
      </p:bgPr>
    </p:bg>
    <p:spTree>
      <p:nvGrpSpPr>
        <p:cNvPr id="1" name=""/>
        <p:cNvGrpSpPr/>
        <p:nvPr/>
      </p:nvGrpSpPr>
      <p:grpSpPr/>
      <p:sp>
        <p:nvSpPr>
          <p:cNvPr id="2" name="Rectangle 1"/>
          <p:cNvSpPr/>
          <p:nvPr/>
        </p:nvSpPr>
        <p:spPr>
          <a:xfrm>
            <a:off x="0" y="0"/>
            <a:ext cx="12191695" cy="1371600"/>
          </a:xfrm>
          <a:prstGeom prst="rect">
            <a:avLst/>
          </a:prstGeom>
          <a:solidFill>
            <a:srgbClr val="2A5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28600"/>
            <a:ext cx="5486400" cy="365760"/>
          </a:xfrm>
          <a:prstGeom prst="rect">
            <a:avLst/>
          </a:prstGeom>
          <a:noFill/>
        </p:spPr>
        <p:txBody>
          <a:bodyPr wrap="square">
            <a:spAutoFit/>
          </a:bodyPr>
          <a:lstStyle/>
          <a:p>
            <a:pPr algn="l">
              <a:spcBef>
                <a:spcPts val="0"/>
              </a:spcBef>
              <a:spcAft>
                <a:spcPts val="600"/>
              </a:spcAft>
            </a:pPr>
            <a:r>
              <a:rPr sz="1500" b="1" i="0">
                <a:solidFill>
                  <a:srgbClr val="C78A1E"/>
                </a:solidFill>
                <a:latin typeface="Calibri"/>
              </a:rPr>
              <a:t>★ ACTIVITY</a:t>
            </a:r>
          </a:p>
        </p:txBody>
      </p:sp>
      <p:sp>
        <p:nvSpPr>
          <p:cNvPr id="4" name="TextBox 3"/>
          <p:cNvSpPr txBox="1"/>
          <p:nvPr/>
        </p:nvSpPr>
        <p:spPr>
          <a:xfrm>
            <a:off x="548640" y="566928"/>
            <a:ext cx="8686800" cy="731520"/>
          </a:xfrm>
          <a:prstGeom prst="rect">
            <a:avLst/>
          </a:prstGeom>
          <a:noFill/>
        </p:spPr>
        <p:txBody>
          <a:bodyPr wrap="square">
            <a:spAutoFit/>
          </a:bodyPr>
          <a:lstStyle/>
          <a:p>
            <a:pPr algn="l">
              <a:spcBef>
                <a:spcPts val="0"/>
              </a:spcBef>
              <a:spcAft>
                <a:spcPts val="600"/>
              </a:spcAft>
            </a:pPr>
            <a:r>
              <a:rPr sz="2600" b="1" i="0">
                <a:solidFill>
                  <a:srgbClr val="FFFFFF"/>
                </a:solidFill>
                <a:latin typeface="Georgia"/>
              </a:rPr>
              <a:t>FAIR or Not? Rapid README Critique</a:t>
            </a:r>
          </a:p>
        </p:txBody>
      </p:sp>
      <p:sp>
        <p:nvSpPr>
          <p:cNvPr id="5" name="TextBox 4"/>
          <p:cNvSpPr txBox="1"/>
          <p:nvPr/>
        </p:nvSpPr>
        <p:spPr>
          <a:xfrm>
            <a:off x="9692640" y="320040"/>
            <a:ext cx="1920240" cy="822960"/>
          </a:xfrm>
          <a:prstGeom prst="rect">
            <a:avLst/>
          </a:prstGeom>
          <a:noFill/>
        </p:spPr>
        <p:txBody>
          <a:bodyPr wrap="square" anchor="ctr">
            <a:spAutoFit/>
          </a:bodyPr>
          <a:lstStyle/>
          <a:p>
            <a:pPr algn="r">
              <a:spcBef>
                <a:spcPts val="0"/>
              </a:spcBef>
              <a:spcAft>
                <a:spcPts val="600"/>
              </a:spcAft>
            </a:pPr>
            <a:r>
              <a:rPr sz="2200" b="1" i="0">
                <a:solidFill>
                  <a:srgbClr val="FFFFFF"/>
                </a:solidFill>
                <a:latin typeface="Consolas"/>
              </a:rPr>
              <a:t>10 MIN</a:t>
            </a:r>
          </a:p>
        </p:txBody>
      </p:sp>
      <p:sp>
        <p:nvSpPr>
          <p:cNvPr id="6" name="TextBox 5"/>
          <p:cNvSpPr txBox="1"/>
          <p:nvPr/>
        </p:nvSpPr>
        <p:spPr>
          <a:xfrm>
            <a:off x="548640" y="1600200"/>
            <a:ext cx="10789920" cy="502920"/>
          </a:xfrm>
          <a:prstGeom prst="rect">
            <a:avLst/>
          </a:prstGeom>
          <a:noFill/>
        </p:spPr>
        <p:txBody>
          <a:bodyPr wrap="square">
            <a:spAutoFit/>
          </a:bodyPr>
          <a:lstStyle/>
          <a:p>
            <a:pPr algn="l">
              <a:lnSpc>
                <a:spcPct val="115000"/>
              </a:lnSpc>
              <a:spcBef>
                <a:spcPts val="0"/>
              </a:spcBef>
              <a:spcAft>
                <a:spcPts val="600"/>
              </a:spcAft>
            </a:pPr>
            <a:r>
              <a:rPr sz="1600" b="0" i="1">
                <a:solidFill>
                  <a:srgbClr val="1B211D"/>
                </a:solidFill>
                <a:latin typeface="Calibri"/>
              </a:rPr>
              <a:t>In small groups, evaluate a sample dataset description against the FAIR checklist.</a:t>
            </a:r>
          </a:p>
        </p:txBody>
      </p:sp>
      <p:sp>
        <p:nvSpPr>
          <p:cNvPr id="7" name="TextBox 6"/>
          <p:cNvSpPr txBox="1"/>
          <p:nvPr/>
        </p:nvSpPr>
        <p:spPr>
          <a:xfrm>
            <a:off x="548640" y="2240280"/>
            <a:ext cx="10789920" cy="3566160"/>
          </a:xfrm>
          <a:prstGeom prst="rect">
            <a:avLst/>
          </a:prstGeom>
          <a:noFill/>
        </p:spPr>
        <p:txBody>
          <a:bodyPr wrap="square">
            <a:spAutoFit/>
          </a:bodyPr>
          <a:lstStyle/>
          <a:p>
            <a:pPr>
              <a:lnSpc>
                <a:spcPct val="108000"/>
              </a:lnSpc>
              <a:spcAft>
                <a:spcPts val="1000"/>
              </a:spcAft>
            </a:pPr>
            <a:r>
              <a:rPr sz="1600" b="0" i="0">
                <a:solidFill>
                  <a:srgbClr val="1B211D"/>
                </a:solidFill>
                <a:latin typeface="Calibri"/>
              </a:rPr>
              <a:t>Facilitator projects 2 short, real (anonymized) dataset descriptions — one strong, one weak.</a:t>
            </a:r>
          </a:p>
          <a:p>
            <a:pPr>
              <a:lnSpc>
                <a:spcPct val="108000"/>
              </a:lnSpc>
              <a:spcAft>
                <a:spcPts val="1000"/>
              </a:spcAft>
            </a:pPr>
            <a:r>
              <a:rPr sz="1600" b="0" i="0">
                <a:solidFill>
                  <a:srgbClr val="1B211D"/>
                </a:solidFill>
                <a:latin typeface="Calibri"/>
              </a:rPr>
              <a:t>Each group scores both against F / A / I / R (thumbs up / down per letter).</a:t>
            </a:r>
          </a:p>
          <a:p>
            <a:pPr>
              <a:lnSpc>
                <a:spcPct val="108000"/>
              </a:lnSpc>
              <a:spcAft>
                <a:spcPts val="1000"/>
              </a:spcAft>
            </a:pPr>
            <a:r>
              <a:rPr sz="1600" b="0" i="0">
                <a:solidFill>
                  <a:srgbClr val="1B211D"/>
                </a:solidFill>
                <a:latin typeface="Calibri"/>
              </a:rPr>
              <a:t>For the weak one: what's the single highest-impact fix?</a:t>
            </a:r>
          </a:p>
          <a:p>
            <a:pPr>
              <a:lnSpc>
                <a:spcPct val="108000"/>
              </a:lnSpc>
              <a:spcAft>
                <a:spcPts val="1000"/>
              </a:spcAft>
            </a:pPr>
            <a:r>
              <a:rPr sz="1600" b="0" i="0">
                <a:solidFill>
                  <a:srgbClr val="1B211D"/>
                </a:solidFill>
                <a:latin typeface="Calibri"/>
              </a:rPr>
              <a:t>Compare notes across groups — did everyone flag the same gap?</a:t>
            </a:r>
          </a:p>
        </p:txBody>
      </p:sp>
      <p:sp>
        <p:nvSpPr>
          <p:cNvPr id="8" name="Rounded Rectangle 7"/>
          <p:cNvSpPr/>
          <p:nvPr/>
        </p:nvSpPr>
        <p:spPr>
          <a:xfrm>
            <a:off x="548640" y="5989320"/>
            <a:ext cx="10789920" cy="548640"/>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6062472"/>
            <a:ext cx="10332720" cy="411480"/>
          </a:xfrm>
          <a:prstGeom prst="rect">
            <a:avLst/>
          </a:prstGeom>
          <a:noFill/>
        </p:spPr>
        <p:txBody>
          <a:bodyPr wrap="square">
            <a:spAutoFit/>
          </a:bodyPr>
          <a:lstStyle/>
          <a:p>
            <a:pPr algn="l">
              <a:spcBef>
                <a:spcPts val="0"/>
              </a:spcBef>
              <a:spcAft>
                <a:spcPts val="600"/>
              </a:spcAft>
            </a:pPr>
            <a:r>
              <a:rPr sz="1400" b="1" i="0">
                <a:solidFill>
                  <a:srgbClr val="2A5C8A"/>
                </a:solidFill>
                <a:latin typeface="Calibri"/>
              </a:rPr>
              <a:t>Deliverable: one sticky note per group — “the #1 fix we'd make.”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B211D"/>
        </a:solidFill>
        <a:effectLst/>
      </p:bgPr>
    </p:bg>
    <p:spTree>
      <p:nvGrpSpPr>
        <p:cNvPr id="1" name=""/>
        <p:cNvGrpSpPr/>
        <p:nvPr/>
      </p:nvGrpSpPr>
      <p:grpSpPr/>
      <p:sp>
        <p:nvSpPr>
          <p:cNvPr id="2" name="TextBox 1"/>
          <p:cNvSpPr txBox="1"/>
          <p:nvPr/>
        </p:nvSpPr>
        <p:spPr>
          <a:xfrm>
            <a:off x="822960" y="2468880"/>
            <a:ext cx="10058400" cy="1371600"/>
          </a:xfrm>
          <a:prstGeom prst="rect">
            <a:avLst/>
          </a:prstGeom>
          <a:noFill/>
        </p:spPr>
        <p:txBody>
          <a:bodyPr wrap="square">
            <a:spAutoFit/>
          </a:bodyPr>
          <a:lstStyle/>
          <a:p>
            <a:pPr algn="l">
              <a:spcBef>
                <a:spcPts val="0"/>
              </a:spcBef>
              <a:spcAft>
                <a:spcPts val="600"/>
              </a:spcAft>
            </a:pPr>
            <a:r>
              <a:rPr sz="5400" b="1" i="0">
                <a:solidFill>
                  <a:srgbClr val="FFFFFF"/>
                </a:solidFill>
                <a:latin typeface="Georgia"/>
              </a:rPr>
              <a:t>15-Minute Break</a:t>
            </a:r>
          </a:p>
        </p:txBody>
      </p:sp>
      <p:sp>
        <p:nvSpPr>
          <p:cNvPr id="3" name="TextBox 2"/>
          <p:cNvSpPr txBox="1"/>
          <p:nvPr/>
        </p:nvSpPr>
        <p:spPr>
          <a:xfrm>
            <a:off x="868680" y="3566160"/>
            <a:ext cx="9144000" cy="731520"/>
          </a:xfrm>
          <a:prstGeom prst="rect">
            <a:avLst/>
          </a:prstGeom>
          <a:noFill/>
        </p:spPr>
        <p:txBody>
          <a:bodyPr wrap="square">
            <a:spAutoFit/>
          </a:bodyPr>
          <a:lstStyle/>
          <a:p>
            <a:pPr algn="l">
              <a:spcBef>
                <a:spcPts val="0"/>
              </a:spcBef>
              <a:spcAft>
                <a:spcPts val="600"/>
              </a:spcAft>
            </a:pPr>
            <a:r>
              <a:rPr sz="1600" b="0" i="0">
                <a:solidFill>
                  <a:srgbClr val="B9C0B8"/>
                </a:solidFill>
                <a:latin typeface="Calibri"/>
              </a:rPr>
              <a:t>Stretch, refill, and jot one open question on a sticky note for the parking-lot wall.</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6B4FA0"/>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C7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1554480"/>
            <a:ext cx="2743200" cy="914400"/>
          </a:xfrm>
          <a:prstGeom prst="rect">
            <a:avLst/>
          </a:prstGeom>
          <a:noFill/>
        </p:spPr>
        <p:txBody>
          <a:bodyPr wrap="square">
            <a:spAutoFit/>
          </a:bodyPr>
          <a:lstStyle/>
          <a:p>
            <a:pPr algn="l">
              <a:spcBef>
                <a:spcPts val="0"/>
              </a:spcBef>
              <a:spcAft>
                <a:spcPts val="600"/>
              </a:spcAft>
            </a:pPr>
            <a:r>
              <a:rPr sz="1600" b="1" i="0">
                <a:solidFill>
                  <a:srgbClr val="EBE6F3"/>
                </a:solidFill>
                <a:latin typeface="Calibri"/>
              </a:rPr>
              <a:t>MODULE 3</a:t>
            </a:r>
          </a:p>
        </p:txBody>
      </p:sp>
      <p:sp>
        <p:nvSpPr>
          <p:cNvPr id="4" name="TextBox 3"/>
          <p:cNvSpPr txBox="1"/>
          <p:nvPr/>
        </p:nvSpPr>
        <p:spPr>
          <a:xfrm>
            <a:off x="822960" y="2011680"/>
            <a:ext cx="10058400" cy="1554480"/>
          </a:xfrm>
          <a:prstGeom prst="rect">
            <a:avLst/>
          </a:prstGeom>
          <a:noFill/>
        </p:spPr>
        <p:txBody>
          <a:bodyPr wrap="square">
            <a:spAutoFit/>
          </a:bodyPr>
          <a:lstStyle/>
          <a:p>
            <a:pPr algn="l">
              <a:spcBef>
                <a:spcPts val="0"/>
              </a:spcBef>
              <a:spcAft>
                <a:spcPts val="600"/>
              </a:spcAft>
            </a:pPr>
            <a:r>
              <a:rPr sz="4800" b="1" i="0">
                <a:solidFill>
                  <a:srgbClr val="FFFFFF"/>
                </a:solidFill>
                <a:latin typeface="Georgia"/>
              </a:rPr>
              <a:t>Open Software</a:t>
            </a:r>
          </a:p>
        </p:txBody>
      </p:sp>
      <p:sp>
        <p:nvSpPr>
          <p:cNvPr id="5" name="TextBox 4"/>
          <p:cNvSpPr txBox="1"/>
          <p:nvPr/>
        </p:nvSpPr>
        <p:spPr>
          <a:xfrm>
            <a:off x="868680" y="3246120"/>
            <a:ext cx="9601200" cy="914400"/>
          </a:xfrm>
          <a:prstGeom prst="rect">
            <a:avLst/>
          </a:prstGeom>
          <a:noFill/>
        </p:spPr>
        <p:txBody>
          <a:bodyPr wrap="square">
            <a:spAutoFit/>
          </a:bodyPr>
          <a:lstStyle/>
          <a:p>
            <a:pPr algn="l">
              <a:lnSpc>
                <a:spcPct val="120000"/>
              </a:lnSpc>
              <a:spcBef>
                <a:spcPts val="0"/>
              </a:spcBef>
              <a:spcAft>
                <a:spcPts val="600"/>
              </a:spcAft>
            </a:pPr>
            <a:r>
              <a:rPr sz="1800" b="0" i="0">
                <a:solidFill>
                  <a:srgbClr val="EBE6F3"/>
                </a:solidFill>
                <a:latin typeface="Calibri"/>
              </a:rPr>
              <a:t>From a one-off script to citable, reusable software — and picking a license without a law degree.</a:t>
            </a:r>
          </a:p>
        </p:txBody>
      </p:sp>
      <p:sp>
        <p:nvSpPr>
          <p:cNvPr id="6" name="TextBox 5"/>
          <p:cNvSpPr txBox="1"/>
          <p:nvPr/>
        </p:nvSpPr>
        <p:spPr>
          <a:xfrm>
            <a:off x="868680" y="6126480"/>
            <a:ext cx="3657600" cy="457200"/>
          </a:xfrm>
          <a:prstGeom prst="rect">
            <a:avLst/>
          </a:prstGeom>
          <a:noFill/>
        </p:spPr>
        <p:txBody>
          <a:bodyPr wrap="square">
            <a:spAutoFit/>
          </a:bodyPr>
          <a:lstStyle/>
          <a:p>
            <a:pPr algn="l">
              <a:spcBef>
                <a:spcPts val="0"/>
              </a:spcBef>
              <a:spcAft>
                <a:spcPts val="600"/>
              </a:spcAft>
            </a:pPr>
            <a:r>
              <a:rPr sz="1400" b="1" i="0">
                <a:solidFill>
                  <a:srgbClr val="EBE6F3"/>
                </a:solidFill>
                <a:latin typeface="Consolas"/>
              </a:rPr>
              <a:t>30 MINUTES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7F5EE"/>
        </a:solidFill>
        <a:effectLst/>
      </p:bgPr>
    </p:bg>
    <p:spTree>
      <p:nvGrpSpPr>
        <p:cNvPr id="1" name=""/>
        <p:cNvGrpSpPr/>
        <p:nvPr/>
      </p:nvGrpSpPr>
      <p:grpSpPr/>
      <p:sp>
        <p:nvSpPr>
          <p:cNvPr id="2" name="TextBox 1"/>
          <p:cNvSpPr txBox="1"/>
          <p:nvPr/>
        </p:nvSpPr>
        <p:spPr>
          <a:xfrm>
            <a:off x="548640" y="411480"/>
            <a:ext cx="7315200" cy="365760"/>
          </a:xfrm>
          <a:prstGeom prst="rect">
            <a:avLst/>
          </a:prstGeom>
          <a:noFill/>
        </p:spPr>
        <p:txBody>
          <a:bodyPr wrap="square">
            <a:spAutoFit/>
          </a:bodyPr>
          <a:lstStyle/>
          <a:p>
            <a:pPr algn="l">
              <a:spcBef>
                <a:spcPts val="0"/>
              </a:spcBef>
              <a:spcAft>
                <a:spcPts val="600"/>
              </a:spcAft>
            </a:pPr>
            <a:r>
              <a:rPr sz="1300" b="1" i="0" spc="120">
                <a:solidFill>
                  <a:srgbClr val="6B4FA0"/>
                </a:solidFill>
                <a:latin typeface="Calibri"/>
              </a:rPr>
              <a:t>MODULE 3 AT A GLANCE</a:t>
            </a:r>
          </a:p>
        </p:txBody>
      </p:sp>
      <p:sp>
        <p:nvSpPr>
          <p:cNvPr id="3" name="TextBox 2"/>
          <p:cNvSpPr txBox="1"/>
          <p:nvPr/>
        </p:nvSpPr>
        <p:spPr>
          <a:xfrm>
            <a:off x="548640" y="777240"/>
            <a:ext cx="10789920" cy="822960"/>
          </a:xfrm>
          <a:prstGeom prst="rect">
            <a:avLst/>
          </a:prstGeom>
          <a:noFill/>
        </p:spPr>
        <p:txBody>
          <a:bodyPr wrap="square">
            <a:spAutoFit/>
          </a:bodyPr>
          <a:lstStyle/>
          <a:p>
            <a:pPr algn="l">
              <a:spcBef>
                <a:spcPts val="0"/>
              </a:spcBef>
              <a:spcAft>
                <a:spcPts val="600"/>
              </a:spcAft>
            </a:pPr>
            <a:r>
              <a:rPr sz="3000" b="1" i="0">
                <a:solidFill>
                  <a:srgbClr val="1B211D"/>
                </a:solidFill>
                <a:latin typeface="Georgia"/>
              </a:rPr>
              <a:t>Five lessons in the full course</a:t>
            </a:r>
          </a:p>
        </p:txBody>
      </p:sp>
      <p:sp>
        <p:nvSpPr>
          <p:cNvPr id="4" name="TextBox 3"/>
          <p:cNvSpPr txBox="1"/>
          <p:nvPr/>
        </p:nvSpPr>
        <p:spPr>
          <a:xfrm>
            <a:off x="548640" y="6473952"/>
            <a:ext cx="8229600" cy="320040"/>
          </a:xfrm>
          <a:prstGeom prst="rect">
            <a:avLst/>
          </a:prstGeom>
          <a:noFill/>
        </p:spPr>
        <p:txBody>
          <a:bodyPr wrap="square">
            <a:spAutoFit/>
          </a:bodyPr>
          <a:lstStyle/>
          <a:p>
            <a:pPr algn="l">
              <a:spcBef>
                <a:spcPts val="0"/>
              </a:spcBef>
              <a:spcAft>
                <a:spcPts val="600"/>
              </a:spcAft>
            </a:pPr>
            <a:r>
              <a:rPr sz="1000" b="0" i="0">
                <a:solidFill>
                  <a:srgbClr val="5B655F"/>
                </a:solidFill>
                <a:latin typeface="Calibri"/>
              </a:rPr>
              <a:t>Module 3 · Open Software</a:t>
            </a:r>
          </a:p>
        </p:txBody>
      </p:sp>
      <p:sp>
        <p:nvSpPr>
          <p:cNvPr id="5" name="Rectangle 4"/>
          <p:cNvSpPr/>
          <p:nvPr/>
        </p:nvSpPr>
        <p:spPr>
          <a:xfrm>
            <a:off x="0" y="6419088"/>
            <a:ext cx="12191695" cy="17780"/>
          </a:xfrm>
          <a:prstGeom prst="rect">
            <a:avLst/>
          </a:prstGeom>
          <a:solidFill>
            <a:srgbClr val="6B4F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783080"/>
            <a:ext cx="10607040" cy="731520"/>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783080"/>
            <a:ext cx="640080" cy="731520"/>
          </a:xfrm>
          <a:prstGeom prst="rect">
            <a:avLst/>
          </a:prstGeom>
          <a:solidFill>
            <a:srgbClr val="6B4F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965960"/>
            <a:ext cx="640080" cy="365760"/>
          </a:xfrm>
          <a:prstGeom prst="rect">
            <a:avLst/>
          </a:prstGeom>
          <a:noFill/>
        </p:spPr>
        <p:txBody>
          <a:bodyPr wrap="square" anchor="ctr">
            <a:spAutoFit/>
          </a:bodyPr>
          <a:lstStyle/>
          <a:p>
            <a:pPr algn="ctr">
              <a:spcBef>
                <a:spcPts val="0"/>
              </a:spcBef>
              <a:spcAft>
                <a:spcPts val="600"/>
              </a:spcAft>
            </a:pPr>
            <a:r>
              <a:rPr sz="1500" b="1" i="0">
                <a:solidFill>
                  <a:srgbClr val="FFFFFF"/>
                </a:solidFill>
                <a:latin typeface="Calibri"/>
              </a:rPr>
              <a:t>L1</a:t>
            </a:r>
          </a:p>
        </p:txBody>
      </p:sp>
      <p:sp>
        <p:nvSpPr>
          <p:cNvPr id="9" name="TextBox 8"/>
          <p:cNvSpPr txBox="1"/>
          <p:nvPr/>
        </p:nvSpPr>
        <p:spPr>
          <a:xfrm>
            <a:off x="1371600" y="1856232"/>
            <a:ext cx="5394960" cy="594360"/>
          </a:xfrm>
          <a:prstGeom prst="rect">
            <a:avLst/>
          </a:prstGeom>
          <a:noFill/>
        </p:spPr>
        <p:txBody>
          <a:bodyPr wrap="square">
            <a:spAutoFit/>
          </a:bodyPr>
          <a:lstStyle/>
          <a:p>
            <a:pPr algn="l">
              <a:spcBef>
                <a:spcPts val="0"/>
              </a:spcBef>
              <a:spcAft>
                <a:spcPts val="100"/>
              </a:spcAft>
            </a:pPr>
            <a:r>
              <a:rPr sz="1450" b="1" i="0">
                <a:solidFill>
                  <a:srgbClr val="1B211D"/>
                </a:solidFill>
                <a:latin typeface="Calibri"/>
              </a:rPr>
              <a:t>Understanding Research Software</a:t>
            </a:r>
          </a:p>
          <a:p>
            <a:pPr algn="l">
              <a:spcBef>
                <a:spcPts val="0"/>
              </a:spcBef>
              <a:spcAft>
                <a:spcPts val="600"/>
              </a:spcAft>
            </a:pPr>
            <a:r>
              <a:rPr sz="1250" b="0" i="0">
                <a:solidFill>
                  <a:srgbClr val="5B655F"/>
                </a:solidFill>
                <a:latin typeface="Calibri"/>
              </a:rPr>
              <a:t>The spectrum: script → reusable code → software</a:t>
            </a:r>
          </a:p>
        </p:txBody>
      </p:sp>
      <p:sp>
        <p:nvSpPr>
          <p:cNvPr id="10" name="Rounded Rectangle 9"/>
          <p:cNvSpPr/>
          <p:nvPr/>
        </p:nvSpPr>
        <p:spPr>
          <a:xfrm>
            <a:off x="8549640" y="1965960"/>
            <a:ext cx="2331720" cy="365760"/>
          </a:xfrm>
          <a:prstGeom prst="roundRect">
            <a:avLst>
              <a:gd name="adj" fmla="val 50000"/>
            </a:avLst>
          </a:prstGeom>
          <a:solidFill>
            <a:srgbClr val="6B4F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49640" y="1965960"/>
            <a:ext cx="2331720" cy="365760"/>
          </a:xfrm>
          <a:prstGeom prst="rect">
            <a:avLst/>
          </a:prstGeom>
          <a:noFill/>
        </p:spPr>
        <p:txBody>
          <a:bodyPr wrap="square" anchor="ctr">
            <a:spAutoFit/>
          </a:bodyPr>
          <a:lstStyle/>
          <a:p>
            <a:pPr algn="ctr">
              <a:spcBef>
                <a:spcPts val="0"/>
              </a:spcBef>
              <a:spcAft>
                <a:spcPts val="600"/>
              </a:spcAft>
            </a:pPr>
            <a:r>
              <a:rPr sz="1050" b="1" i="0">
                <a:solidFill>
                  <a:srgbClr val="FFFFFF"/>
                </a:solidFill>
                <a:latin typeface="Calibri"/>
              </a:rPr>
              <a:t>TODAY · DEEP DIVE</a:t>
            </a:r>
          </a:p>
        </p:txBody>
      </p:sp>
      <p:sp>
        <p:nvSpPr>
          <p:cNvPr id="12" name="Rounded Rectangle 11"/>
          <p:cNvSpPr/>
          <p:nvPr/>
        </p:nvSpPr>
        <p:spPr>
          <a:xfrm>
            <a:off x="548640" y="2624328"/>
            <a:ext cx="10607040" cy="731520"/>
          </a:xfrm>
          <a:prstGeom prst="roundRect">
            <a:avLst>
              <a:gd name="adj" fmla="val 10000"/>
            </a:avLst>
          </a:prstGeom>
          <a:solidFill>
            <a:srgbClr val="EFEC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624328"/>
            <a:ext cx="640080" cy="731520"/>
          </a:xfrm>
          <a:prstGeom prst="rect">
            <a:avLst/>
          </a:prstGeom>
          <a:solidFill>
            <a:srgbClr val="6B4F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2807208"/>
            <a:ext cx="640080" cy="365760"/>
          </a:xfrm>
          <a:prstGeom prst="rect">
            <a:avLst/>
          </a:prstGeom>
          <a:noFill/>
        </p:spPr>
        <p:txBody>
          <a:bodyPr wrap="square" anchor="ctr">
            <a:spAutoFit/>
          </a:bodyPr>
          <a:lstStyle/>
          <a:p>
            <a:pPr algn="ctr">
              <a:spcBef>
                <a:spcPts val="0"/>
              </a:spcBef>
              <a:spcAft>
                <a:spcPts val="600"/>
              </a:spcAft>
            </a:pPr>
            <a:r>
              <a:rPr sz="1500" b="1" i="0">
                <a:solidFill>
                  <a:srgbClr val="FFFFFF"/>
                </a:solidFill>
                <a:latin typeface="Calibri"/>
              </a:rPr>
              <a:t>L2</a:t>
            </a:r>
          </a:p>
        </p:txBody>
      </p:sp>
      <p:sp>
        <p:nvSpPr>
          <p:cNvPr id="15" name="TextBox 14"/>
          <p:cNvSpPr txBox="1"/>
          <p:nvPr/>
        </p:nvSpPr>
        <p:spPr>
          <a:xfrm>
            <a:off x="1371600" y="2697480"/>
            <a:ext cx="5394960" cy="594360"/>
          </a:xfrm>
          <a:prstGeom prst="rect">
            <a:avLst/>
          </a:prstGeom>
          <a:noFill/>
        </p:spPr>
        <p:txBody>
          <a:bodyPr wrap="square">
            <a:spAutoFit/>
          </a:bodyPr>
          <a:lstStyle/>
          <a:p>
            <a:pPr algn="l">
              <a:spcBef>
                <a:spcPts val="0"/>
              </a:spcBef>
              <a:spcAft>
                <a:spcPts val="100"/>
              </a:spcAft>
            </a:pPr>
            <a:r>
              <a:rPr sz="1450" b="1" i="0">
                <a:solidFill>
                  <a:srgbClr val="1B211D"/>
                </a:solidFill>
                <a:latin typeface="Calibri"/>
              </a:rPr>
              <a:t>Assessing &amp; Using Open Software</a:t>
            </a:r>
          </a:p>
          <a:p>
            <a:pPr algn="l">
              <a:spcBef>
                <a:spcPts val="0"/>
              </a:spcBef>
              <a:spcAft>
                <a:spcPts val="600"/>
              </a:spcAft>
            </a:pPr>
            <a:r>
              <a:rPr sz="1250" b="0" i="0">
                <a:solidFill>
                  <a:srgbClr val="5B655F"/>
                </a:solidFill>
                <a:latin typeface="Calibri"/>
              </a:rPr>
              <a:t>Where to find it, quality signals, red flags</a:t>
            </a:r>
          </a:p>
        </p:txBody>
      </p:sp>
      <p:sp>
        <p:nvSpPr>
          <p:cNvPr id="16" name="Rounded Rectangle 15"/>
          <p:cNvSpPr/>
          <p:nvPr/>
        </p:nvSpPr>
        <p:spPr>
          <a:xfrm>
            <a:off x="8549640" y="2807208"/>
            <a:ext cx="2331720" cy="365760"/>
          </a:xfrm>
          <a:prstGeom prst="roundRect">
            <a:avLst>
              <a:gd name="adj" fmla="val 50000"/>
            </a:avLst>
          </a:prstGeom>
          <a:solidFill>
            <a:srgbClr val="C7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49640" y="2807208"/>
            <a:ext cx="2331720" cy="365760"/>
          </a:xfrm>
          <a:prstGeom prst="rect">
            <a:avLst/>
          </a:prstGeom>
          <a:noFill/>
        </p:spPr>
        <p:txBody>
          <a:bodyPr wrap="square" anchor="ctr">
            <a:spAutoFit/>
          </a:bodyPr>
          <a:lstStyle/>
          <a:p>
            <a:pPr algn="ctr">
              <a:spcBef>
                <a:spcPts val="0"/>
              </a:spcBef>
              <a:spcAft>
                <a:spcPts val="600"/>
              </a:spcAft>
            </a:pPr>
            <a:r>
              <a:rPr sz="1050" b="1" i="0">
                <a:solidFill>
                  <a:srgbClr val="1B211D"/>
                </a:solidFill>
                <a:latin typeface="Calibri"/>
              </a:rPr>
              <a:t>TODAY · QUICK HIT</a:t>
            </a:r>
          </a:p>
        </p:txBody>
      </p:sp>
      <p:sp>
        <p:nvSpPr>
          <p:cNvPr id="18" name="Rounded Rectangle 17"/>
          <p:cNvSpPr/>
          <p:nvPr/>
        </p:nvSpPr>
        <p:spPr>
          <a:xfrm>
            <a:off x="548640" y="3465576"/>
            <a:ext cx="10607040" cy="731520"/>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465576"/>
            <a:ext cx="640080" cy="731520"/>
          </a:xfrm>
          <a:prstGeom prst="rect">
            <a:avLst/>
          </a:prstGeom>
          <a:solidFill>
            <a:srgbClr val="6B4F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3648456"/>
            <a:ext cx="640080" cy="365760"/>
          </a:xfrm>
          <a:prstGeom prst="rect">
            <a:avLst/>
          </a:prstGeom>
          <a:noFill/>
        </p:spPr>
        <p:txBody>
          <a:bodyPr wrap="square" anchor="ctr">
            <a:spAutoFit/>
          </a:bodyPr>
          <a:lstStyle/>
          <a:p>
            <a:pPr algn="ctr">
              <a:spcBef>
                <a:spcPts val="0"/>
              </a:spcBef>
              <a:spcAft>
                <a:spcPts val="600"/>
              </a:spcAft>
            </a:pPr>
            <a:r>
              <a:rPr sz="1500" b="1" i="0">
                <a:solidFill>
                  <a:srgbClr val="FFFFFF"/>
                </a:solidFill>
                <a:latin typeface="Calibri"/>
              </a:rPr>
              <a:t>L3</a:t>
            </a:r>
          </a:p>
        </p:txBody>
      </p:sp>
      <p:sp>
        <p:nvSpPr>
          <p:cNvPr id="21" name="TextBox 20"/>
          <p:cNvSpPr txBox="1"/>
          <p:nvPr/>
        </p:nvSpPr>
        <p:spPr>
          <a:xfrm>
            <a:off x="1371600" y="3538728"/>
            <a:ext cx="5394960" cy="594360"/>
          </a:xfrm>
          <a:prstGeom prst="rect">
            <a:avLst/>
          </a:prstGeom>
          <a:noFill/>
        </p:spPr>
        <p:txBody>
          <a:bodyPr wrap="square">
            <a:spAutoFit/>
          </a:bodyPr>
          <a:lstStyle/>
          <a:p>
            <a:pPr algn="l">
              <a:spcBef>
                <a:spcPts val="0"/>
              </a:spcBef>
              <a:spcAft>
                <a:spcPts val="100"/>
              </a:spcAft>
            </a:pPr>
            <a:r>
              <a:rPr sz="1450" b="1" i="0">
                <a:solidFill>
                  <a:srgbClr val="1B211D"/>
                </a:solidFill>
                <a:latin typeface="Calibri"/>
              </a:rPr>
              <a:t>Writing &amp; Documenting Research Code</a:t>
            </a:r>
          </a:p>
          <a:p>
            <a:pPr algn="l">
              <a:spcBef>
                <a:spcPts val="0"/>
              </a:spcBef>
              <a:spcAft>
                <a:spcPts val="600"/>
              </a:spcAft>
            </a:pPr>
            <a:r>
              <a:rPr sz="1250" b="0" i="0">
                <a:solidFill>
                  <a:srgbClr val="5B655F"/>
                </a:solidFill>
                <a:latin typeface="Calibri"/>
              </a:rPr>
              <a:t>READMEs, comments, documentation structure</a:t>
            </a:r>
          </a:p>
        </p:txBody>
      </p:sp>
      <p:sp>
        <p:nvSpPr>
          <p:cNvPr id="22" name="Rounded Rectangle 21"/>
          <p:cNvSpPr/>
          <p:nvPr/>
        </p:nvSpPr>
        <p:spPr>
          <a:xfrm>
            <a:off x="8549640" y="3648456"/>
            <a:ext cx="2331720" cy="365760"/>
          </a:xfrm>
          <a:prstGeom prst="roundRect">
            <a:avLst>
              <a:gd name="adj" fmla="val 50000"/>
            </a:avLst>
          </a:prstGeom>
          <a:solidFill>
            <a:srgbClr val="6B4F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49640" y="3648456"/>
            <a:ext cx="2331720" cy="365760"/>
          </a:xfrm>
          <a:prstGeom prst="rect">
            <a:avLst/>
          </a:prstGeom>
          <a:noFill/>
        </p:spPr>
        <p:txBody>
          <a:bodyPr wrap="square" anchor="ctr">
            <a:spAutoFit/>
          </a:bodyPr>
          <a:lstStyle/>
          <a:p>
            <a:pPr algn="ctr">
              <a:spcBef>
                <a:spcPts val="0"/>
              </a:spcBef>
              <a:spcAft>
                <a:spcPts val="600"/>
              </a:spcAft>
            </a:pPr>
            <a:r>
              <a:rPr sz="1050" b="1" i="0">
                <a:solidFill>
                  <a:srgbClr val="FFFFFF"/>
                </a:solidFill>
                <a:latin typeface="Calibri"/>
              </a:rPr>
              <a:t>TODAY · DEEP DIVE</a:t>
            </a:r>
          </a:p>
        </p:txBody>
      </p:sp>
      <p:sp>
        <p:nvSpPr>
          <p:cNvPr id="24" name="Rounded Rectangle 23"/>
          <p:cNvSpPr/>
          <p:nvPr/>
        </p:nvSpPr>
        <p:spPr>
          <a:xfrm>
            <a:off x="548640" y="4306824"/>
            <a:ext cx="10607040" cy="731520"/>
          </a:xfrm>
          <a:prstGeom prst="roundRect">
            <a:avLst>
              <a:gd name="adj" fmla="val 10000"/>
            </a:avLst>
          </a:prstGeom>
          <a:solidFill>
            <a:srgbClr val="EFEC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4306824"/>
            <a:ext cx="640080" cy="731520"/>
          </a:xfrm>
          <a:prstGeom prst="rect">
            <a:avLst/>
          </a:prstGeom>
          <a:solidFill>
            <a:srgbClr val="6B4F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8640" y="4489704"/>
            <a:ext cx="640080" cy="365760"/>
          </a:xfrm>
          <a:prstGeom prst="rect">
            <a:avLst/>
          </a:prstGeom>
          <a:noFill/>
        </p:spPr>
        <p:txBody>
          <a:bodyPr wrap="square" anchor="ctr">
            <a:spAutoFit/>
          </a:bodyPr>
          <a:lstStyle/>
          <a:p>
            <a:pPr algn="ctr">
              <a:spcBef>
                <a:spcPts val="0"/>
              </a:spcBef>
              <a:spcAft>
                <a:spcPts val="600"/>
              </a:spcAft>
            </a:pPr>
            <a:r>
              <a:rPr sz="1500" b="1" i="0">
                <a:solidFill>
                  <a:srgbClr val="FFFFFF"/>
                </a:solidFill>
                <a:latin typeface="Calibri"/>
              </a:rPr>
              <a:t>L4</a:t>
            </a:r>
          </a:p>
        </p:txBody>
      </p:sp>
      <p:sp>
        <p:nvSpPr>
          <p:cNvPr id="27" name="TextBox 26"/>
          <p:cNvSpPr txBox="1"/>
          <p:nvPr/>
        </p:nvSpPr>
        <p:spPr>
          <a:xfrm>
            <a:off x="1371600" y="4379976"/>
            <a:ext cx="5394960" cy="594360"/>
          </a:xfrm>
          <a:prstGeom prst="rect">
            <a:avLst/>
          </a:prstGeom>
          <a:noFill/>
        </p:spPr>
        <p:txBody>
          <a:bodyPr wrap="square">
            <a:spAutoFit/>
          </a:bodyPr>
          <a:lstStyle/>
          <a:p>
            <a:pPr algn="l">
              <a:spcBef>
                <a:spcPts val="0"/>
              </a:spcBef>
              <a:spcAft>
                <a:spcPts val="100"/>
              </a:spcAft>
            </a:pPr>
            <a:r>
              <a:rPr sz="1450" b="1" i="0">
                <a:solidFill>
                  <a:srgbClr val="1B211D"/>
                </a:solidFill>
                <a:latin typeface="Calibri"/>
              </a:rPr>
              <a:t>Licensing &amp; Sharing Software</a:t>
            </a:r>
          </a:p>
          <a:p>
            <a:pPr algn="l">
              <a:spcBef>
                <a:spcPts val="0"/>
              </a:spcBef>
              <a:spcAft>
                <a:spcPts val="600"/>
              </a:spcAft>
            </a:pPr>
            <a:r>
              <a:rPr sz="1250" b="0" i="0">
                <a:solidFill>
                  <a:srgbClr val="5B655F"/>
                </a:solidFill>
                <a:latin typeface="Calibri"/>
              </a:rPr>
              <a:t>MIT vs. Apache vs. GPL vs. CC0</a:t>
            </a:r>
          </a:p>
        </p:txBody>
      </p:sp>
      <p:sp>
        <p:nvSpPr>
          <p:cNvPr id="28" name="Rounded Rectangle 27"/>
          <p:cNvSpPr/>
          <p:nvPr/>
        </p:nvSpPr>
        <p:spPr>
          <a:xfrm>
            <a:off x="8549640" y="4489704"/>
            <a:ext cx="2331720" cy="365760"/>
          </a:xfrm>
          <a:prstGeom prst="roundRect">
            <a:avLst>
              <a:gd name="adj" fmla="val 50000"/>
            </a:avLst>
          </a:prstGeom>
          <a:solidFill>
            <a:srgbClr val="6B4F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549640" y="4489704"/>
            <a:ext cx="2331720" cy="365760"/>
          </a:xfrm>
          <a:prstGeom prst="rect">
            <a:avLst/>
          </a:prstGeom>
          <a:noFill/>
        </p:spPr>
        <p:txBody>
          <a:bodyPr wrap="square" anchor="ctr">
            <a:spAutoFit/>
          </a:bodyPr>
          <a:lstStyle/>
          <a:p>
            <a:pPr algn="ctr">
              <a:spcBef>
                <a:spcPts val="0"/>
              </a:spcBef>
              <a:spcAft>
                <a:spcPts val="600"/>
              </a:spcAft>
            </a:pPr>
            <a:r>
              <a:rPr sz="1050" b="1" i="0">
                <a:solidFill>
                  <a:srgbClr val="FFFFFF"/>
                </a:solidFill>
                <a:latin typeface="Calibri"/>
              </a:rPr>
              <a:t>TODAY · DEEP DIVE</a:t>
            </a:r>
          </a:p>
        </p:txBody>
      </p:sp>
      <p:sp>
        <p:nvSpPr>
          <p:cNvPr id="30" name="Rounded Rectangle 29"/>
          <p:cNvSpPr/>
          <p:nvPr/>
        </p:nvSpPr>
        <p:spPr>
          <a:xfrm>
            <a:off x="548640" y="5148072"/>
            <a:ext cx="10607040" cy="731520"/>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48640" y="5148072"/>
            <a:ext cx="640080" cy="731520"/>
          </a:xfrm>
          <a:prstGeom prst="rect">
            <a:avLst/>
          </a:prstGeom>
          <a:solidFill>
            <a:srgbClr val="6B4F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48640" y="5330952"/>
            <a:ext cx="640080" cy="365760"/>
          </a:xfrm>
          <a:prstGeom prst="rect">
            <a:avLst/>
          </a:prstGeom>
          <a:noFill/>
        </p:spPr>
        <p:txBody>
          <a:bodyPr wrap="square" anchor="ctr">
            <a:spAutoFit/>
          </a:bodyPr>
          <a:lstStyle/>
          <a:p>
            <a:pPr algn="ctr">
              <a:spcBef>
                <a:spcPts val="0"/>
              </a:spcBef>
              <a:spcAft>
                <a:spcPts val="600"/>
              </a:spcAft>
            </a:pPr>
            <a:r>
              <a:rPr sz="1500" b="1" i="0">
                <a:solidFill>
                  <a:srgbClr val="FFFFFF"/>
                </a:solidFill>
                <a:latin typeface="Calibri"/>
              </a:rPr>
              <a:t>L5</a:t>
            </a:r>
          </a:p>
        </p:txBody>
      </p:sp>
      <p:sp>
        <p:nvSpPr>
          <p:cNvPr id="33" name="TextBox 32"/>
          <p:cNvSpPr txBox="1"/>
          <p:nvPr/>
        </p:nvSpPr>
        <p:spPr>
          <a:xfrm>
            <a:off x="1371600" y="5221224"/>
            <a:ext cx="5394960" cy="594360"/>
          </a:xfrm>
          <a:prstGeom prst="rect">
            <a:avLst/>
          </a:prstGeom>
          <a:noFill/>
        </p:spPr>
        <p:txBody>
          <a:bodyPr wrap="square">
            <a:spAutoFit/>
          </a:bodyPr>
          <a:lstStyle/>
          <a:p>
            <a:pPr algn="l">
              <a:spcBef>
                <a:spcPts val="0"/>
              </a:spcBef>
              <a:spcAft>
                <a:spcPts val="100"/>
              </a:spcAft>
            </a:pPr>
            <a:r>
              <a:rPr sz="1450" b="1" i="0">
                <a:solidFill>
                  <a:srgbClr val="1B211D"/>
                </a:solidFill>
                <a:latin typeface="Calibri"/>
              </a:rPr>
              <a:t>From Theory to Practice</a:t>
            </a:r>
          </a:p>
          <a:p>
            <a:pPr algn="l">
              <a:spcBef>
                <a:spcPts val="0"/>
              </a:spcBef>
              <a:spcAft>
                <a:spcPts val="600"/>
              </a:spcAft>
            </a:pPr>
            <a:r>
              <a:rPr sz="1250" b="0" i="0">
                <a:solidFill>
                  <a:srgbClr val="5B655F"/>
                </a:solidFill>
                <a:latin typeface="Calibri"/>
              </a:rPr>
              <a:t>Preparing your own project to share</a:t>
            </a:r>
          </a:p>
        </p:txBody>
      </p:sp>
      <p:sp>
        <p:nvSpPr>
          <p:cNvPr id="34" name="Rounded Rectangle 33"/>
          <p:cNvSpPr/>
          <p:nvPr/>
        </p:nvSpPr>
        <p:spPr>
          <a:xfrm>
            <a:off x="8549640" y="5330952"/>
            <a:ext cx="2331720" cy="365760"/>
          </a:xfrm>
          <a:prstGeom prst="roundRect">
            <a:avLst>
              <a:gd name="adj" fmla="val 50000"/>
            </a:avLst>
          </a:prstGeom>
          <a:solidFill>
            <a:srgbClr val="C9C5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549640" y="5330952"/>
            <a:ext cx="2331720" cy="365760"/>
          </a:xfrm>
          <a:prstGeom prst="rect">
            <a:avLst/>
          </a:prstGeom>
          <a:noFill/>
        </p:spPr>
        <p:txBody>
          <a:bodyPr wrap="square" anchor="ctr">
            <a:spAutoFit/>
          </a:bodyPr>
          <a:lstStyle/>
          <a:p>
            <a:pPr algn="ctr">
              <a:spcBef>
                <a:spcPts val="0"/>
              </a:spcBef>
              <a:spcAft>
                <a:spcPts val="600"/>
              </a:spcAft>
            </a:pPr>
            <a:r>
              <a:rPr sz="1050" b="1" i="0">
                <a:solidFill>
                  <a:srgbClr val="1B211D"/>
                </a:solidFill>
                <a:latin typeface="Calibri"/>
              </a:rPr>
              <a:t>SELF-PACED FOLLOW-UP</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7F5EE"/>
        </a:solidFill>
        <a:effectLst/>
      </p:bgPr>
    </p:bg>
    <p:spTree>
      <p:nvGrpSpPr>
        <p:cNvPr id="1" name=""/>
        <p:cNvGrpSpPr/>
        <p:nvPr/>
      </p:nvGrpSpPr>
      <p:grpSpPr/>
      <p:sp>
        <p:nvSpPr>
          <p:cNvPr id="2" name="TextBox 1"/>
          <p:cNvSpPr txBox="1"/>
          <p:nvPr/>
        </p:nvSpPr>
        <p:spPr>
          <a:xfrm>
            <a:off x="548640" y="411480"/>
            <a:ext cx="7315200" cy="365760"/>
          </a:xfrm>
          <a:prstGeom prst="rect">
            <a:avLst/>
          </a:prstGeom>
          <a:noFill/>
        </p:spPr>
        <p:txBody>
          <a:bodyPr wrap="square">
            <a:spAutoFit/>
          </a:bodyPr>
          <a:lstStyle/>
          <a:p>
            <a:pPr algn="l">
              <a:spcBef>
                <a:spcPts val="0"/>
              </a:spcBef>
              <a:spcAft>
                <a:spcPts val="600"/>
              </a:spcAft>
            </a:pPr>
            <a:r>
              <a:rPr sz="1300" b="1" i="0" spc="120">
                <a:solidFill>
                  <a:srgbClr val="6B4FA0"/>
                </a:solidFill>
                <a:latin typeface="Calibri"/>
              </a:rPr>
              <a:t>1.2 · THE SPECTRUM</a:t>
            </a:r>
          </a:p>
        </p:txBody>
      </p:sp>
      <p:sp>
        <p:nvSpPr>
          <p:cNvPr id="3" name="TextBox 2"/>
          <p:cNvSpPr txBox="1"/>
          <p:nvPr/>
        </p:nvSpPr>
        <p:spPr>
          <a:xfrm>
            <a:off x="548640" y="777240"/>
            <a:ext cx="10789920" cy="822960"/>
          </a:xfrm>
          <a:prstGeom prst="rect">
            <a:avLst/>
          </a:prstGeom>
          <a:noFill/>
        </p:spPr>
        <p:txBody>
          <a:bodyPr wrap="square">
            <a:spAutoFit/>
          </a:bodyPr>
          <a:lstStyle/>
          <a:p>
            <a:pPr algn="l">
              <a:spcBef>
                <a:spcPts val="0"/>
              </a:spcBef>
              <a:spcAft>
                <a:spcPts val="600"/>
              </a:spcAft>
            </a:pPr>
            <a:r>
              <a:rPr sz="3000" b="1" i="0">
                <a:solidFill>
                  <a:srgbClr val="1B211D"/>
                </a:solidFill>
                <a:latin typeface="Georgia"/>
              </a:rPr>
              <a:t>From script to software</a:t>
            </a:r>
          </a:p>
        </p:txBody>
      </p:sp>
      <p:sp>
        <p:nvSpPr>
          <p:cNvPr id="4" name="TextBox 3"/>
          <p:cNvSpPr txBox="1"/>
          <p:nvPr/>
        </p:nvSpPr>
        <p:spPr>
          <a:xfrm>
            <a:off x="548640" y="6473952"/>
            <a:ext cx="8229600" cy="320040"/>
          </a:xfrm>
          <a:prstGeom prst="rect">
            <a:avLst/>
          </a:prstGeom>
          <a:noFill/>
        </p:spPr>
        <p:txBody>
          <a:bodyPr wrap="square">
            <a:spAutoFit/>
          </a:bodyPr>
          <a:lstStyle/>
          <a:p>
            <a:pPr algn="l">
              <a:spcBef>
                <a:spcPts val="0"/>
              </a:spcBef>
              <a:spcAft>
                <a:spcPts val="600"/>
              </a:spcAft>
            </a:pPr>
            <a:r>
              <a:rPr sz="1000" b="0" i="0">
                <a:solidFill>
                  <a:srgbClr val="5B655F"/>
                </a:solidFill>
                <a:latin typeface="Calibri"/>
              </a:rPr>
              <a:t>Module 3 · Open Software</a:t>
            </a:r>
          </a:p>
        </p:txBody>
      </p:sp>
      <p:sp>
        <p:nvSpPr>
          <p:cNvPr id="5" name="Rectangle 4"/>
          <p:cNvSpPr/>
          <p:nvPr/>
        </p:nvSpPr>
        <p:spPr>
          <a:xfrm>
            <a:off x="0" y="6419088"/>
            <a:ext cx="12191695" cy="17780"/>
          </a:xfrm>
          <a:prstGeom prst="rect">
            <a:avLst/>
          </a:prstGeom>
          <a:solidFill>
            <a:srgbClr val="6B4F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920240"/>
            <a:ext cx="3429000" cy="2926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103120"/>
            <a:ext cx="2880360" cy="274320"/>
          </a:xfrm>
          <a:prstGeom prst="rect">
            <a:avLst/>
          </a:prstGeom>
          <a:noFill/>
        </p:spPr>
        <p:txBody>
          <a:bodyPr wrap="square">
            <a:spAutoFit/>
          </a:bodyPr>
          <a:lstStyle/>
          <a:p>
            <a:pPr algn="l">
              <a:spcBef>
                <a:spcPts val="0"/>
              </a:spcBef>
              <a:spcAft>
                <a:spcPts val="600"/>
              </a:spcAft>
            </a:pPr>
            <a:r>
              <a:rPr sz="1100" b="1" i="0">
                <a:solidFill>
                  <a:srgbClr val="6B4FA0"/>
                </a:solidFill>
                <a:latin typeface="Calibri"/>
              </a:rPr>
              <a:t>STAGE 1</a:t>
            </a:r>
          </a:p>
        </p:txBody>
      </p:sp>
      <p:sp>
        <p:nvSpPr>
          <p:cNvPr id="8" name="TextBox 7"/>
          <p:cNvSpPr txBox="1"/>
          <p:nvPr/>
        </p:nvSpPr>
        <p:spPr>
          <a:xfrm>
            <a:off x="822960" y="2423160"/>
            <a:ext cx="2880360" cy="548640"/>
          </a:xfrm>
          <a:prstGeom prst="rect">
            <a:avLst/>
          </a:prstGeom>
          <a:noFill/>
        </p:spPr>
        <p:txBody>
          <a:bodyPr wrap="square">
            <a:spAutoFit/>
          </a:bodyPr>
          <a:lstStyle/>
          <a:p>
            <a:pPr algn="l">
              <a:spcBef>
                <a:spcPts val="0"/>
              </a:spcBef>
              <a:spcAft>
                <a:spcPts val="600"/>
              </a:spcAft>
            </a:pPr>
            <a:r>
              <a:rPr sz="2200" b="1" i="0">
                <a:solidFill>
                  <a:srgbClr val="1B211D"/>
                </a:solidFill>
                <a:latin typeface="Georgia"/>
              </a:rPr>
              <a:t>Script</a:t>
            </a:r>
          </a:p>
        </p:txBody>
      </p:sp>
      <p:sp>
        <p:nvSpPr>
          <p:cNvPr id="9" name="TextBox 8"/>
          <p:cNvSpPr txBox="1"/>
          <p:nvPr/>
        </p:nvSpPr>
        <p:spPr>
          <a:xfrm>
            <a:off x="822960" y="3063240"/>
            <a:ext cx="2880360" cy="1737360"/>
          </a:xfrm>
          <a:prstGeom prst="rect">
            <a:avLst/>
          </a:prstGeom>
          <a:noFill/>
        </p:spPr>
        <p:txBody>
          <a:bodyPr wrap="square">
            <a:spAutoFit/>
          </a:bodyPr>
          <a:lstStyle/>
          <a:p>
            <a:pPr algn="l">
              <a:lnSpc>
                <a:spcPct val="125000"/>
              </a:lnSpc>
              <a:spcBef>
                <a:spcPts val="0"/>
              </a:spcBef>
              <a:spcAft>
                <a:spcPts val="600"/>
              </a:spcAft>
            </a:pPr>
            <a:r>
              <a:rPr sz="1350" b="0" i="0">
                <a:solidFill>
                  <a:srgbClr val="5B655F"/>
                </a:solidFill>
                <a:latin typeface="Calibri"/>
              </a:rPr>
              <a:t>One-off analysis for a specific dataset. No docs, no structure.</a:t>
            </a:r>
          </a:p>
        </p:txBody>
      </p:sp>
      <p:sp>
        <p:nvSpPr>
          <p:cNvPr id="10" name="Chevron 9"/>
          <p:cNvSpPr/>
          <p:nvPr/>
        </p:nvSpPr>
        <p:spPr>
          <a:xfrm>
            <a:off x="3977640" y="3200400"/>
            <a:ext cx="320040" cy="457200"/>
          </a:xfrm>
          <a:prstGeom prst="chevron">
            <a:avLst/>
          </a:prstGeom>
          <a:solidFill>
            <a:srgbClr val="6B4F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206240" y="1920240"/>
            <a:ext cx="3429000" cy="2926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80560" y="2103120"/>
            <a:ext cx="2880360" cy="274320"/>
          </a:xfrm>
          <a:prstGeom prst="rect">
            <a:avLst/>
          </a:prstGeom>
          <a:noFill/>
        </p:spPr>
        <p:txBody>
          <a:bodyPr wrap="square">
            <a:spAutoFit/>
          </a:bodyPr>
          <a:lstStyle/>
          <a:p>
            <a:pPr algn="l">
              <a:spcBef>
                <a:spcPts val="0"/>
              </a:spcBef>
              <a:spcAft>
                <a:spcPts val="600"/>
              </a:spcAft>
            </a:pPr>
            <a:r>
              <a:rPr sz="1100" b="1" i="0">
                <a:solidFill>
                  <a:srgbClr val="6B4FA0"/>
                </a:solidFill>
                <a:latin typeface="Calibri"/>
              </a:rPr>
              <a:t>STAGE 2</a:t>
            </a:r>
          </a:p>
        </p:txBody>
      </p:sp>
      <p:sp>
        <p:nvSpPr>
          <p:cNvPr id="13" name="TextBox 12"/>
          <p:cNvSpPr txBox="1"/>
          <p:nvPr/>
        </p:nvSpPr>
        <p:spPr>
          <a:xfrm>
            <a:off x="4480560" y="2423160"/>
            <a:ext cx="2880360" cy="548640"/>
          </a:xfrm>
          <a:prstGeom prst="rect">
            <a:avLst/>
          </a:prstGeom>
          <a:noFill/>
        </p:spPr>
        <p:txBody>
          <a:bodyPr wrap="square">
            <a:spAutoFit/>
          </a:bodyPr>
          <a:lstStyle/>
          <a:p>
            <a:pPr algn="l">
              <a:spcBef>
                <a:spcPts val="0"/>
              </a:spcBef>
              <a:spcAft>
                <a:spcPts val="600"/>
              </a:spcAft>
            </a:pPr>
            <a:r>
              <a:rPr sz="2200" b="1" i="0">
                <a:solidFill>
                  <a:srgbClr val="1B211D"/>
                </a:solidFill>
                <a:latin typeface="Georgia"/>
              </a:rPr>
              <a:t>Reusable code</a:t>
            </a:r>
          </a:p>
        </p:txBody>
      </p:sp>
      <p:sp>
        <p:nvSpPr>
          <p:cNvPr id="14" name="TextBox 13"/>
          <p:cNvSpPr txBox="1"/>
          <p:nvPr/>
        </p:nvSpPr>
        <p:spPr>
          <a:xfrm>
            <a:off x="4480560" y="3063240"/>
            <a:ext cx="2880360" cy="1737360"/>
          </a:xfrm>
          <a:prstGeom prst="rect">
            <a:avLst/>
          </a:prstGeom>
          <a:noFill/>
        </p:spPr>
        <p:txBody>
          <a:bodyPr wrap="square">
            <a:spAutoFit/>
          </a:bodyPr>
          <a:lstStyle/>
          <a:p>
            <a:pPr algn="l">
              <a:lnSpc>
                <a:spcPct val="125000"/>
              </a:lnSpc>
              <a:spcBef>
                <a:spcPts val="0"/>
              </a:spcBef>
              <a:spcAft>
                <a:spcPts val="600"/>
              </a:spcAft>
            </a:pPr>
            <a:r>
              <a:rPr sz="1350" b="0" i="0">
                <a:solidFill>
                  <a:srgbClr val="5B655F"/>
                </a:solidFill>
                <a:latin typeface="Calibri"/>
              </a:rPr>
              <a:t>Function definitions, basic docs, simple examples. Single file.</a:t>
            </a:r>
          </a:p>
        </p:txBody>
      </p:sp>
      <p:sp>
        <p:nvSpPr>
          <p:cNvPr id="15" name="Chevron 14"/>
          <p:cNvSpPr/>
          <p:nvPr/>
        </p:nvSpPr>
        <p:spPr>
          <a:xfrm>
            <a:off x="7635240" y="3200400"/>
            <a:ext cx="320040" cy="457200"/>
          </a:xfrm>
          <a:prstGeom prst="chevron">
            <a:avLst/>
          </a:prstGeom>
          <a:solidFill>
            <a:srgbClr val="6B4F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7863840" y="1920240"/>
            <a:ext cx="3429000" cy="2926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38160" y="2103120"/>
            <a:ext cx="2880360" cy="274320"/>
          </a:xfrm>
          <a:prstGeom prst="rect">
            <a:avLst/>
          </a:prstGeom>
          <a:noFill/>
        </p:spPr>
        <p:txBody>
          <a:bodyPr wrap="square">
            <a:spAutoFit/>
          </a:bodyPr>
          <a:lstStyle/>
          <a:p>
            <a:pPr algn="l">
              <a:spcBef>
                <a:spcPts val="0"/>
              </a:spcBef>
              <a:spcAft>
                <a:spcPts val="600"/>
              </a:spcAft>
            </a:pPr>
            <a:r>
              <a:rPr sz="1100" b="1" i="0">
                <a:solidFill>
                  <a:srgbClr val="6B4FA0"/>
                </a:solidFill>
                <a:latin typeface="Calibri"/>
              </a:rPr>
              <a:t>STAGE 3</a:t>
            </a:r>
          </a:p>
        </p:txBody>
      </p:sp>
      <p:sp>
        <p:nvSpPr>
          <p:cNvPr id="18" name="TextBox 17"/>
          <p:cNvSpPr txBox="1"/>
          <p:nvPr/>
        </p:nvSpPr>
        <p:spPr>
          <a:xfrm>
            <a:off x="8138160" y="2423160"/>
            <a:ext cx="2880360" cy="548640"/>
          </a:xfrm>
          <a:prstGeom prst="rect">
            <a:avLst/>
          </a:prstGeom>
          <a:noFill/>
        </p:spPr>
        <p:txBody>
          <a:bodyPr wrap="square">
            <a:spAutoFit/>
          </a:bodyPr>
          <a:lstStyle/>
          <a:p>
            <a:pPr algn="l">
              <a:spcBef>
                <a:spcPts val="0"/>
              </a:spcBef>
              <a:spcAft>
                <a:spcPts val="600"/>
              </a:spcAft>
            </a:pPr>
            <a:r>
              <a:rPr sz="2200" b="1" i="0">
                <a:solidFill>
                  <a:srgbClr val="1B211D"/>
                </a:solidFill>
                <a:latin typeface="Georgia"/>
              </a:rPr>
              <a:t>Software</a:t>
            </a:r>
          </a:p>
        </p:txBody>
      </p:sp>
      <p:sp>
        <p:nvSpPr>
          <p:cNvPr id="19" name="TextBox 18"/>
          <p:cNvSpPr txBox="1"/>
          <p:nvPr/>
        </p:nvSpPr>
        <p:spPr>
          <a:xfrm>
            <a:off x="8138160" y="3063240"/>
            <a:ext cx="2880360" cy="1737360"/>
          </a:xfrm>
          <a:prstGeom prst="rect">
            <a:avLst/>
          </a:prstGeom>
          <a:noFill/>
        </p:spPr>
        <p:txBody>
          <a:bodyPr wrap="square">
            <a:spAutoFit/>
          </a:bodyPr>
          <a:lstStyle/>
          <a:p>
            <a:pPr algn="l">
              <a:lnSpc>
                <a:spcPct val="125000"/>
              </a:lnSpc>
              <a:spcBef>
                <a:spcPts val="0"/>
              </a:spcBef>
              <a:spcAft>
                <a:spcPts val="600"/>
              </a:spcAft>
            </a:pPr>
            <a:r>
              <a:rPr sz="1350" b="0" i="0">
                <a:solidFill>
                  <a:srgbClr val="5B655F"/>
                </a:solidFill>
                <a:latin typeface="Calibri"/>
              </a:rPr>
              <a:t>Multiple modules, full docs, test suite, CI/CD, versioned, packaged for PyPI/CRAN.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7F5EE"/>
        </a:solidFill>
        <a:effectLst/>
      </p:bgPr>
    </p:bg>
    <p:spTree>
      <p:nvGrpSpPr>
        <p:cNvPr id="1" name=""/>
        <p:cNvGrpSpPr/>
        <p:nvPr/>
      </p:nvGrpSpPr>
      <p:grpSpPr/>
      <p:sp>
        <p:nvSpPr>
          <p:cNvPr id="2" name="TextBox 1"/>
          <p:cNvSpPr txBox="1"/>
          <p:nvPr/>
        </p:nvSpPr>
        <p:spPr>
          <a:xfrm>
            <a:off x="548640" y="411480"/>
            <a:ext cx="7315200" cy="365760"/>
          </a:xfrm>
          <a:prstGeom prst="rect">
            <a:avLst/>
          </a:prstGeom>
          <a:noFill/>
        </p:spPr>
        <p:txBody>
          <a:bodyPr wrap="square">
            <a:spAutoFit/>
          </a:bodyPr>
          <a:lstStyle/>
          <a:p>
            <a:pPr algn="l">
              <a:spcBef>
                <a:spcPts val="0"/>
              </a:spcBef>
              <a:spcAft>
                <a:spcPts val="600"/>
              </a:spcAft>
            </a:pPr>
            <a:r>
              <a:rPr sz="1300" b="1" i="0" spc="120">
                <a:solidFill>
                  <a:srgbClr val="6B4FA0"/>
                </a:solidFill>
                <a:latin typeface="Calibri"/>
              </a:rPr>
              <a:t>2.2 · LIGHTNING ROUND</a:t>
            </a:r>
          </a:p>
        </p:txBody>
      </p:sp>
      <p:sp>
        <p:nvSpPr>
          <p:cNvPr id="3" name="TextBox 2"/>
          <p:cNvSpPr txBox="1"/>
          <p:nvPr/>
        </p:nvSpPr>
        <p:spPr>
          <a:xfrm>
            <a:off x="548640" y="777240"/>
            <a:ext cx="10789920" cy="822960"/>
          </a:xfrm>
          <a:prstGeom prst="rect">
            <a:avLst/>
          </a:prstGeom>
          <a:noFill/>
        </p:spPr>
        <p:txBody>
          <a:bodyPr wrap="square">
            <a:spAutoFit/>
          </a:bodyPr>
          <a:lstStyle/>
          <a:p>
            <a:pPr algn="l">
              <a:spcBef>
                <a:spcPts val="0"/>
              </a:spcBef>
              <a:spcAft>
                <a:spcPts val="600"/>
              </a:spcAft>
            </a:pPr>
            <a:r>
              <a:rPr sz="3000" b="1" i="0">
                <a:solidFill>
                  <a:srgbClr val="1B211D"/>
                </a:solidFill>
                <a:latin typeface="Georgia"/>
              </a:rPr>
              <a:t>L2 — Assessing software before you adopt it</a:t>
            </a:r>
          </a:p>
        </p:txBody>
      </p:sp>
      <p:sp>
        <p:nvSpPr>
          <p:cNvPr id="4" name="TextBox 3"/>
          <p:cNvSpPr txBox="1"/>
          <p:nvPr/>
        </p:nvSpPr>
        <p:spPr>
          <a:xfrm>
            <a:off x="548640" y="6473952"/>
            <a:ext cx="8229600" cy="320040"/>
          </a:xfrm>
          <a:prstGeom prst="rect">
            <a:avLst/>
          </a:prstGeom>
          <a:noFill/>
        </p:spPr>
        <p:txBody>
          <a:bodyPr wrap="square">
            <a:spAutoFit/>
          </a:bodyPr>
          <a:lstStyle/>
          <a:p>
            <a:pPr algn="l">
              <a:spcBef>
                <a:spcPts val="0"/>
              </a:spcBef>
              <a:spcAft>
                <a:spcPts val="600"/>
              </a:spcAft>
            </a:pPr>
            <a:r>
              <a:rPr sz="1000" b="0" i="0">
                <a:solidFill>
                  <a:srgbClr val="5B655F"/>
                </a:solidFill>
                <a:latin typeface="Calibri"/>
              </a:rPr>
              <a:t>Module 3 · Open Software</a:t>
            </a:r>
          </a:p>
        </p:txBody>
      </p:sp>
      <p:sp>
        <p:nvSpPr>
          <p:cNvPr id="5" name="Rectangle 4"/>
          <p:cNvSpPr/>
          <p:nvPr/>
        </p:nvSpPr>
        <p:spPr>
          <a:xfrm>
            <a:off x="0" y="6419088"/>
            <a:ext cx="12191695" cy="17780"/>
          </a:xfrm>
          <a:prstGeom prst="rect">
            <a:avLst/>
          </a:prstGeom>
          <a:solidFill>
            <a:srgbClr val="6B4F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645920"/>
            <a:ext cx="5120640" cy="4297680"/>
          </a:xfrm>
          <a:prstGeom prst="rect">
            <a:avLst/>
          </a:prstGeom>
          <a:noFill/>
        </p:spPr>
        <p:txBody>
          <a:bodyPr wrap="square">
            <a:spAutoFit/>
          </a:bodyPr>
          <a:lstStyle/>
          <a:p>
            <a:pPr algn="l">
              <a:lnSpc>
                <a:spcPct val="108000"/>
              </a:lnSpc>
              <a:spcBef>
                <a:spcPts val="0"/>
              </a:spcBef>
              <a:spcAft>
                <a:spcPts val="1300"/>
              </a:spcAft>
            </a:pPr>
            <a:r>
              <a:rPr sz="1300" b="1" i="0">
                <a:solidFill>
                  <a:srgbClr val="6B4FA0"/>
                </a:solidFill>
                <a:latin typeface="Calibri"/>
              </a:rPr>
              <a:t>WHERE TO LOOK</a:t>
            </a:r>
            <a:r>
              <a:rPr sz="1400" b="0" i="0">
                <a:solidFill>
                  <a:srgbClr val="1B211D"/>
                </a:solidFill>
                <a:latin typeface="Calibri"/>
              </a:rPr>
              <a:t>•  General — GitHub, GitLab</a:t>
            </a:r>
          </a:p>
          <a:p>
            <a:pPr>
              <a:lnSpc>
                <a:spcPct val="108000"/>
              </a:lnSpc>
              <a:spcAft>
                <a:spcPts val="1300"/>
              </a:spcAft>
            </a:pPr>
            <a:r>
              <a:rPr sz="1400" b="0" i="0">
                <a:solidFill>
                  <a:srgbClr val="1B211D"/>
                </a:solidFill>
                <a:latin typeface="Calibri"/>
              </a:rPr>
              <a:t>•  Language registries — PyPI, CRAN, Bioconductor</a:t>
            </a:r>
          </a:p>
          <a:p>
            <a:pPr>
              <a:lnSpc>
                <a:spcPct val="108000"/>
              </a:lnSpc>
              <a:spcAft>
                <a:spcPts val="1300"/>
              </a:spcAft>
            </a:pPr>
            <a:r>
              <a:rPr sz="1400" b="0" i="0">
                <a:solidFill>
                  <a:srgbClr val="1B211D"/>
                </a:solidFill>
                <a:latin typeface="Calibri"/>
              </a:rPr>
              <a:t>•  Curated &amp; peer-reviewed — rOpenSci, pyOpenSci, bio.tools</a:t>
            </a:r>
          </a:p>
          <a:p>
            <a:pPr>
              <a:lnSpc>
                <a:spcPct val="108000"/>
              </a:lnSpc>
              <a:spcAft>
                <a:spcPts val="1300"/>
              </a:spcAft>
            </a:pPr>
            <a:r>
              <a:rPr sz="1400" b="0" i="0">
                <a:solidFill>
                  <a:srgbClr val="1B211D"/>
                </a:solidFill>
                <a:latin typeface="Calibri"/>
              </a:rPr>
              <a:t>•  Papers — a methods paper often names the tool</a:t>
            </a:r>
          </a:p>
        </p:txBody>
      </p:sp>
      <p:sp>
        <p:nvSpPr>
          <p:cNvPr id="7" name="TextBox 6"/>
          <p:cNvSpPr txBox="1"/>
          <p:nvPr/>
        </p:nvSpPr>
        <p:spPr>
          <a:xfrm>
            <a:off x="5943600" y="1645920"/>
            <a:ext cx="5394960" cy="4297680"/>
          </a:xfrm>
          <a:prstGeom prst="rect">
            <a:avLst/>
          </a:prstGeom>
          <a:noFill/>
        </p:spPr>
        <p:txBody>
          <a:bodyPr wrap="square">
            <a:spAutoFit/>
          </a:bodyPr>
          <a:lstStyle/>
          <a:p>
            <a:pPr algn="l">
              <a:lnSpc>
                <a:spcPct val="108000"/>
              </a:lnSpc>
              <a:spcBef>
                <a:spcPts val="0"/>
              </a:spcBef>
              <a:spcAft>
                <a:spcPts val="1300"/>
              </a:spcAft>
            </a:pPr>
            <a:r>
              <a:rPr sz="1300" b="1" i="0">
                <a:solidFill>
                  <a:srgbClr val="6B4FA0"/>
                </a:solidFill>
                <a:latin typeface="Calibri"/>
              </a:rPr>
              <a:t>RED FLAGS BEFORE YOU DEPEND ON IT</a:t>
            </a:r>
            <a:r>
              <a:rPr sz="1400" b="0" i="0">
                <a:solidFill>
                  <a:srgbClr val="1B211D"/>
                </a:solidFill>
                <a:latin typeface="Calibri"/>
              </a:rPr>
              <a:t>•  No commits in years, no response to open issues</a:t>
            </a:r>
          </a:p>
          <a:p>
            <a:pPr>
              <a:lnSpc>
                <a:spcPct val="108000"/>
              </a:lnSpc>
              <a:spcAft>
                <a:spcPts val="1300"/>
              </a:spcAft>
            </a:pPr>
            <a:r>
              <a:rPr sz="1400" b="0" i="0">
                <a:solidFill>
                  <a:srgbClr val="1B211D"/>
                </a:solidFill>
                <a:latin typeface="Calibri"/>
              </a:rPr>
              <a:t>•  No documented dependencies or install instructions</a:t>
            </a:r>
          </a:p>
          <a:p>
            <a:pPr>
              <a:lnSpc>
                <a:spcPct val="108000"/>
              </a:lnSpc>
              <a:spcAft>
                <a:spcPts val="1300"/>
              </a:spcAft>
            </a:pPr>
            <a:r>
              <a:rPr sz="1400" b="0" i="0">
                <a:solidFill>
                  <a:srgbClr val="1B211D"/>
                </a:solidFill>
                <a:latin typeface="Calibri"/>
              </a:rPr>
              <a:t>•  No tests, no CI — quality is only claimed, not shown</a:t>
            </a:r>
          </a:p>
          <a:p>
            <a:pPr>
              <a:lnSpc>
                <a:spcPct val="108000"/>
              </a:lnSpc>
              <a:spcAft>
                <a:spcPts val="1300"/>
              </a:spcAft>
            </a:pPr>
            <a:r>
              <a:rPr sz="1400" b="0" i="0">
                <a:solidFill>
                  <a:srgbClr val="1B211D"/>
                </a:solidFill>
                <a:latin typeface="Calibri"/>
              </a:rPr>
              <a:t>•  Single developer, no citation trail, no users you can find</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7F5EE"/>
        </a:solidFill>
        <a:effectLst/>
      </p:bgPr>
    </p:bg>
    <p:spTree>
      <p:nvGrpSpPr>
        <p:cNvPr id="1" name=""/>
        <p:cNvGrpSpPr/>
        <p:nvPr/>
      </p:nvGrpSpPr>
      <p:grpSpPr/>
      <p:sp>
        <p:nvSpPr>
          <p:cNvPr id="2" name="TextBox 1"/>
          <p:cNvSpPr txBox="1"/>
          <p:nvPr/>
        </p:nvSpPr>
        <p:spPr>
          <a:xfrm>
            <a:off x="548640" y="411480"/>
            <a:ext cx="7315200" cy="365760"/>
          </a:xfrm>
          <a:prstGeom prst="rect">
            <a:avLst/>
          </a:prstGeom>
          <a:noFill/>
        </p:spPr>
        <p:txBody>
          <a:bodyPr wrap="square">
            <a:spAutoFit/>
          </a:bodyPr>
          <a:lstStyle/>
          <a:p>
            <a:pPr algn="l">
              <a:spcBef>
                <a:spcPts val="0"/>
              </a:spcBef>
              <a:spcAft>
                <a:spcPts val="600"/>
              </a:spcAft>
            </a:pPr>
            <a:r>
              <a:rPr sz="1300" b="1" i="0" spc="120">
                <a:solidFill>
                  <a:srgbClr val="6B4FA0"/>
                </a:solidFill>
                <a:latin typeface="Calibri"/>
              </a:rPr>
              <a:t>3.3–3.4 · DOCUMENTATION</a:t>
            </a:r>
          </a:p>
        </p:txBody>
      </p:sp>
      <p:sp>
        <p:nvSpPr>
          <p:cNvPr id="3" name="TextBox 2"/>
          <p:cNvSpPr txBox="1"/>
          <p:nvPr/>
        </p:nvSpPr>
        <p:spPr>
          <a:xfrm>
            <a:off x="548640" y="777240"/>
            <a:ext cx="10789920" cy="822960"/>
          </a:xfrm>
          <a:prstGeom prst="rect">
            <a:avLst/>
          </a:prstGeom>
          <a:noFill/>
        </p:spPr>
        <p:txBody>
          <a:bodyPr wrap="square">
            <a:spAutoFit/>
          </a:bodyPr>
          <a:lstStyle/>
          <a:p>
            <a:pPr algn="l">
              <a:spcBef>
                <a:spcPts val="0"/>
              </a:spcBef>
              <a:spcAft>
                <a:spcPts val="600"/>
              </a:spcAft>
            </a:pPr>
            <a:r>
              <a:rPr sz="3000" b="1" i="0">
                <a:solidFill>
                  <a:srgbClr val="1B211D"/>
                </a:solidFill>
                <a:latin typeface="Georgia"/>
              </a:rPr>
              <a:t>Every repo needs a README</a:t>
            </a:r>
          </a:p>
        </p:txBody>
      </p:sp>
      <p:sp>
        <p:nvSpPr>
          <p:cNvPr id="4" name="TextBox 3"/>
          <p:cNvSpPr txBox="1"/>
          <p:nvPr/>
        </p:nvSpPr>
        <p:spPr>
          <a:xfrm>
            <a:off x="548640" y="6473952"/>
            <a:ext cx="8229600" cy="320040"/>
          </a:xfrm>
          <a:prstGeom prst="rect">
            <a:avLst/>
          </a:prstGeom>
          <a:noFill/>
        </p:spPr>
        <p:txBody>
          <a:bodyPr wrap="square">
            <a:spAutoFit/>
          </a:bodyPr>
          <a:lstStyle/>
          <a:p>
            <a:pPr algn="l">
              <a:spcBef>
                <a:spcPts val="0"/>
              </a:spcBef>
              <a:spcAft>
                <a:spcPts val="600"/>
              </a:spcAft>
            </a:pPr>
            <a:r>
              <a:rPr sz="1000" b="0" i="0">
                <a:solidFill>
                  <a:srgbClr val="5B655F"/>
                </a:solidFill>
                <a:latin typeface="Calibri"/>
              </a:rPr>
              <a:t>Module 3 · Open Software</a:t>
            </a:r>
          </a:p>
        </p:txBody>
      </p:sp>
      <p:sp>
        <p:nvSpPr>
          <p:cNvPr id="5" name="Rectangle 4"/>
          <p:cNvSpPr/>
          <p:nvPr/>
        </p:nvSpPr>
        <p:spPr>
          <a:xfrm>
            <a:off x="0" y="6419088"/>
            <a:ext cx="12191695" cy="17780"/>
          </a:xfrm>
          <a:prstGeom prst="rect">
            <a:avLst/>
          </a:prstGeom>
          <a:solidFill>
            <a:srgbClr val="6B4F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691640"/>
            <a:ext cx="10789920" cy="548640"/>
          </a:xfrm>
          <a:prstGeom prst="rect">
            <a:avLst/>
          </a:prstGeom>
          <a:noFill/>
        </p:spPr>
        <p:txBody>
          <a:bodyPr wrap="square">
            <a:spAutoFit/>
          </a:bodyPr>
          <a:lstStyle/>
          <a:p>
            <a:pPr algn="l">
              <a:spcBef>
                <a:spcPts val="0"/>
              </a:spcBef>
              <a:spcAft>
                <a:spcPts val="600"/>
              </a:spcAft>
            </a:pPr>
            <a:r>
              <a:rPr sz="1600" b="0" i="1">
                <a:solidFill>
                  <a:srgbClr val="5B655F"/>
                </a:solidFill>
                <a:latin typeface="Calibri"/>
              </a:rPr>
              <a:t>Minimum viable README:</a:t>
            </a:r>
          </a:p>
        </p:txBody>
      </p:sp>
      <p:sp>
        <p:nvSpPr>
          <p:cNvPr id="7" name="TextBox 6"/>
          <p:cNvSpPr txBox="1"/>
          <p:nvPr/>
        </p:nvSpPr>
        <p:spPr>
          <a:xfrm>
            <a:off x="548640" y="2286000"/>
            <a:ext cx="5120640" cy="2743200"/>
          </a:xfrm>
          <a:prstGeom prst="rect">
            <a:avLst/>
          </a:prstGeom>
          <a:noFill/>
        </p:spPr>
        <p:txBody>
          <a:bodyPr wrap="square">
            <a:spAutoFit/>
          </a:bodyPr>
          <a:lstStyle/>
          <a:p>
            <a:pPr>
              <a:lnSpc>
                <a:spcPct val="108000"/>
              </a:lnSpc>
              <a:spcAft>
                <a:spcPts val="1600"/>
              </a:spcAft>
            </a:pPr>
            <a:r>
              <a:rPr sz="1600" b="0" i="0">
                <a:solidFill>
                  <a:srgbClr val="1B211D"/>
                </a:solidFill>
                <a:latin typeface="Calibri"/>
              </a:rPr>
              <a:t>☐  Project name &amp; one-line description</a:t>
            </a:r>
          </a:p>
          <a:p>
            <a:pPr>
              <a:lnSpc>
                <a:spcPct val="108000"/>
              </a:lnSpc>
              <a:spcAft>
                <a:spcPts val="1600"/>
              </a:spcAft>
            </a:pPr>
            <a:r>
              <a:rPr sz="1600" b="0" i="0">
                <a:solidFill>
                  <a:srgbClr val="1B211D"/>
                </a:solidFill>
                <a:latin typeface="Calibri"/>
              </a:rPr>
              <a:t>☐  Installation instructions (that actually work, copy-pasted fresh)</a:t>
            </a:r>
          </a:p>
          <a:p>
            <a:pPr>
              <a:lnSpc>
                <a:spcPct val="108000"/>
              </a:lnSpc>
              <a:spcAft>
                <a:spcPts val="1600"/>
              </a:spcAft>
            </a:pPr>
            <a:r>
              <a:rPr sz="1600" b="0" i="0">
                <a:solidFill>
                  <a:srgbClr val="1B211D"/>
                </a:solidFill>
                <a:latin typeface="Calibri"/>
              </a:rPr>
              <a:t>☐  Quick start — a runnable example in under 10 lines</a:t>
            </a:r>
          </a:p>
        </p:txBody>
      </p:sp>
      <p:sp>
        <p:nvSpPr>
          <p:cNvPr id="8" name="TextBox 7"/>
          <p:cNvSpPr txBox="1"/>
          <p:nvPr/>
        </p:nvSpPr>
        <p:spPr>
          <a:xfrm>
            <a:off x="6035040" y="2286000"/>
            <a:ext cx="5120640" cy="2743200"/>
          </a:xfrm>
          <a:prstGeom prst="rect">
            <a:avLst/>
          </a:prstGeom>
          <a:noFill/>
        </p:spPr>
        <p:txBody>
          <a:bodyPr wrap="square">
            <a:spAutoFit/>
          </a:bodyPr>
          <a:lstStyle/>
          <a:p>
            <a:pPr>
              <a:lnSpc>
                <a:spcPct val="108000"/>
              </a:lnSpc>
              <a:spcAft>
                <a:spcPts val="1600"/>
              </a:spcAft>
            </a:pPr>
            <a:r>
              <a:rPr sz="1600" b="0" i="0">
                <a:solidFill>
                  <a:srgbClr val="1B211D"/>
                </a:solidFill>
                <a:latin typeface="Calibri"/>
              </a:rPr>
              <a:t>☐  License</a:t>
            </a:r>
          </a:p>
          <a:p>
            <a:pPr>
              <a:lnSpc>
                <a:spcPct val="108000"/>
              </a:lnSpc>
              <a:spcAft>
                <a:spcPts val="1600"/>
              </a:spcAft>
            </a:pPr>
            <a:r>
              <a:rPr sz="1600" b="0" i="0">
                <a:solidFill>
                  <a:srgbClr val="1B211D"/>
                </a:solidFill>
                <a:latin typeface="Calibri"/>
              </a:rPr>
              <a:t>☐  How to cite (link a CITATION.cff if you have one)</a:t>
            </a:r>
          </a:p>
        </p:txBody>
      </p:sp>
      <p:sp>
        <p:nvSpPr>
          <p:cNvPr id="9" name="TextBox 8"/>
          <p:cNvSpPr txBox="1"/>
          <p:nvPr/>
        </p:nvSpPr>
        <p:spPr>
          <a:xfrm>
            <a:off x="548640" y="5120640"/>
            <a:ext cx="10515600" cy="822960"/>
          </a:xfrm>
          <a:prstGeom prst="rect">
            <a:avLst/>
          </a:prstGeom>
          <a:noFill/>
        </p:spPr>
        <p:txBody>
          <a:bodyPr wrap="square">
            <a:spAutoFit/>
          </a:bodyPr>
          <a:lstStyle/>
          <a:p>
            <a:pPr algn="l">
              <a:spcBef>
                <a:spcPts val="0"/>
              </a:spcBef>
              <a:spcAft>
                <a:spcPts val="600"/>
              </a:spcAft>
            </a:pPr>
            <a:r>
              <a:rPr sz="1400" b="1" i="0">
                <a:solidFill>
                  <a:srgbClr val="6B4FA0"/>
                </a:solidFill>
                <a:latin typeface="Calibri"/>
              </a:rPr>
              <a:t>Comment for WHY, not WHAT:</a:t>
            </a:r>
          </a:p>
          <a:p>
            <a:pPr algn="l">
              <a:spcBef>
                <a:spcPts val="400"/>
              </a:spcBef>
              <a:spcAft>
                <a:spcPts val="600"/>
              </a:spcAft>
            </a:pPr>
            <a:r>
              <a:rPr sz="1300" b="0" i="0">
                <a:solidFill>
                  <a:srgbClr val="5B655F"/>
                </a:solidFill>
                <a:latin typeface="Consolas"/>
              </a:rPr>
              <a:t># Window size chosen empirically; affects memory ~5GB per 1000 samples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7F5EE"/>
        </a:solidFill>
        <a:effectLst/>
      </p:bgPr>
    </p:bg>
    <p:spTree>
      <p:nvGrpSpPr>
        <p:cNvPr id="1" name=""/>
        <p:cNvGrpSpPr/>
        <p:nvPr/>
      </p:nvGrpSpPr>
      <p:grpSpPr/>
      <p:sp>
        <p:nvSpPr>
          <p:cNvPr id="2" name="TextBox 1"/>
          <p:cNvSpPr txBox="1"/>
          <p:nvPr/>
        </p:nvSpPr>
        <p:spPr>
          <a:xfrm>
            <a:off x="548640" y="411480"/>
            <a:ext cx="7315200" cy="365760"/>
          </a:xfrm>
          <a:prstGeom prst="rect">
            <a:avLst/>
          </a:prstGeom>
          <a:noFill/>
        </p:spPr>
        <p:txBody>
          <a:bodyPr wrap="square">
            <a:spAutoFit/>
          </a:bodyPr>
          <a:lstStyle/>
          <a:p>
            <a:pPr algn="l">
              <a:spcBef>
                <a:spcPts val="0"/>
              </a:spcBef>
              <a:spcAft>
                <a:spcPts val="600"/>
              </a:spcAft>
            </a:pPr>
            <a:r>
              <a:rPr sz="1300" b="1" i="0" spc="120">
                <a:solidFill>
                  <a:srgbClr val="6B4FA0"/>
                </a:solidFill>
                <a:latin typeface="Calibri"/>
              </a:rPr>
              <a:t>4.3 · LICENSING</a:t>
            </a:r>
          </a:p>
        </p:txBody>
      </p:sp>
      <p:sp>
        <p:nvSpPr>
          <p:cNvPr id="3" name="TextBox 2"/>
          <p:cNvSpPr txBox="1"/>
          <p:nvPr/>
        </p:nvSpPr>
        <p:spPr>
          <a:xfrm>
            <a:off x="548640" y="777240"/>
            <a:ext cx="10789920" cy="822960"/>
          </a:xfrm>
          <a:prstGeom prst="rect">
            <a:avLst/>
          </a:prstGeom>
          <a:noFill/>
        </p:spPr>
        <p:txBody>
          <a:bodyPr wrap="square">
            <a:spAutoFit/>
          </a:bodyPr>
          <a:lstStyle/>
          <a:p>
            <a:pPr algn="l">
              <a:spcBef>
                <a:spcPts val="0"/>
              </a:spcBef>
              <a:spcAft>
                <a:spcPts val="600"/>
              </a:spcAft>
            </a:pPr>
            <a:r>
              <a:rPr sz="3000" b="1" i="0">
                <a:solidFill>
                  <a:srgbClr val="1B211D"/>
                </a:solidFill>
                <a:latin typeface="Georgia"/>
              </a:rPr>
              <a:t>Picking a license without a law degree</a:t>
            </a:r>
          </a:p>
        </p:txBody>
      </p:sp>
      <p:sp>
        <p:nvSpPr>
          <p:cNvPr id="4" name="TextBox 3"/>
          <p:cNvSpPr txBox="1"/>
          <p:nvPr/>
        </p:nvSpPr>
        <p:spPr>
          <a:xfrm>
            <a:off x="548640" y="6473952"/>
            <a:ext cx="8229600" cy="320040"/>
          </a:xfrm>
          <a:prstGeom prst="rect">
            <a:avLst/>
          </a:prstGeom>
          <a:noFill/>
        </p:spPr>
        <p:txBody>
          <a:bodyPr wrap="square">
            <a:spAutoFit/>
          </a:bodyPr>
          <a:lstStyle/>
          <a:p>
            <a:pPr algn="l">
              <a:spcBef>
                <a:spcPts val="0"/>
              </a:spcBef>
              <a:spcAft>
                <a:spcPts val="600"/>
              </a:spcAft>
            </a:pPr>
            <a:r>
              <a:rPr sz="1000" b="0" i="0">
                <a:solidFill>
                  <a:srgbClr val="5B655F"/>
                </a:solidFill>
                <a:latin typeface="Calibri"/>
              </a:rPr>
              <a:t>Module 3 · Open Software</a:t>
            </a:r>
          </a:p>
        </p:txBody>
      </p:sp>
      <p:sp>
        <p:nvSpPr>
          <p:cNvPr id="5" name="Rectangle 4"/>
          <p:cNvSpPr/>
          <p:nvPr/>
        </p:nvSpPr>
        <p:spPr>
          <a:xfrm>
            <a:off x="0" y="6419088"/>
            <a:ext cx="12191695" cy="17780"/>
          </a:xfrm>
          <a:prstGeom prst="rect">
            <a:avLst/>
          </a:prstGeom>
          <a:solidFill>
            <a:srgbClr val="6B4F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10607040" cy="384048"/>
          </a:xfrm>
          <a:prstGeom prst="rect">
            <a:avLst/>
          </a:prstGeom>
          <a:solidFill>
            <a:srgbClr val="6B4F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56232"/>
            <a:ext cx="1371600" cy="365760"/>
          </a:xfrm>
          <a:prstGeom prst="rect">
            <a:avLst/>
          </a:prstGeom>
          <a:noFill/>
        </p:spPr>
        <p:txBody>
          <a:bodyPr wrap="square">
            <a:spAutoFit/>
          </a:bodyPr>
          <a:lstStyle/>
          <a:p>
            <a:pPr algn="l">
              <a:spcBef>
                <a:spcPts val="0"/>
              </a:spcBef>
              <a:spcAft>
                <a:spcPts val="600"/>
              </a:spcAft>
            </a:pPr>
            <a:r>
              <a:rPr sz="1200" b="1" i="0">
                <a:solidFill>
                  <a:srgbClr val="FFFFFF"/>
                </a:solidFill>
                <a:latin typeface="Calibri"/>
              </a:rPr>
              <a:t>LICENSE</a:t>
            </a:r>
          </a:p>
        </p:txBody>
      </p:sp>
      <p:sp>
        <p:nvSpPr>
          <p:cNvPr id="8" name="TextBox 7"/>
          <p:cNvSpPr txBox="1"/>
          <p:nvPr/>
        </p:nvSpPr>
        <p:spPr>
          <a:xfrm>
            <a:off x="2240280" y="1856232"/>
            <a:ext cx="5852160" cy="365760"/>
          </a:xfrm>
          <a:prstGeom prst="rect">
            <a:avLst/>
          </a:prstGeom>
          <a:noFill/>
        </p:spPr>
        <p:txBody>
          <a:bodyPr wrap="square">
            <a:spAutoFit/>
          </a:bodyPr>
          <a:lstStyle/>
          <a:p>
            <a:pPr algn="l">
              <a:spcBef>
                <a:spcPts val="0"/>
              </a:spcBef>
              <a:spcAft>
                <a:spcPts val="600"/>
              </a:spcAft>
            </a:pPr>
            <a:r>
              <a:rPr sz="1200" b="1" i="0">
                <a:solidFill>
                  <a:srgbClr val="FFFFFF"/>
                </a:solidFill>
                <a:latin typeface="Calibri"/>
              </a:rPr>
              <a:t>WHAT IT MEANS</a:t>
            </a:r>
          </a:p>
        </p:txBody>
      </p:sp>
      <p:sp>
        <p:nvSpPr>
          <p:cNvPr id="9" name="TextBox 8"/>
          <p:cNvSpPr txBox="1"/>
          <p:nvPr/>
        </p:nvSpPr>
        <p:spPr>
          <a:xfrm>
            <a:off x="8275320" y="1856232"/>
            <a:ext cx="2834640" cy="365760"/>
          </a:xfrm>
          <a:prstGeom prst="rect">
            <a:avLst/>
          </a:prstGeom>
          <a:noFill/>
        </p:spPr>
        <p:txBody>
          <a:bodyPr wrap="square">
            <a:spAutoFit/>
          </a:bodyPr>
          <a:lstStyle/>
          <a:p>
            <a:pPr algn="l">
              <a:spcBef>
                <a:spcPts val="0"/>
              </a:spcBef>
              <a:spcAft>
                <a:spcPts val="600"/>
              </a:spcAft>
            </a:pPr>
            <a:r>
              <a:rPr sz="1200" b="1" i="0">
                <a:solidFill>
                  <a:srgbClr val="FFFFFF"/>
                </a:solidFill>
                <a:latin typeface="Calibri"/>
              </a:rPr>
              <a:t>BEST FOR</a:t>
            </a:r>
          </a:p>
        </p:txBody>
      </p:sp>
      <p:sp>
        <p:nvSpPr>
          <p:cNvPr id="10" name="Rectangle 9"/>
          <p:cNvSpPr/>
          <p:nvPr/>
        </p:nvSpPr>
        <p:spPr>
          <a:xfrm>
            <a:off x="548640" y="2212848"/>
            <a:ext cx="10607040"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2331720"/>
            <a:ext cx="1371600" cy="502920"/>
          </a:xfrm>
          <a:prstGeom prst="rect">
            <a:avLst/>
          </a:prstGeom>
          <a:noFill/>
        </p:spPr>
        <p:txBody>
          <a:bodyPr wrap="square">
            <a:spAutoFit/>
          </a:bodyPr>
          <a:lstStyle/>
          <a:p>
            <a:pPr algn="l">
              <a:spcBef>
                <a:spcPts val="0"/>
              </a:spcBef>
              <a:spcAft>
                <a:spcPts val="600"/>
              </a:spcAft>
            </a:pPr>
            <a:r>
              <a:rPr sz="1500" b="1" i="0">
                <a:solidFill>
                  <a:srgbClr val="6B4FA0"/>
                </a:solidFill>
                <a:latin typeface="Calibri"/>
              </a:rPr>
              <a:t>MIT</a:t>
            </a:r>
          </a:p>
        </p:txBody>
      </p:sp>
      <p:sp>
        <p:nvSpPr>
          <p:cNvPr id="12" name="TextBox 11"/>
          <p:cNvSpPr txBox="1"/>
          <p:nvPr/>
        </p:nvSpPr>
        <p:spPr>
          <a:xfrm>
            <a:off x="2148840" y="2304288"/>
            <a:ext cx="5852160" cy="548640"/>
          </a:xfrm>
          <a:prstGeom prst="rect">
            <a:avLst/>
          </a:prstGeom>
          <a:noFill/>
        </p:spPr>
        <p:txBody>
          <a:bodyPr wrap="square">
            <a:spAutoFit/>
          </a:bodyPr>
          <a:lstStyle/>
          <a:p>
            <a:pPr algn="l">
              <a:lnSpc>
                <a:spcPct val="110000"/>
              </a:lnSpc>
              <a:spcBef>
                <a:spcPts val="0"/>
              </a:spcBef>
              <a:spcAft>
                <a:spcPts val="600"/>
              </a:spcAft>
            </a:pPr>
            <a:r>
              <a:rPr sz="1300" b="0" i="0">
                <a:solidFill>
                  <a:srgbClr val="1B211D"/>
                </a:solidFill>
                <a:latin typeface="Calibri"/>
              </a:rPr>
              <a:t>Very permissive · commercial use OK · just credit + license text</a:t>
            </a:r>
          </a:p>
        </p:txBody>
      </p:sp>
      <p:sp>
        <p:nvSpPr>
          <p:cNvPr id="13" name="TextBox 12"/>
          <p:cNvSpPr txBox="1"/>
          <p:nvPr/>
        </p:nvSpPr>
        <p:spPr>
          <a:xfrm>
            <a:off x="8092440" y="2331720"/>
            <a:ext cx="2971800" cy="502920"/>
          </a:xfrm>
          <a:prstGeom prst="rect">
            <a:avLst/>
          </a:prstGeom>
          <a:noFill/>
        </p:spPr>
        <p:txBody>
          <a:bodyPr wrap="square">
            <a:spAutoFit/>
          </a:bodyPr>
          <a:lstStyle/>
          <a:p>
            <a:pPr algn="l">
              <a:spcBef>
                <a:spcPts val="0"/>
              </a:spcBef>
              <a:spcAft>
                <a:spcPts val="600"/>
              </a:spcAft>
            </a:pPr>
            <a:r>
              <a:rPr sz="1300" b="0" i="1">
                <a:solidFill>
                  <a:srgbClr val="5B655F"/>
                </a:solidFill>
                <a:latin typeface="Calibri"/>
              </a:rPr>
              <a:t>Most research software</a:t>
            </a:r>
          </a:p>
        </p:txBody>
      </p:sp>
      <p:sp>
        <p:nvSpPr>
          <p:cNvPr id="14" name="Rectangle 13"/>
          <p:cNvSpPr/>
          <p:nvPr/>
        </p:nvSpPr>
        <p:spPr>
          <a:xfrm>
            <a:off x="548640" y="2926080"/>
            <a:ext cx="10607040" cy="713232"/>
          </a:xfrm>
          <a:prstGeom prst="rect">
            <a:avLst/>
          </a:prstGeom>
          <a:solidFill>
            <a:srgbClr val="EFEC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3044952"/>
            <a:ext cx="1371600" cy="502920"/>
          </a:xfrm>
          <a:prstGeom prst="rect">
            <a:avLst/>
          </a:prstGeom>
          <a:noFill/>
        </p:spPr>
        <p:txBody>
          <a:bodyPr wrap="square">
            <a:spAutoFit/>
          </a:bodyPr>
          <a:lstStyle/>
          <a:p>
            <a:pPr algn="l">
              <a:spcBef>
                <a:spcPts val="0"/>
              </a:spcBef>
              <a:spcAft>
                <a:spcPts val="600"/>
              </a:spcAft>
            </a:pPr>
            <a:r>
              <a:rPr sz="1500" b="1" i="0">
                <a:solidFill>
                  <a:srgbClr val="6B4FA0"/>
                </a:solidFill>
                <a:latin typeface="Calibri"/>
              </a:rPr>
              <a:t>Apache 2.0</a:t>
            </a:r>
          </a:p>
        </p:txBody>
      </p:sp>
      <p:sp>
        <p:nvSpPr>
          <p:cNvPr id="16" name="TextBox 15"/>
          <p:cNvSpPr txBox="1"/>
          <p:nvPr/>
        </p:nvSpPr>
        <p:spPr>
          <a:xfrm>
            <a:off x="2148840" y="3017520"/>
            <a:ext cx="5852160" cy="548640"/>
          </a:xfrm>
          <a:prstGeom prst="rect">
            <a:avLst/>
          </a:prstGeom>
          <a:noFill/>
        </p:spPr>
        <p:txBody>
          <a:bodyPr wrap="square">
            <a:spAutoFit/>
          </a:bodyPr>
          <a:lstStyle/>
          <a:p>
            <a:pPr algn="l">
              <a:lnSpc>
                <a:spcPct val="110000"/>
              </a:lnSpc>
              <a:spcBef>
                <a:spcPts val="0"/>
              </a:spcBef>
              <a:spcAft>
                <a:spcPts val="600"/>
              </a:spcAft>
            </a:pPr>
            <a:r>
              <a:rPr sz="1300" b="0" i="0">
                <a:solidFill>
                  <a:srgbClr val="1B211D"/>
                </a:solidFill>
                <a:latin typeface="Calibri"/>
              </a:rPr>
              <a:t>Permissive + explicit patent grant</a:t>
            </a:r>
          </a:p>
        </p:txBody>
      </p:sp>
      <p:sp>
        <p:nvSpPr>
          <p:cNvPr id="17" name="TextBox 16"/>
          <p:cNvSpPr txBox="1"/>
          <p:nvPr/>
        </p:nvSpPr>
        <p:spPr>
          <a:xfrm>
            <a:off x="8092440" y="3044952"/>
            <a:ext cx="2971800" cy="502920"/>
          </a:xfrm>
          <a:prstGeom prst="rect">
            <a:avLst/>
          </a:prstGeom>
          <a:noFill/>
        </p:spPr>
        <p:txBody>
          <a:bodyPr wrap="square">
            <a:spAutoFit/>
          </a:bodyPr>
          <a:lstStyle/>
          <a:p>
            <a:pPr algn="l">
              <a:spcBef>
                <a:spcPts val="0"/>
              </a:spcBef>
              <a:spcAft>
                <a:spcPts val="600"/>
              </a:spcAft>
            </a:pPr>
            <a:r>
              <a:rPr sz="1300" b="0" i="1">
                <a:solidFill>
                  <a:srgbClr val="5B655F"/>
                </a:solidFill>
                <a:latin typeface="Calibri"/>
              </a:rPr>
              <a:t>Tools where patents matter</a:t>
            </a:r>
          </a:p>
        </p:txBody>
      </p:sp>
      <p:sp>
        <p:nvSpPr>
          <p:cNvPr id="18" name="Rectangle 17"/>
          <p:cNvSpPr/>
          <p:nvPr/>
        </p:nvSpPr>
        <p:spPr>
          <a:xfrm>
            <a:off x="548640" y="3639312"/>
            <a:ext cx="10607040"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3758184"/>
            <a:ext cx="1371600" cy="502920"/>
          </a:xfrm>
          <a:prstGeom prst="rect">
            <a:avLst/>
          </a:prstGeom>
          <a:noFill/>
        </p:spPr>
        <p:txBody>
          <a:bodyPr wrap="square">
            <a:spAutoFit/>
          </a:bodyPr>
          <a:lstStyle/>
          <a:p>
            <a:pPr algn="l">
              <a:spcBef>
                <a:spcPts val="0"/>
              </a:spcBef>
              <a:spcAft>
                <a:spcPts val="600"/>
              </a:spcAft>
            </a:pPr>
            <a:r>
              <a:rPr sz="1500" b="1" i="0">
                <a:solidFill>
                  <a:srgbClr val="6B4FA0"/>
                </a:solidFill>
                <a:latin typeface="Calibri"/>
              </a:rPr>
              <a:t>GPL v2/v3</a:t>
            </a:r>
          </a:p>
        </p:txBody>
      </p:sp>
      <p:sp>
        <p:nvSpPr>
          <p:cNvPr id="20" name="TextBox 19"/>
          <p:cNvSpPr txBox="1"/>
          <p:nvPr/>
        </p:nvSpPr>
        <p:spPr>
          <a:xfrm>
            <a:off x="2148840" y="3730752"/>
            <a:ext cx="5852160" cy="548640"/>
          </a:xfrm>
          <a:prstGeom prst="rect">
            <a:avLst/>
          </a:prstGeom>
          <a:noFill/>
        </p:spPr>
        <p:txBody>
          <a:bodyPr wrap="square">
            <a:spAutoFit/>
          </a:bodyPr>
          <a:lstStyle/>
          <a:p>
            <a:pPr algn="l">
              <a:lnSpc>
                <a:spcPct val="110000"/>
              </a:lnSpc>
              <a:spcBef>
                <a:spcPts val="0"/>
              </a:spcBef>
              <a:spcAft>
                <a:spcPts val="600"/>
              </a:spcAft>
            </a:pPr>
            <a:r>
              <a:rPr sz="1300" b="0" i="0">
                <a:solidFill>
                  <a:srgbClr val="1B211D"/>
                </a:solidFill>
                <a:latin typeface="Calibri"/>
              </a:rPr>
              <a:t>“Copyleft” — derivatives must stay open (e.g. the Linux kernel: GPLv2)</a:t>
            </a:r>
          </a:p>
        </p:txBody>
      </p:sp>
      <p:sp>
        <p:nvSpPr>
          <p:cNvPr id="21" name="TextBox 20"/>
          <p:cNvSpPr txBox="1"/>
          <p:nvPr/>
        </p:nvSpPr>
        <p:spPr>
          <a:xfrm>
            <a:off x="8092440" y="3758184"/>
            <a:ext cx="2971800" cy="502920"/>
          </a:xfrm>
          <a:prstGeom prst="rect">
            <a:avLst/>
          </a:prstGeom>
          <a:noFill/>
        </p:spPr>
        <p:txBody>
          <a:bodyPr wrap="square">
            <a:spAutoFit/>
          </a:bodyPr>
          <a:lstStyle/>
          <a:p>
            <a:pPr algn="l">
              <a:spcBef>
                <a:spcPts val="0"/>
              </a:spcBef>
              <a:spcAft>
                <a:spcPts val="600"/>
              </a:spcAft>
            </a:pPr>
            <a:r>
              <a:rPr sz="1300" b="0" i="1">
                <a:solidFill>
                  <a:srgbClr val="5B655F"/>
                </a:solidFill>
                <a:latin typeface="Calibri"/>
              </a:rPr>
              <a:t>When you want openness to propagate</a:t>
            </a:r>
          </a:p>
        </p:txBody>
      </p:sp>
      <p:sp>
        <p:nvSpPr>
          <p:cNvPr id="22" name="Rectangle 21"/>
          <p:cNvSpPr/>
          <p:nvPr/>
        </p:nvSpPr>
        <p:spPr>
          <a:xfrm>
            <a:off x="548640" y="4352544"/>
            <a:ext cx="10607040" cy="713232"/>
          </a:xfrm>
          <a:prstGeom prst="rect">
            <a:avLst/>
          </a:prstGeom>
          <a:solidFill>
            <a:srgbClr val="EFEC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5800" y="4471416"/>
            <a:ext cx="1371600" cy="502920"/>
          </a:xfrm>
          <a:prstGeom prst="rect">
            <a:avLst/>
          </a:prstGeom>
          <a:noFill/>
        </p:spPr>
        <p:txBody>
          <a:bodyPr wrap="square">
            <a:spAutoFit/>
          </a:bodyPr>
          <a:lstStyle/>
          <a:p>
            <a:pPr algn="l">
              <a:spcBef>
                <a:spcPts val="0"/>
              </a:spcBef>
              <a:spcAft>
                <a:spcPts val="600"/>
              </a:spcAft>
            </a:pPr>
            <a:r>
              <a:rPr sz="1500" b="1" i="0">
                <a:solidFill>
                  <a:srgbClr val="6B4FA0"/>
                </a:solidFill>
                <a:latin typeface="Calibri"/>
              </a:rPr>
              <a:t>CC0</a:t>
            </a:r>
          </a:p>
        </p:txBody>
      </p:sp>
      <p:sp>
        <p:nvSpPr>
          <p:cNvPr id="24" name="TextBox 23"/>
          <p:cNvSpPr txBox="1"/>
          <p:nvPr/>
        </p:nvSpPr>
        <p:spPr>
          <a:xfrm>
            <a:off x="2148840" y="4443984"/>
            <a:ext cx="5852160" cy="548640"/>
          </a:xfrm>
          <a:prstGeom prst="rect">
            <a:avLst/>
          </a:prstGeom>
          <a:noFill/>
        </p:spPr>
        <p:txBody>
          <a:bodyPr wrap="square">
            <a:spAutoFit/>
          </a:bodyPr>
          <a:lstStyle/>
          <a:p>
            <a:pPr algn="l">
              <a:lnSpc>
                <a:spcPct val="110000"/>
              </a:lnSpc>
              <a:spcBef>
                <a:spcPts val="0"/>
              </a:spcBef>
              <a:spcAft>
                <a:spcPts val="600"/>
              </a:spcAft>
            </a:pPr>
            <a:r>
              <a:rPr sz="1300" b="0" i="0">
                <a:solidFill>
                  <a:srgbClr val="1B211D"/>
                </a:solidFill>
                <a:latin typeface="Calibri"/>
              </a:rPr>
              <a:t>Public domain, zero requirements</a:t>
            </a:r>
          </a:p>
        </p:txBody>
      </p:sp>
      <p:sp>
        <p:nvSpPr>
          <p:cNvPr id="25" name="TextBox 24"/>
          <p:cNvSpPr txBox="1"/>
          <p:nvPr/>
        </p:nvSpPr>
        <p:spPr>
          <a:xfrm>
            <a:off x="8092440" y="4471416"/>
            <a:ext cx="2971800" cy="502920"/>
          </a:xfrm>
          <a:prstGeom prst="rect">
            <a:avLst/>
          </a:prstGeom>
          <a:noFill/>
        </p:spPr>
        <p:txBody>
          <a:bodyPr wrap="square">
            <a:spAutoFit/>
          </a:bodyPr>
          <a:lstStyle/>
          <a:p>
            <a:pPr algn="l">
              <a:spcBef>
                <a:spcPts val="0"/>
              </a:spcBef>
              <a:spcAft>
                <a:spcPts val="600"/>
              </a:spcAft>
            </a:pPr>
            <a:r>
              <a:rPr sz="1300" b="0" i="1">
                <a:solidFill>
                  <a:srgbClr val="5B655F"/>
                </a:solidFill>
                <a:latin typeface="Calibri"/>
              </a:rPr>
              <a:t>Data, not code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EBE6F3"/>
        </a:solidFill>
        <a:effectLst/>
      </p:bgPr>
    </p:bg>
    <p:spTree>
      <p:nvGrpSpPr>
        <p:cNvPr id="1" name=""/>
        <p:cNvGrpSpPr/>
        <p:nvPr/>
      </p:nvGrpSpPr>
      <p:grpSpPr/>
      <p:sp>
        <p:nvSpPr>
          <p:cNvPr id="2" name="Rectangle 1"/>
          <p:cNvSpPr/>
          <p:nvPr/>
        </p:nvSpPr>
        <p:spPr>
          <a:xfrm>
            <a:off x="0" y="0"/>
            <a:ext cx="12191695" cy="1371600"/>
          </a:xfrm>
          <a:prstGeom prst="rect">
            <a:avLst/>
          </a:prstGeom>
          <a:solidFill>
            <a:srgbClr val="6B4F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28600"/>
            <a:ext cx="5486400" cy="365760"/>
          </a:xfrm>
          <a:prstGeom prst="rect">
            <a:avLst/>
          </a:prstGeom>
          <a:noFill/>
        </p:spPr>
        <p:txBody>
          <a:bodyPr wrap="square">
            <a:spAutoFit/>
          </a:bodyPr>
          <a:lstStyle/>
          <a:p>
            <a:pPr algn="l">
              <a:spcBef>
                <a:spcPts val="0"/>
              </a:spcBef>
              <a:spcAft>
                <a:spcPts val="600"/>
              </a:spcAft>
            </a:pPr>
            <a:r>
              <a:rPr sz="1500" b="1" i="0">
                <a:solidFill>
                  <a:srgbClr val="C78A1E"/>
                </a:solidFill>
                <a:latin typeface="Calibri"/>
              </a:rPr>
              <a:t>★ ACTIVITY</a:t>
            </a:r>
          </a:p>
        </p:txBody>
      </p:sp>
      <p:sp>
        <p:nvSpPr>
          <p:cNvPr id="4" name="TextBox 3"/>
          <p:cNvSpPr txBox="1"/>
          <p:nvPr/>
        </p:nvSpPr>
        <p:spPr>
          <a:xfrm>
            <a:off x="548640" y="566928"/>
            <a:ext cx="8686800" cy="731520"/>
          </a:xfrm>
          <a:prstGeom prst="rect">
            <a:avLst/>
          </a:prstGeom>
          <a:noFill/>
        </p:spPr>
        <p:txBody>
          <a:bodyPr wrap="square">
            <a:spAutoFit/>
          </a:bodyPr>
          <a:lstStyle/>
          <a:p>
            <a:pPr algn="l">
              <a:spcBef>
                <a:spcPts val="0"/>
              </a:spcBef>
              <a:spcAft>
                <a:spcPts val="600"/>
              </a:spcAft>
            </a:pPr>
            <a:r>
              <a:rPr sz="2600" b="1" i="0">
                <a:solidFill>
                  <a:srgbClr val="FFFFFF"/>
                </a:solidFill>
                <a:latin typeface="Georgia"/>
              </a:rPr>
              <a:t>License Speed-Dating</a:t>
            </a:r>
          </a:p>
        </p:txBody>
      </p:sp>
      <p:sp>
        <p:nvSpPr>
          <p:cNvPr id="5" name="TextBox 4"/>
          <p:cNvSpPr txBox="1"/>
          <p:nvPr/>
        </p:nvSpPr>
        <p:spPr>
          <a:xfrm>
            <a:off x="9692640" y="320040"/>
            <a:ext cx="1920240" cy="822960"/>
          </a:xfrm>
          <a:prstGeom prst="rect">
            <a:avLst/>
          </a:prstGeom>
          <a:noFill/>
        </p:spPr>
        <p:txBody>
          <a:bodyPr wrap="square" anchor="ctr">
            <a:spAutoFit/>
          </a:bodyPr>
          <a:lstStyle/>
          <a:p>
            <a:pPr algn="r">
              <a:spcBef>
                <a:spcPts val="0"/>
              </a:spcBef>
              <a:spcAft>
                <a:spcPts val="600"/>
              </a:spcAft>
            </a:pPr>
            <a:r>
              <a:rPr sz="2200" b="1" i="0">
                <a:solidFill>
                  <a:srgbClr val="FFFFFF"/>
                </a:solidFill>
                <a:latin typeface="Consolas"/>
              </a:rPr>
              <a:t>10 MIN</a:t>
            </a:r>
          </a:p>
        </p:txBody>
      </p:sp>
      <p:sp>
        <p:nvSpPr>
          <p:cNvPr id="6" name="TextBox 5"/>
          <p:cNvSpPr txBox="1"/>
          <p:nvPr/>
        </p:nvSpPr>
        <p:spPr>
          <a:xfrm>
            <a:off x="548640" y="1600200"/>
            <a:ext cx="10789920" cy="502920"/>
          </a:xfrm>
          <a:prstGeom prst="rect">
            <a:avLst/>
          </a:prstGeom>
          <a:noFill/>
        </p:spPr>
        <p:txBody>
          <a:bodyPr wrap="square">
            <a:spAutoFit/>
          </a:bodyPr>
          <a:lstStyle/>
          <a:p>
            <a:pPr algn="l">
              <a:lnSpc>
                <a:spcPct val="115000"/>
              </a:lnSpc>
              <a:spcBef>
                <a:spcPts val="0"/>
              </a:spcBef>
              <a:spcAft>
                <a:spcPts val="600"/>
              </a:spcAft>
            </a:pPr>
            <a:r>
              <a:rPr sz="1600" b="0" i="1">
                <a:solidFill>
                  <a:srgbClr val="1B211D"/>
                </a:solidFill>
                <a:latin typeface="Calibri"/>
              </a:rPr>
              <a:t>A physical (or breakout-room) activity — four corners of the room, four licenses.</a:t>
            </a:r>
          </a:p>
        </p:txBody>
      </p:sp>
      <p:sp>
        <p:nvSpPr>
          <p:cNvPr id="7" name="TextBox 6"/>
          <p:cNvSpPr txBox="1"/>
          <p:nvPr/>
        </p:nvSpPr>
        <p:spPr>
          <a:xfrm>
            <a:off x="548640" y="2240280"/>
            <a:ext cx="10789920" cy="3566160"/>
          </a:xfrm>
          <a:prstGeom prst="rect">
            <a:avLst/>
          </a:prstGeom>
          <a:noFill/>
        </p:spPr>
        <p:txBody>
          <a:bodyPr wrap="square">
            <a:spAutoFit/>
          </a:bodyPr>
          <a:lstStyle/>
          <a:p>
            <a:pPr>
              <a:lnSpc>
                <a:spcPct val="108000"/>
              </a:lnSpc>
              <a:spcAft>
                <a:spcPts val="1000"/>
              </a:spcAft>
            </a:pPr>
            <a:r>
              <a:rPr sz="1600" b="0" i="0">
                <a:solidFill>
                  <a:srgbClr val="1B211D"/>
                </a:solidFill>
                <a:latin typeface="Calibri"/>
              </a:rPr>
              <a:t>Label four corners/breakout rooms: MIT · Apache 2.0 · GPL · CC0.</a:t>
            </a:r>
          </a:p>
          <a:p>
            <a:pPr>
              <a:lnSpc>
                <a:spcPct val="108000"/>
              </a:lnSpc>
              <a:spcAft>
                <a:spcPts val="1000"/>
              </a:spcAft>
            </a:pPr>
            <a:r>
              <a:rPr sz="1600" b="0" i="0">
                <a:solidFill>
                  <a:srgbClr val="1B211D"/>
                </a:solidFill>
                <a:latin typeface="Calibri"/>
              </a:rPr>
              <a:t>Facilitator reads a scenario aloud (e.g. “you want a company to be able to use this commercially, no strings attached”).</a:t>
            </a:r>
          </a:p>
          <a:p>
            <a:pPr>
              <a:lnSpc>
                <a:spcPct val="108000"/>
              </a:lnSpc>
              <a:spcAft>
                <a:spcPts val="1000"/>
              </a:spcAft>
            </a:pPr>
            <a:r>
              <a:rPr sz="1600" b="0" i="0">
                <a:solidFill>
                  <a:srgbClr val="1B211D"/>
                </a:solidFill>
                <a:latin typeface="Calibri"/>
              </a:rPr>
              <a:t>Everyone walks to the corner they think fits — no overthinking, gut call.</a:t>
            </a:r>
          </a:p>
          <a:p>
            <a:pPr>
              <a:lnSpc>
                <a:spcPct val="108000"/>
              </a:lnSpc>
              <a:spcAft>
                <a:spcPts val="1000"/>
              </a:spcAft>
            </a:pPr>
            <a:r>
              <a:rPr sz="1600" b="0" i="0">
                <a:solidFill>
                  <a:srgbClr val="1B211D"/>
                </a:solidFill>
                <a:latin typeface="Calibri"/>
              </a:rPr>
              <a:t>Ask one person from the majority corner AND one from a minority corner to justify their pick.</a:t>
            </a:r>
          </a:p>
          <a:p>
            <a:pPr>
              <a:lnSpc>
                <a:spcPct val="108000"/>
              </a:lnSpc>
              <a:spcAft>
                <a:spcPts val="1000"/>
              </a:spcAft>
            </a:pPr>
            <a:r>
              <a:rPr sz="1600" b="0" i="0">
                <a:solidFill>
                  <a:srgbClr val="1B211D"/>
                </a:solidFill>
                <a:latin typeface="Calibri"/>
              </a:rPr>
              <a:t>Repeat for 3–4 scenarios (derivative-works-must-stay-open, patent risk, releasing a dataset, etc.).</a:t>
            </a:r>
          </a:p>
        </p:txBody>
      </p:sp>
      <p:sp>
        <p:nvSpPr>
          <p:cNvPr id="8" name="Rounded Rectangle 7"/>
          <p:cNvSpPr/>
          <p:nvPr/>
        </p:nvSpPr>
        <p:spPr>
          <a:xfrm>
            <a:off x="548640" y="5989320"/>
            <a:ext cx="10789920" cy="548640"/>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6062472"/>
            <a:ext cx="10332720" cy="411480"/>
          </a:xfrm>
          <a:prstGeom prst="rect">
            <a:avLst/>
          </a:prstGeom>
          <a:noFill/>
        </p:spPr>
        <p:txBody>
          <a:bodyPr wrap="square">
            <a:spAutoFit/>
          </a:bodyPr>
          <a:lstStyle/>
          <a:p>
            <a:pPr algn="l">
              <a:spcBef>
                <a:spcPts val="0"/>
              </a:spcBef>
              <a:spcAft>
                <a:spcPts val="600"/>
              </a:spcAft>
            </a:pPr>
            <a:r>
              <a:rPr sz="1400" b="1" i="0">
                <a:solidFill>
                  <a:srgbClr val="6B4FA0"/>
                </a:solidFill>
                <a:latin typeface="Calibri"/>
              </a:rPr>
              <a:t>Deliverable: nothing written — the value is in the movement and the debate.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A15A00"/>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C7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1554480"/>
            <a:ext cx="2743200" cy="914400"/>
          </a:xfrm>
          <a:prstGeom prst="rect">
            <a:avLst/>
          </a:prstGeom>
          <a:noFill/>
        </p:spPr>
        <p:txBody>
          <a:bodyPr wrap="square">
            <a:spAutoFit/>
          </a:bodyPr>
          <a:lstStyle/>
          <a:p>
            <a:pPr algn="l">
              <a:spcBef>
                <a:spcPts val="0"/>
              </a:spcBef>
              <a:spcAft>
                <a:spcPts val="600"/>
              </a:spcAft>
            </a:pPr>
            <a:r>
              <a:rPr sz="1600" b="1" i="0">
                <a:solidFill>
                  <a:srgbClr val="F5E7D2"/>
                </a:solidFill>
                <a:latin typeface="Calibri"/>
              </a:rPr>
              <a:t>MODULE 5</a:t>
            </a:r>
          </a:p>
        </p:txBody>
      </p:sp>
      <p:sp>
        <p:nvSpPr>
          <p:cNvPr id="4" name="TextBox 3"/>
          <p:cNvSpPr txBox="1"/>
          <p:nvPr/>
        </p:nvSpPr>
        <p:spPr>
          <a:xfrm>
            <a:off x="822960" y="2011680"/>
            <a:ext cx="10058400" cy="1554480"/>
          </a:xfrm>
          <a:prstGeom prst="rect">
            <a:avLst/>
          </a:prstGeom>
          <a:noFill/>
        </p:spPr>
        <p:txBody>
          <a:bodyPr wrap="square">
            <a:spAutoFit/>
          </a:bodyPr>
          <a:lstStyle/>
          <a:p>
            <a:pPr algn="l">
              <a:spcBef>
                <a:spcPts val="0"/>
              </a:spcBef>
              <a:spcAft>
                <a:spcPts val="600"/>
              </a:spcAft>
            </a:pPr>
            <a:r>
              <a:rPr sz="4800" b="1" i="0">
                <a:solidFill>
                  <a:srgbClr val="FFFFFF"/>
                </a:solidFill>
                <a:latin typeface="Georgia"/>
              </a:rPr>
              <a:t>Open Science Tools</a:t>
            </a:r>
          </a:p>
        </p:txBody>
      </p:sp>
      <p:sp>
        <p:nvSpPr>
          <p:cNvPr id="5" name="TextBox 4"/>
          <p:cNvSpPr txBox="1"/>
          <p:nvPr/>
        </p:nvSpPr>
        <p:spPr>
          <a:xfrm>
            <a:off x="868680" y="3246120"/>
            <a:ext cx="9601200" cy="914400"/>
          </a:xfrm>
          <a:prstGeom prst="rect">
            <a:avLst/>
          </a:prstGeom>
          <a:noFill/>
        </p:spPr>
        <p:txBody>
          <a:bodyPr wrap="square">
            <a:spAutoFit/>
          </a:bodyPr>
          <a:lstStyle/>
          <a:p>
            <a:pPr algn="l">
              <a:lnSpc>
                <a:spcPct val="120000"/>
              </a:lnSpc>
              <a:spcBef>
                <a:spcPts val="0"/>
              </a:spcBef>
              <a:spcAft>
                <a:spcPts val="600"/>
              </a:spcAft>
            </a:pPr>
            <a:r>
              <a:rPr sz="1800" b="0" i="0">
                <a:solidFill>
                  <a:srgbClr val="F5E7D2"/>
                </a:solidFill>
                <a:latin typeface="Calibri"/>
              </a:rPr>
              <a:t>The practical kit — repositories, persistent identifiers, and the three things worth setting up before you leave this room.</a:t>
            </a:r>
          </a:p>
        </p:txBody>
      </p:sp>
      <p:sp>
        <p:nvSpPr>
          <p:cNvPr id="6" name="TextBox 5"/>
          <p:cNvSpPr txBox="1"/>
          <p:nvPr/>
        </p:nvSpPr>
        <p:spPr>
          <a:xfrm>
            <a:off x="868680" y="6126480"/>
            <a:ext cx="3657600" cy="457200"/>
          </a:xfrm>
          <a:prstGeom prst="rect">
            <a:avLst/>
          </a:prstGeom>
          <a:noFill/>
        </p:spPr>
        <p:txBody>
          <a:bodyPr wrap="square">
            <a:spAutoFit/>
          </a:bodyPr>
          <a:lstStyle/>
          <a:p>
            <a:pPr algn="l">
              <a:spcBef>
                <a:spcPts val="0"/>
              </a:spcBef>
              <a:spcAft>
                <a:spcPts val="600"/>
              </a:spcAft>
            </a:pPr>
            <a:r>
              <a:rPr sz="1400" b="1" i="0">
                <a:solidFill>
                  <a:srgbClr val="F5E7D2"/>
                </a:solidFill>
                <a:latin typeface="Consolas"/>
              </a:rPr>
              <a:t>25 MINUTES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7F5EE"/>
        </a:solidFill>
        <a:effectLst/>
      </p:bgPr>
    </p:bg>
    <p:spTree>
      <p:nvGrpSpPr>
        <p:cNvPr id="1" name=""/>
        <p:cNvGrpSpPr/>
        <p:nvPr/>
      </p:nvGrpSpPr>
      <p:grpSpPr/>
      <p:sp>
        <p:nvSpPr>
          <p:cNvPr id="2" name="TextBox 1"/>
          <p:cNvSpPr txBox="1"/>
          <p:nvPr/>
        </p:nvSpPr>
        <p:spPr>
          <a:xfrm>
            <a:off x="548640" y="411480"/>
            <a:ext cx="7315200" cy="365760"/>
          </a:xfrm>
          <a:prstGeom prst="rect">
            <a:avLst/>
          </a:prstGeom>
          <a:noFill/>
        </p:spPr>
        <p:txBody>
          <a:bodyPr wrap="square">
            <a:spAutoFit/>
          </a:bodyPr>
          <a:lstStyle/>
          <a:p>
            <a:pPr algn="l">
              <a:spcBef>
                <a:spcPts val="0"/>
              </a:spcBef>
              <a:spcAft>
                <a:spcPts val="600"/>
              </a:spcAft>
            </a:pPr>
            <a:r>
              <a:rPr sz="1300" b="1" i="0" spc="120">
                <a:solidFill>
                  <a:srgbClr val="A15A00"/>
                </a:solidFill>
                <a:latin typeface="Calibri"/>
              </a:rPr>
              <a:t>MODULE 5 AT A GLANCE</a:t>
            </a:r>
          </a:p>
        </p:txBody>
      </p:sp>
      <p:sp>
        <p:nvSpPr>
          <p:cNvPr id="3" name="TextBox 2"/>
          <p:cNvSpPr txBox="1"/>
          <p:nvPr/>
        </p:nvSpPr>
        <p:spPr>
          <a:xfrm>
            <a:off x="548640" y="777240"/>
            <a:ext cx="10789920" cy="822960"/>
          </a:xfrm>
          <a:prstGeom prst="rect">
            <a:avLst/>
          </a:prstGeom>
          <a:noFill/>
        </p:spPr>
        <p:txBody>
          <a:bodyPr wrap="square">
            <a:spAutoFit/>
          </a:bodyPr>
          <a:lstStyle/>
          <a:p>
            <a:pPr algn="l">
              <a:spcBef>
                <a:spcPts val="0"/>
              </a:spcBef>
              <a:spcAft>
                <a:spcPts val="600"/>
              </a:spcAft>
            </a:pPr>
            <a:r>
              <a:rPr sz="3000" b="1" i="0">
                <a:solidFill>
                  <a:srgbClr val="1B211D"/>
                </a:solidFill>
                <a:latin typeface="Georgia"/>
              </a:rPr>
              <a:t>Five lessons in the full course</a:t>
            </a:r>
          </a:p>
        </p:txBody>
      </p:sp>
      <p:sp>
        <p:nvSpPr>
          <p:cNvPr id="4" name="TextBox 3"/>
          <p:cNvSpPr txBox="1"/>
          <p:nvPr/>
        </p:nvSpPr>
        <p:spPr>
          <a:xfrm>
            <a:off x="548640" y="6473952"/>
            <a:ext cx="8229600" cy="320040"/>
          </a:xfrm>
          <a:prstGeom prst="rect">
            <a:avLst/>
          </a:prstGeom>
          <a:noFill/>
        </p:spPr>
        <p:txBody>
          <a:bodyPr wrap="square">
            <a:spAutoFit/>
          </a:bodyPr>
          <a:lstStyle/>
          <a:p>
            <a:pPr algn="l">
              <a:spcBef>
                <a:spcPts val="0"/>
              </a:spcBef>
              <a:spcAft>
                <a:spcPts val="600"/>
              </a:spcAft>
            </a:pPr>
            <a:r>
              <a:rPr sz="1000" b="0" i="0">
                <a:solidFill>
                  <a:srgbClr val="5B655F"/>
                </a:solidFill>
                <a:latin typeface="Calibri"/>
              </a:rPr>
              <a:t>Module 5 · Open Science Tools</a:t>
            </a:r>
          </a:p>
        </p:txBody>
      </p:sp>
      <p:sp>
        <p:nvSpPr>
          <p:cNvPr id="5" name="Rectangle 4"/>
          <p:cNvSpPr/>
          <p:nvPr/>
        </p:nvSpPr>
        <p:spPr>
          <a:xfrm>
            <a:off x="0" y="6419088"/>
            <a:ext cx="12191695" cy="17780"/>
          </a:xfrm>
          <a:prstGeom prst="rect">
            <a:avLst/>
          </a:prstGeom>
          <a:solidFill>
            <a:srgbClr val="A15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783080"/>
            <a:ext cx="10607040" cy="731520"/>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783080"/>
            <a:ext cx="640080" cy="731520"/>
          </a:xfrm>
          <a:prstGeom prst="rect">
            <a:avLst/>
          </a:prstGeom>
          <a:solidFill>
            <a:srgbClr val="A15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965960"/>
            <a:ext cx="640080" cy="365760"/>
          </a:xfrm>
          <a:prstGeom prst="rect">
            <a:avLst/>
          </a:prstGeom>
          <a:noFill/>
        </p:spPr>
        <p:txBody>
          <a:bodyPr wrap="square" anchor="ctr">
            <a:spAutoFit/>
          </a:bodyPr>
          <a:lstStyle/>
          <a:p>
            <a:pPr algn="ctr">
              <a:spcBef>
                <a:spcPts val="0"/>
              </a:spcBef>
              <a:spcAft>
                <a:spcPts val="600"/>
              </a:spcAft>
            </a:pPr>
            <a:r>
              <a:rPr sz="1500" b="1" i="0">
                <a:solidFill>
                  <a:srgbClr val="FFFFFF"/>
                </a:solidFill>
                <a:latin typeface="Calibri"/>
              </a:rPr>
              <a:t>L1</a:t>
            </a:r>
          </a:p>
        </p:txBody>
      </p:sp>
      <p:sp>
        <p:nvSpPr>
          <p:cNvPr id="9" name="TextBox 8"/>
          <p:cNvSpPr txBox="1"/>
          <p:nvPr/>
        </p:nvSpPr>
        <p:spPr>
          <a:xfrm>
            <a:off x="1371600" y="1856232"/>
            <a:ext cx="5394960" cy="594360"/>
          </a:xfrm>
          <a:prstGeom prst="rect">
            <a:avLst/>
          </a:prstGeom>
          <a:noFill/>
        </p:spPr>
        <p:txBody>
          <a:bodyPr wrap="square">
            <a:spAutoFit/>
          </a:bodyPr>
          <a:lstStyle/>
          <a:p>
            <a:pPr algn="l">
              <a:spcBef>
                <a:spcPts val="0"/>
              </a:spcBef>
              <a:spcAft>
                <a:spcPts val="100"/>
              </a:spcAft>
            </a:pPr>
            <a:r>
              <a:rPr sz="1450" b="1" i="0">
                <a:solidFill>
                  <a:srgbClr val="1B211D"/>
                </a:solidFill>
                <a:latin typeface="Calibri"/>
              </a:rPr>
              <a:t>Repositories &amp; Data Storage</a:t>
            </a:r>
          </a:p>
          <a:p>
            <a:pPr algn="l">
              <a:spcBef>
                <a:spcPts val="0"/>
              </a:spcBef>
              <a:spcAft>
                <a:spcPts val="600"/>
              </a:spcAft>
            </a:pPr>
            <a:r>
              <a:rPr sz="1250" b="0" i="0">
                <a:solidFill>
                  <a:srgbClr val="5B655F"/>
                </a:solidFill>
                <a:latin typeface="Calibri"/>
              </a:rPr>
              <a:t>Repository vs. archive — where things live</a:t>
            </a:r>
          </a:p>
        </p:txBody>
      </p:sp>
      <p:sp>
        <p:nvSpPr>
          <p:cNvPr id="10" name="Rounded Rectangle 9"/>
          <p:cNvSpPr/>
          <p:nvPr/>
        </p:nvSpPr>
        <p:spPr>
          <a:xfrm>
            <a:off x="8549640" y="1965960"/>
            <a:ext cx="2331720" cy="365760"/>
          </a:xfrm>
          <a:prstGeom prst="roundRect">
            <a:avLst>
              <a:gd name="adj" fmla="val 50000"/>
            </a:avLst>
          </a:prstGeom>
          <a:solidFill>
            <a:srgbClr val="A15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49640" y="1965960"/>
            <a:ext cx="2331720" cy="365760"/>
          </a:xfrm>
          <a:prstGeom prst="rect">
            <a:avLst/>
          </a:prstGeom>
          <a:noFill/>
        </p:spPr>
        <p:txBody>
          <a:bodyPr wrap="square" anchor="ctr">
            <a:spAutoFit/>
          </a:bodyPr>
          <a:lstStyle/>
          <a:p>
            <a:pPr algn="ctr">
              <a:spcBef>
                <a:spcPts val="0"/>
              </a:spcBef>
              <a:spcAft>
                <a:spcPts val="600"/>
              </a:spcAft>
            </a:pPr>
            <a:r>
              <a:rPr sz="1050" b="1" i="0">
                <a:solidFill>
                  <a:srgbClr val="FFFFFF"/>
                </a:solidFill>
                <a:latin typeface="Calibri"/>
              </a:rPr>
              <a:t>TODAY · DEEP DIVE</a:t>
            </a:r>
          </a:p>
        </p:txBody>
      </p:sp>
      <p:sp>
        <p:nvSpPr>
          <p:cNvPr id="12" name="Rounded Rectangle 11"/>
          <p:cNvSpPr/>
          <p:nvPr/>
        </p:nvSpPr>
        <p:spPr>
          <a:xfrm>
            <a:off x="548640" y="2624328"/>
            <a:ext cx="10607040" cy="731520"/>
          </a:xfrm>
          <a:prstGeom prst="roundRect">
            <a:avLst>
              <a:gd name="adj" fmla="val 10000"/>
            </a:avLst>
          </a:prstGeom>
          <a:solidFill>
            <a:srgbClr val="EFEC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624328"/>
            <a:ext cx="640080" cy="731520"/>
          </a:xfrm>
          <a:prstGeom prst="rect">
            <a:avLst/>
          </a:prstGeom>
          <a:solidFill>
            <a:srgbClr val="A15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2807208"/>
            <a:ext cx="640080" cy="365760"/>
          </a:xfrm>
          <a:prstGeom prst="rect">
            <a:avLst/>
          </a:prstGeom>
          <a:noFill/>
        </p:spPr>
        <p:txBody>
          <a:bodyPr wrap="square" anchor="ctr">
            <a:spAutoFit/>
          </a:bodyPr>
          <a:lstStyle/>
          <a:p>
            <a:pPr algn="ctr">
              <a:spcBef>
                <a:spcPts val="0"/>
              </a:spcBef>
              <a:spcAft>
                <a:spcPts val="600"/>
              </a:spcAft>
            </a:pPr>
            <a:r>
              <a:rPr sz="1500" b="1" i="0">
                <a:solidFill>
                  <a:srgbClr val="FFFFFF"/>
                </a:solidFill>
                <a:latin typeface="Calibri"/>
              </a:rPr>
              <a:t>L2</a:t>
            </a:r>
          </a:p>
        </p:txBody>
      </p:sp>
      <p:sp>
        <p:nvSpPr>
          <p:cNvPr id="15" name="TextBox 14"/>
          <p:cNvSpPr txBox="1"/>
          <p:nvPr/>
        </p:nvSpPr>
        <p:spPr>
          <a:xfrm>
            <a:off x="1371600" y="2697480"/>
            <a:ext cx="5394960" cy="594360"/>
          </a:xfrm>
          <a:prstGeom prst="rect">
            <a:avLst/>
          </a:prstGeom>
          <a:noFill/>
        </p:spPr>
        <p:txBody>
          <a:bodyPr wrap="square">
            <a:spAutoFit/>
          </a:bodyPr>
          <a:lstStyle/>
          <a:p>
            <a:pPr algn="l">
              <a:spcBef>
                <a:spcPts val="0"/>
              </a:spcBef>
              <a:spcAft>
                <a:spcPts val="100"/>
              </a:spcAft>
            </a:pPr>
            <a:r>
              <a:rPr sz="1450" b="1" i="0">
                <a:solidFill>
                  <a:srgbClr val="1B211D"/>
                </a:solidFill>
                <a:latin typeface="Calibri"/>
              </a:rPr>
              <a:t>Version Control &amp; Collaboration</a:t>
            </a:r>
          </a:p>
          <a:p>
            <a:pPr algn="l">
              <a:spcBef>
                <a:spcPts val="0"/>
              </a:spcBef>
              <a:spcAft>
                <a:spcPts val="600"/>
              </a:spcAft>
            </a:pPr>
            <a:r>
              <a:rPr sz="1250" b="0" i="0">
                <a:solidFill>
                  <a:srgbClr val="5B655F"/>
                </a:solidFill>
                <a:latin typeface="Calibri"/>
              </a:rPr>
              <a:t>Git basics + GitHub collaborative workflows</a:t>
            </a:r>
          </a:p>
        </p:txBody>
      </p:sp>
      <p:sp>
        <p:nvSpPr>
          <p:cNvPr id="16" name="Rounded Rectangle 15"/>
          <p:cNvSpPr/>
          <p:nvPr/>
        </p:nvSpPr>
        <p:spPr>
          <a:xfrm>
            <a:off x="8549640" y="2807208"/>
            <a:ext cx="2331720" cy="365760"/>
          </a:xfrm>
          <a:prstGeom prst="roundRect">
            <a:avLst>
              <a:gd name="adj" fmla="val 50000"/>
            </a:avLst>
          </a:prstGeom>
          <a:solidFill>
            <a:srgbClr val="C7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49640" y="2807208"/>
            <a:ext cx="2331720" cy="365760"/>
          </a:xfrm>
          <a:prstGeom prst="rect">
            <a:avLst/>
          </a:prstGeom>
          <a:noFill/>
        </p:spPr>
        <p:txBody>
          <a:bodyPr wrap="square" anchor="ctr">
            <a:spAutoFit/>
          </a:bodyPr>
          <a:lstStyle/>
          <a:p>
            <a:pPr algn="ctr">
              <a:spcBef>
                <a:spcPts val="0"/>
              </a:spcBef>
              <a:spcAft>
                <a:spcPts val="600"/>
              </a:spcAft>
            </a:pPr>
            <a:r>
              <a:rPr sz="1050" b="1" i="0">
                <a:solidFill>
                  <a:srgbClr val="1B211D"/>
                </a:solidFill>
                <a:latin typeface="Calibri"/>
              </a:rPr>
              <a:t>TODAY · QUICK HIT</a:t>
            </a:r>
          </a:p>
        </p:txBody>
      </p:sp>
      <p:sp>
        <p:nvSpPr>
          <p:cNvPr id="18" name="Rounded Rectangle 17"/>
          <p:cNvSpPr/>
          <p:nvPr/>
        </p:nvSpPr>
        <p:spPr>
          <a:xfrm>
            <a:off x="548640" y="3465576"/>
            <a:ext cx="10607040" cy="731520"/>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465576"/>
            <a:ext cx="640080" cy="731520"/>
          </a:xfrm>
          <a:prstGeom prst="rect">
            <a:avLst/>
          </a:prstGeom>
          <a:solidFill>
            <a:srgbClr val="A15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3648456"/>
            <a:ext cx="640080" cy="365760"/>
          </a:xfrm>
          <a:prstGeom prst="rect">
            <a:avLst/>
          </a:prstGeom>
          <a:noFill/>
        </p:spPr>
        <p:txBody>
          <a:bodyPr wrap="square" anchor="ctr">
            <a:spAutoFit/>
          </a:bodyPr>
          <a:lstStyle/>
          <a:p>
            <a:pPr algn="ctr">
              <a:spcBef>
                <a:spcPts val="0"/>
              </a:spcBef>
              <a:spcAft>
                <a:spcPts val="600"/>
              </a:spcAft>
            </a:pPr>
            <a:r>
              <a:rPr sz="1500" b="1" i="0">
                <a:solidFill>
                  <a:srgbClr val="FFFFFF"/>
                </a:solidFill>
                <a:latin typeface="Calibri"/>
              </a:rPr>
              <a:t>L3</a:t>
            </a:r>
          </a:p>
        </p:txBody>
      </p:sp>
      <p:sp>
        <p:nvSpPr>
          <p:cNvPr id="21" name="TextBox 20"/>
          <p:cNvSpPr txBox="1"/>
          <p:nvPr/>
        </p:nvSpPr>
        <p:spPr>
          <a:xfrm>
            <a:off x="1371600" y="3538728"/>
            <a:ext cx="5394960" cy="594360"/>
          </a:xfrm>
          <a:prstGeom prst="rect">
            <a:avLst/>
          </a:prstGeom>
          <a:noFill/>
        </p:spPr>
        <p:txBody>
          <a:bodyPr wrap="square">
            <a:spAutoFit/>
          </a:bodyPr>
          <a:lstStyle/>
          <a:p>
            <a:pPr algn="l">
              <a:spcBef>
                <a:spcPts val="0"/>
              </a:spcBef>
              <a:spcAft>
                <a:spcPts val="100"/>
              </a:spcAft>
            </a:pPr>
            <a:r>
              <a:rPr sz="1450" b="1" i="0">
                <a:solidFill>
                  <a:srgbClr val="1B211D"/>
                </a:solidFill>
                <a:latin typeface="Calibri"/>
              </a:rPr>
              <a:t>Getting DOIs &amp; ORCIDs</a:t>
            </a:r>
          </a:p>
          <a:p>
            <a:pPr algn="l">
              <a:spcBef>
                <a:spcPts val="0"/>
              </a:spcBef>
              <a:spcAft>
                <a:spcPts val="600"/>
              </a:spcAft>
            </a:pPr>
            <a:r>
              <a:rPr sz="1250" b="0" i="0">
                <a:solidFill>
                  <a:srgbClr val="5B655F"/>
                </a:solidFill>
                <a:latin typeface="Calibri"/>
              </a:rPr>
              <a:t>Step-by-step, done live in the room</a:t>
            </a:r>
          </a:p>
        </p:txBody>
      </p:sp>
      <p:sp>
        <p:nvSpPr>
          <p:cNvPr id="22" name="Rounded Rectangle 21"/>
          <p:cNvSpPr/>
          <p:nvPr/>
        </p:nvSpPr>
        <p:spPr>
          <a:xfrm>
            <a:off x="8549640" y="3648456"/>
            <a:ext cx="2331720" cy="365760"/>
          </a:xfrm>
          <a:prstGeom prst="roundRect">
            <a:avLst>
              <a:gd name="adj" fmla="val 50000"/>
            </a:avLst>
          </a:prstGeom>
          <a:solidFill>
            <a:srgbClr val="A15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49640" y="3648456"/>
            <a:ext cx="2331720" cy="365760"/>
          </a:xfrm>
          <a:prstGeom prst="rect">
            <a:avLst/>
          </a:prstGeom>
          <a:noFill/>
        </p:spPr>
        <p:txBody>
          <a:bodyPr wrap="square" anchor="ctr">
            <a:spAutoFit/>
          </a:bodyPr>
          <a:lstStyle/>
          <a:p>
            <a:pPr algn="ctr">
              <a:spcBef>
                <a:spcPts val="0"/>
              </a:spcBef>
              <a:spcAft>
                <a:spcPts val="600"/>
              </a:spcAft>
            </a:pPr>
            <a:r>
              <a:rPr sz="1050" b="1" i="0">
                <a:solidFill>
                  <a:srgbClr val="FFFFFF"/>
                </a:solidFill>
                <a:latin typeface="Calibri"/>
              </a:rPr>
              <a:t>TODAY · DEEP DIVE</a:t>
            </a:r>
          </a:p>
        </p:txBody>
      </p:sp>
      <p:sp>
        <p:nvSpPr>
          <p:cNvPr id="24" name="Rounded Rectangle 23"/>
          <p:cNvSpPr/>
          <p:nvPr/>
        </p:nvSpPr>
        <p:spPr>
          <a:xfrm>
            <a:off x="548640" y="4306824"/>
            <a:ext cx="10607040" cy="731520"/>
          </a:xfrm>
          <a:prstGeom prst="roundRect">
            <a:avLst>
              <a:gd name="adj" fmla="val 10000"/>
            </a:avLst>
          </a:prstGeom>
          <a:solidFill>
            <a:srgbClr val="EFEC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4306824"/>
            <a:ext cx="640080" cy="731520"/>
          </a:xfrm>
          <a:prstGeom prst="rect">
            <a:avLst/>
          </a:prstGeom>
          <a:solidFill>
            <a:srgbClr val="A15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8640" y="4489704"/>
            <a:ext cx="640080" cy="365760"/>
          </a:xfrm>
          <a:prstGeom prst="rect">
            <a:avLst/>
          </a:prstGeom>
          <a:noFill/>
        </p:spPr>
        <p:txBody>
          <a:bodyPr wrap="square" anchor="ctr">
            <a:spAutoFit/>
          </a:bodyPr>
          <a:lstStyle/>
          <a:p>
            <a:pPr algn="ctr">
              <a:spcBef>
                <a:spcPts val="0"/>
              </a:spcBef>
              <a:spcAft>
                <a:spcPts val="600"/>
              </a:spcAft>
            </a:pPr>
            <a:r>
              <a:rPr sz="1500" b="1" i="0">
                <a:solidFill>
                  <a:srgbClr val="FFFFFF"/>
                </a:solidFill>
                <a:latin typeface="Calibri"/>
              </a:rPr>
              <a:t>L4</a:t>
            </a:r>
          </a:p>
        </p:txBody>
      </p:sp>
      <p:sp>
        <p:nvSpPr>
          <p:cNvPr id="27" name="TextBox 26"/>
          <p:cNvSpPr txBox="1"/>
          <p:nvPr/>
        </p:nvSpPr>
        <p:spPr>
          <a:xfrm>
            <a:off x="1371600" y="4379976"/>
            <a:ext cx="5394960" cy="594360"/>
          </a:xfrm>
          <a:prstGeom prst="rect">
            <a:avLst/>
          </a:prstGeom>
          <a:noFill/>
        </p:spPr>
        <p:txBody>
          <a:bodyPr wrap="square">
            <a:spAutoFit/>
          </a:bodyPr>
          <a:lstStyle/>
          <a:p>
            <a:pPr algn="l">
              <a:spcBef>
                <a:spcPts val="0"/>
              </a:spcBef>
              <a:spcAft>
                <a:spcPts val="100"/>
              </a:spcAft>
            </a:pPr>
            <a:r>
              <a:rPr sz="1450" b="1" i="0">
                <a:solidFill>
                  <a:srgbClr val="1B211D"/>
                </a:solidFill>
                <a:latin typeface="Calibri"/>
              </a:rPr>
              <a:t>Open Science Software Ecosystems</a:t>
            </a:r>
          </a:p>
          <a:p>
            <a:pPr algn="l">
              <a:spcBef>
                <a:spcPts val="0"/>
              </a:spcBef>
              <a:spcAft>
                <a:spcPts val="600"/>
              </a:spcAft>
            </a:pPr>
            <a:r>
              <a:rPr sz="1250" b="0" i="0">
                <a:solidFill>
                  <a:srgbClr val="5B655F"/>
                </a:solidFill>
                <a:latin typeface="Calibri"/>
              </a:rPr>
              <a:t>Docs, computation &amp; preprint tool landscape</a:t>
            </a:r>
          </a:p>
        </p:txBody>
      </p:sp>
      <p:sp>
        <p:nvSpPr>
          <p:cNvPr id="28" name="Rounded Rectangle 27"/>
          <p:cNvSpPr/>
          <p:nvPr/>
        </p:nvSpPr>
        <p:spPr>
          <a:xfrm>
            <a:off x="8549640" y="4489704"/>
            <a:ext cx="2331720" cy="365760"/>
          </a:xfrm>
          <a:prstGeom prst="roundRect">
            <a:avLst>
              <a:gd name="adj" fmla="val 50000"/>
            </a:avLst>
          </a:prstGeom>
          <a:solidFill>
            <a:srgbClr val="C9C5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549640" y="4489704"/>
            <a:ext cx="2331720" cy="365760"/>
          </a:xfrm>
          <a:prstGeom prst="rect">
            <a:avLst/>
          </a:prstGeom>
          <a:noFill/>
        </p:spPr>
        <p:txBody>
          <a:bodyPr wrap="square" anchor="ctr">
            <a:spAutoFit/>
          </a:bodyPr>
          <a:lstStyle/>
          <a:p>
            <a:pPr algn="ctr">
              <a:spcBef>
                <a:spcPts val="0"/>
              </a:spcBef>
              <a:spcAft>
                <a:spcPts val="600"/>
              </a:spcAft>
            </a:pPr>
            <a:r>
              <a:rPr sz="1050" b="1" i="0">
                <a:solidFill>
                  <a:srgbClr val="1B211D"/>
                </a:solidFill>
                <a:latin typeface="Calibri"/>
              </a:rPr>
              <a:t>SELF-PACED FOLLOW-UP</a:t>
            </a:r>
          </a:p>
        </p:txBody>
      </p:sp>
      <p:sp>
        <p:nvSpPr>
          <p:cNvPr id="30" name="Rounded Rectangle 29"/>
          <p:cNvSpPr/>
          <p:nvPr/>
        </p:nvSpPr>
        <p:spPr>
          <a:xfrm>
            <a:off x="548640" y="5148072"/>
            <a:ext cx="10607040" cy="731520"/>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48640" y="5148072"/>
            <a:ext cx="640080" cy="731520"/>
          </a:xfrm>
          <a:prstGeom prst="rect">
            <a:avLst/>
          </a:prstGeom>
          <a:solidFill>
            <a:srgbClr val="A15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48640" y="5330952"/>
            <a:ext cx="640080" cy="365760"/>
          </a:xfrm>
          <a:prstGeom prst="rect">
            <a:avLst/>
          </a:prstGeom>
          <a:noFill/>
        </p:spPr>
        <p:txBody>
          <a:bodyPr wrap="square" anchor="ctr">
            <a:spAutoFit/>
          </a:bodyPr>
          <a:lstStyle/>
          <a:p>
            <a:pPr algn="ctr">
              <a:spcBef>
                <a:spcPts val="0"/>
              </a:spcBef>
              <a:spcAft>
                <a:spcPts val="600"/>
              </a:spcAft>
            </a:pPr>
            <a:r>
              <a:rPr sz="1500" b="1" i="0">
                <a:solidFill>
                  <a:srgbClr val="FFFFFF"/>
                </a:solidFill>
                <a:latin typeface="Calibri"/>
              </a:rPr>
              <a:t>L5</a:t>
            </a:r>
          </a:p>
        </p:txBody>
      </p:sp>
      <p:sp>
        <p:nvSpPr>
          <p:cNvPr id="33" name="TextBox 32"/>
          <p:cNvSpPr txBox="1"/>
          <p:nvPr/>
        </p:nvSpPr>
        <p:spPr>
          <a:xfrm>
            <a:off x="1371600" y="5221224"/>
            <a:ext cx="5394960" cy="594360"/>
          </a:xfrm>
          <a:prstGeom prst="rect">
            <a:avLst/>
          </a:prstGeom>
          <a:noFill/>
        </p:spPr>
        <p:txBody>
          <a:bodyPr wrap="square">
            <a:spAutoFit/>
          </a:bodyPr>
          <a:lstStyle/>
          <a:p>
            <a:pPr algn="l">
              <a:spcBef>
                <a:spcPts val="0"/>
              </a:spcBef>
              <a:spcAft>
                <a:spcPts val="100"/>
              </a:spcAft>
            </a:pPr>
            <a:r>
              <a:rPr sz="1450" b="1" i="0">
                <a:solidFill>
                  <a:srgbClr val="1B211D"/>
                </a:solidFill>
                <a:latin typeface="Calibri"/>
              </a:rPr>
              <a:t>Building Your Open Science Toolkit</a:t>
            </a:r>
          </a:p>
          <a:p>
            <a:pPr algn="l">
              <a:spcBef>
                <a:spcPts val="0"/>
              </a:spcBef>
              <a:spcAft>
                <a:spcPts val="600"/>
              </a:spcAft>
            </a:pPr>
            <a:r>
              <a:rPr sz="1250" b="0" i="0">
                <a:solidFill>
                  <a:srgbClr val="5B655F"/>
                </a:solidFill>
                <a:latin typeface="Calibri"/>
              </a:rPr>
              <a:t>Checklist, prioritized by adoption stage</a:t>
            </a:r>
          </a:p>
        </p:txBody>
      </p:sp>
      <p:sp>
        <p:nvSpPr>
          <p:cNvPr id="34" name="Rounded Rectangle 33"/>
          <p:cNvSpPr/>
          <p:nvPr/>
        </p:nvSpPr>
        <p:spPr>
          <a:xfrm>
            <a:off x="8549640" y="5330952"/>
            <a:ext cx="2331720" cy="365760"/>
          </a:xfrm>
          <a:prstGeom prst="roundRect">
            <a:avLst>
              <a:gd name="adj" fmla="val 50000"/>
            </a:avLst>
          </a:prstGeom>
          <a:solidFill>
            <a:srgbClr val="A15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549640" y="5330952"/>
            <a:ext cx="2331720" cy="365760"/>
          </a:xfrm>
          <a:prstGeom prst="rect">
            <a:avLst/>
          </a:prstGeom>
          <a:noFill/>
        </p:spPr>
        <p:txBody>
          <a:bodyPr wrap="square" anchor="ctr">
            <a:spAutoFit/>
          </a:bodyPr>
          <a:lstStyle/>
          <a:p>
            <a:pPr algn="ctr">
              <a:spcBef>
                <a:spcPts val="0"/>
              </a:spcBef>
              <a:spcAft>
                <a:spcPts val="600"/>
              </a:spcAft>
            </a:pPr>
            <a:r>
              <a:rPr sz="1050" b="1" i="0">
                <a:solidFill>
                  <a:srgbClr val="FFFFFF"/>
                </a:solidFill>
                <a:latin typeface="Calibri"/>
              </a:rPr>
              <a:t>TODAY · DEEP DIVE</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7F5EE"/>
        </a:solidFill>
        <a:effectLst/>
      </p:bgPr>
    </p:bg>
    <p:spTree>
      <p:nvGrpSpPr>
        <p:cNvPr id="1" name=""/>
        <p:cNvGrpSpPr/>
        <p:nvPr/>
      </p:nvGrpSpPr>
      <p:grpSpPr/>
      <p:sp>
        <p:nvSpPr>
          <p:cNvPr id="2" name="TextBox 1"/>
          <p:cNvSpPr txBox="1"/>
          <p:nvPr/>
        </p:nvSpPr>
        <p:spPr>
          <a:xfrm>
            <a:off x="548640" y="411480"/>
            <a:ext cx="7315200" cy="365760"/>
          </a:xfrm>
          <a:prstGeom prst="rect">
            <a:avLst/>
          </a:prstGeom>
          <a:noFill/>
        </p:spPr>
        <p:txBody>
          <a:bodyPr wrap="square">
            <a:spAutoFit/>
          </a:bodyPr>
          <a:lstStyle/>
          <a:p>
            <a:pPr algn="l">
              <a:spcBef>
                <a:spcPts val="0"/>
              </a:spcBef>
              <a:spcAft>
                <a:spcPts val="600"/>
              </a:spcAft>
            </a:pPr>
            <a:r>
              <a:rPr sz="1300" b="1" i="0" spc="120">
                <a:solidFill>
                  <a:srgbClr val="A15A00"/>
                </a:solidFill>
                <a:latin typeface="Calibri"/>
              </a:rPr>
              <a:t>1.2–1.5 · REPOSITORIES</a:t>
            </a:r>
          </a:p>
        </p:txBody>
      </p:sp>
      <p:sp>
        <p:nvSpPr>
          <p:cNvPr id="3" name="TextBox 2"/>
          <p:cNvSpPr txBox="1"/>
          <p:nvPr/>
        </p:nvSpPr>
        <p:spPr>
          <a:xfrm>
            <a:off x="548640" y="777240"/>
            <a:ext cx="10789920" cy="822960"/>
          </a:xfrm>
          <a:prstGeom prst="rect">
            <a:avLst/>
          </a:prstGeom>
          <a:noFill/>
        </p:spPr>
        <p:txBody>
          <a:bodyPr wrap="square">
            <a:spAutoFit/>
          </a:bodyPr>
          <a:lstStyle/>
          <a:p>
            <a:pPr algn="l">
              <a:spcBef>
                <a:spcPts val="0"/>
              </a:spcBef>
              <a:spcAft>
                <a:spcPts val="600"/>
              </a:spcAft>
            </a:pPr>
            <a:r>
              <a:rPr sz="3000" b="1" i="0">
                <a:solidFill>
                  <a:srgbClr val="1B211D"/>
                </a:solidFill>
                <a:latin typeface="Georgia"/>
              </a:rPr>
              <a:t>Where things live</a:t>
            </a:r>
          </a:p>
        </p:txBody>
      </p:sp>
      <p:sp>
        <p:nvSpPr>
          <p:cNvPr id="4" name="TextBox 3"/>
          <p:cNvSpPr txBox="1"/>
          <p:nvPr/>
        </p:nvSpPr>
        <p:spPr>
          <a:xfrm>
            <a:off x="548640" y="6473952"/>
            <a:ext cx="8229600" cy="320040"/>
          </a:xfrm>
          <a:prstGeom prst="rect">
            <a:avLst/>
          </a:prstGeom>
          <a:noFill/>
        </p:spPr>
        <p:txBody>
          <a:bodyPr wrap="square">
            <a:spAutoFit/>
          </a:bodyPr>
          <a:lstStyle/>
          <a:p>
            <a:pPr algn="l">
              <a:spcBef>
                <a:spcPts val="0"/>
              </a:spcBef>
              <a:spcAft>
                <a:spcPts val="600"/>
              </a:spcAft>
            </a:pPr>
            <a:r>
              <a:rPr sz="1000" b="0" i="0">
                <a:solidFill>
                  <a:srgbClr val="5B655F"/>
                </a:solidFill>
                <a:latin typeface="Calibri"/>
              </a:rPr>
              <a:t>Module 5 · Open Science Tools</a:t>
            </a:r>
          </a:p>
        </p:txBody>
      </p:sp>
      <p:sp>
        <p:nvSpPr>
          <p:cNvPr id="5" name="Rectangle 4"/>
          <p:cNvSpPr/>
          <p:nvPr/>
        </p:nvSpPr>
        <p:spPr>
          <a:xfrm>
            <a:off x="0" y="6419088"/>
            <a:ext cx="12191695" cy="17780"/>
          </a:xfrm>
          <a:prstGeom prst="rect">
            <a:avLst/>
          </a:prstGeom>
          <a:solidFill>
            <a:srgbClr val="A15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783080"/>
            <a:ext cx="10607040" cy="777240"/>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783080"/>
            <a:ext cx="2377440" cy="777240"/>
          </a:xfrm>
          <a:prstGeom prst="rect">
            <a:avLst/>
          </a:prstGeom>
          <a:solidFill>
            <a:srgbClr val="A15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984248"/>
            <a:ext cx="2011680" cy="457200"/>
          </a:xfrm>
          <a:prstGeom prst="rect">
            <a:avLst/>
          </a:prstGeom>
          <a:noFill/>
        </p:spPr>
        <p:txBody>
          <a:bodyPr wrap="square" anchor="ctr">
            <a:spAutoFit/>
          </a:bodyPr>
          <a:lstStyle/>
          <a:p>
            <a:pPr algn="l">
              <a:spcBef>
                <a:spcPts val="0"/>
              </a:spcBef>
              <a:spcAft>
                <a:spcPts val="600"/>
              </a:spcAft>
            </a:pPr>
            <a:r>
              <a:rPr sz="1500" b="1" i="0">
                <a:solidFill>
                  <a:srgbClr val="FFFFFF"/>
                </a:solidFill>
                <a:latin typeface="Calibri"/>
              </a:rPr>
              <a:t>Data</a:t>
            </a:r>
          </a:p>
        </p:txBody>
      </p:sp>
      <p:sp>
        <p:nvSpPr>
          <p:cNvPr id="9" name="TextBox 8"/>
          <p:cNvSpPr txBox="1"/>
          <p:nvPr/>
        </p:nvSpPr>
        <p:spPr>
          <a:xfrm>
            <a:off x="3108960" y="1783080"/>
            <a:ext cx="7863840" cy="777240"/>
          </a:xfrm>
          <a:prstGeom prst="rect">
            <a:avLst/>
          </a:prstGeom>
          <a:noFill/>
        </p:spPr>
        <p:txBody>
          <a:bodyPr wrap="square" anchor="ctr">
            <a:spAutoFit/>
          </a:bodyPr>
          <a:lstStyle/>
          <a:p>
            <a:pPr algn="l">
              <a:spcBef>
                <a:spcPts val="0"/>
              </a:spcBef>
              <a:spcAft>
                <a:spcPts val="600"/>
              </a:spcAft>
            </a:pPr>
            <a:r>
              <a:rPr sz="1500" b="0" i="0">
                <a:solidFill>
                  <a:srgbClr val="1B211D"/>
                </a:solidFill>
                <a:latin typeface="Calibri"/>
              </a:rPr>
              <a:t>Zenodo, Dryad, Dataverse, discipline repos (GenBank, ICPSR...)</a:t>
            </a:r>
          </a:p>
        </p:txBody>
      </p:sp>
      <p:sp>
        <p:nvSpPr>
          <p:cNvPr id="10" name="Rounded Rectangle 9"/>
          <p:cNvSpPr/>
          <p:nvPr/>
        </p:nvSpPr>
        <p:spPr>
          <a:xfrm>
            <a:off x="548640" y="2715768"/>
            <a:ext cx="10607040" cy="777240"/>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2715768"/>
            <a:ext cx="2377440" cy="777240"/>
          </a:xfrm>
          <a:prstGeom prst="rect">
            <a:avLst/>
          </a:prstGeom>
          <a:solidFill>
            <a:srgbClr val="A15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2916936"/>
            <a:ext cx="2011680" cy="457200"/>
          </a:xfrm>
          <a:prstGeom prst="rect">
            <a:avLst/>
          </a:prstGeom>
          <a:noFill/>
        </p:spPr>
        <p:txBody>
          <a:bodyPr wrap="square" anchor="ctr">
            <a:spAutoFit/>
          </a:bodyPr>
          <a:lstStyle/>
          <a:p>
            <a:pPr algn="l">
              <a:spcBef>
                <a:spcPts val="0"/>
              </a:spcBef>
              <a:spcAft>
                <a:spcPts val="600"/>
              </a:spcAft>
            </a:pPr>
            <a:r>
              <a:rPr sz="1500" b="1" i="0">
                <a:solidFill>
                  <a:srgbClr val="FFFFFF"/>
                </a:solidFill>
                <a:latin typeface="Calibri"/>
              </a:rPr>
              <a:t>Code</a:t>
            </a:r>
          </a:p>
        </p:txBody>
      </p:sp>
      <p:sp>
        <p:nvSpPr>
          <p:cNvPr id="13" name="TextBox 12"/>
          <p:cNvSpPr txBox="1"/>
          <p:nvPr/>
        </p:nvSpPr>
        <p:spPr>
          <a:xfrm>
            <a:off x="3108960" y="2715768"/>
            <a:ext cx="7863840" cy="777240"/>
          </a:xfrm>
          <a:prstGeom prst="rect">
            <a:avLst/>
          </a:prstGeom>
          <a:noFill/>
        </p:spPr>
        <p:txBody>
          <a:bodyPr wrap="square" anchor="ctr">
            <a:spAutoFit/>
          </a:bodyPr>
          <a:lstStyle/>
          <a:p>
            <a:pPr algn="l">
              <a:spcBef>
                <a:spcPts val="0"/>
              </a:spcBef>
              <a:spcAft>
                <a:spcPts val="600"/>
              </a:spcAft>
            </a:pPr>
            <a:r>
              <a:rPr sz="1500" b="0" i="0">
                <a:solidFill>
                  <a:srgbClr val="1B211D"/>
                </a:solidFill>
                <a:latin typeface="Calibri"/>
              </a:rPr>
              <a:t>GitHub / GitLab for development; Zenodo/Software Heritage to archive</a:t>
            </a:r>
          </a:p>
        </p:txBody>
      </p:sp>
      <p:sp>
        <p:nvSpPr>
          <p:cNvPr id="14" name="Rounded Rectangle 13"/>
          <p:cNvSpPr/>
          <p:nvPr/>
        </p:nvSpPr>
        <p:spPr>
          <a:xfrm>
            <a:off x="548640" y="3648456"/>
            <a:ext cx="10607040" cy="777240"/>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648456"/>
            <a:ext cx="2377440" cy="777240"/>
          </a:xfrm>
          <a:prstGeom prst="rect">
            <a:avLst/>
          </a:prstGeom>
          <a:solidFill>
            <a:srgbClr val="A15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3849624"/>
            <a:ext cx="2011680" cy="457200"/>
          </a:xfrm>
          <a:prstGeom prst="rect">
            <a:avLst/>
          </a:prstGeom>
          <a:noFill/>
        </p:spPr>
        <p:txBody>
          <a:bodyPr wrap="square" anchor="ctr">
            <a:spAutoFit/>
          </a:bodyPr>
          <a:lstStyle/>
          <a:p>
            <a:pPr algn="l">
              <a:spcBef>
                <a:spcPts val="0"/>
              </a:spcBef>
              <a:spcAft>
                <a:spcPts val="600"/>
              </a:spcAft>
            </a:pPr>
            <a:r>
              <a:rPr sz="1500" b="1" i="0">
                <a:solidFill>
                  <a:srgbClr val="FFFFFF"/>
                </a:solidFill>
                <a:latin typeface="Calibri"/>
              </a:rPr>
              <a:t>Results / preprints</a:t>
            </a:r>
          </a:p>
        </p:txBody>
      </p:sp>
      <p:sp>
        <p:nvSpPr>
          <p:cNvPr id="17" name="TextBox 16"/>
          <p:cNvSpPr txBox="1"/>
          <p:nvPr/>
        </p:nvSpPr>
        <p:spPr>
          <a:xfrm>
            <a:off x="3108960" y="3648456"/>
            <a:ext cx="7863840" cy="777240"/>
          </a:xfrm>
          <a:prstGeom prst="rect">
            <a:avLst/>
          </a:prstGeom>
          <a:noFill/>
        </p:spPr>
        <p:txBody>
          <a:bodyPr wrap="square" anchor="ctr">
            <a:spAutoFit/>
          </a:bodyPr>
          <a:lstStyle/>
          <a:p>
            <a:pPr algn="l">
              <a:spcBef>
                <a:spcPts val="0"/>
              </a:spcBef>
              <a:spcAft>
                <a:spcPts val="600"/>
              </a:spcAft>
            </a:pPr>
            <a:r>
              <a:rPr sz="1500" b="0" i="0">
                <a:solidFill>
                  <a:srgbClr val="1B211D"/>
                </a:solidFill>
                <a:latin typeface="Calibri"/>
              </a:rPr>
              <a:t>arXiv, bioRxiv, medRxiv, OSF Preprints</a:t>
            </a:r>
          </a:p>
        </p:txBody>
      </p:sp>
      <p:sp>
        <p:nvSpPr>
          <p:cNvPr id="18" name="Rounded Rectangle 17"/>
          <p:cNvSpPr/>
          <p:nvPr/>
        </p:nvSpPr>
        <p:spPr>
          <a:xfrm>
            <a:off x="548640" y="4581144"/>
            <a:ext cx="10607040" cy="777240"/>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4581144"/>
            <a:ext cx="2377440" cy="777240"/>
          </a:xfrm>
          <a:prstGeom prst="rect">
            <a:avLst/>
          </a:prstGeom>
          <a:solidFill>
            <a:srgbClr val="A15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4782312"/>
            <a:ext cx="2011680" cy="457200"/>
          </a:xfrm>
          <a:prstGeom prst="rect">
            <a:avLst/>
          </a:prstGeom>
          <a:noFill/>
        </p:spPr>
        <p:txBody>
          <a:bodyPr wrap="square" anchor="ctr">
            <a:spAutoFit/>
          </a:bodyPr>
          <a:lstStyle/>
          <a:p>
            <a:pPr algn="l">
              <a:spcBef>
                <a:spcPts val="0"/>
              </a:spcBef>
              <a:spcAft>
                <a:spcPts val="600"/>
              </a:spcAft>
            </a:pPr>
            <a:r>
              <a:rPr sz="1500" b="1" i="0">
                <a:solidFill>
                  <a:srgbClr val="FFFFFF"/>
                </a:solidFill>
                <a:latin typeface="Calibri"/>
              </a:rPr>
              <a:t>Everything, one DOI</a:t>
            </a:r>
          </a:p>
        </p:txBody>
      </p:sp>
      <p:sp>
        <p:nvSpPr>
          <p:cNvPr id="21" name="TextBox 20"/>
          <p:cNvSpPr txBox="1"/>
          <p:nvPr/>
        </p:nvSpPr>
        <p:spPr>
          <a:xfrm>
            <a:off x="3108960" y="4581144"/>
            <a:ext cx="7863840" cy="777240"/>
          </a:xfrm>
          <a:prstGeom prst="rect">
            <a:avLst/>
          </a:prstGeom>
          <a:noFill/>
        </p:spPr>
        <p:txBody>
          <a:bodyPr wrap="square" anchor="ctr">
            <a:spAutoFit/>
          </a:bodyPr>
          <a:lstStyle/>
          <a:p>
            <a:pPr algn="l">
              <a:spcBef>
                <a:spcPts val="0"/>
              </a:spcBef>
              <a:spcAft>
                <a:spcPts val="600"/>
              </a:spcAft>
            </a:pPr>
            <a:r>
              <a:rPr sz="1500" b="0" i="0">
                <a:solidFill>
                  <a:srgbClr val="1B211D"/>
                </a:solidFill>
                <a:latin typeface="Calibri"/>
              </a:rPr>
              <a:t>Zenodo — connects to GitHub, issues a DOI per release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7F5EE"/>
        </a:solidFill>
        <a:effectLst/>
      </p:bgPr>
    </p:bg>
    <p:spTree>
      <p:nvGrpSpPr>
        <p:cNvPr id="1" name=""/>
        <p:cNvGrpSpPr/>
        <p:nvPr/>
      </p:nvGrpSpPr>
      <p:grpSpPr/>
      <p:sp>
        <p:nvSpPr>
          <p:cNvPr id="2" name="TextBox 1"/>
          <p:cNvSpPr txBox="1"/>
          <p:nvPr/>
        </p:nvSpPr>
        <p:spPr>
          <a:xfrm>
            <a:off x="548640" y="411480"/>
            <a:ext cx="7315200" cy="365760"/>
          </a:xfrm>
          <a:prstGeom prst="rect">
            <a:avLst/>
          </a:prstGeom>
          <a:noFill/>
        </p:spPr>
        <p:txBody>
          <a:bodyPr wrap="square">
            <a:spAutoFit/>
          </a:bodyPr>
          <a:lstStyle/>
          <a:p>
            <a:pPr algn="l">
              <a:spcBef>
                <a:spcPts val="0"/>
              </a:spcBef>
              <a:spcAft>
                <a:spcPts val="600"/>
              </a:spcAft>
            </a:pPr>
            <a:r>
              <a:rPr sz="1300" b="1" i="0" spc="120">
                <a:solidFill>
                  <a:srgbClr val="A15A00"/>
                </a:solidFill>
                <a:latin typeface="Calibri"/>
              </a:rPr>
              <a:t>2.1–2.5 · LIGHTNING ROUND</a:t>
            </a:r>
          </a:p>
        </p:txBody>
      </p:sp>
      <p:sp>
        <p:nvSpPr>
          <p:cNvPr id="3" name="TextBox 2"/>
          <p:cNvSpPr txBox="1"/>
          <p:nvPr/>
        </p:nvSpPr>
        <p:spPr>
          <a:xfrm>
            <a:off x="548640" y="777240"/>
            <a:ext cx="10789920" cy="822960"/>
          </a:xfrm>
          <a:prstGeom prst="rect">
            <a:avLst/>
          </a:prstGeom>
          <a:noFill/>
        </p:spPr>
        <p:txBody>
          <a:bodyPr wrap="square">
            <a:spAutoFit/>
          </a:bodyPr>
          <a:lstStyle/>
          <a:p>
            <a:pPr algn="l">
              <a:spcBef>
                <a:spcPts val="0"/>
              </a:spcBef>
              <a:spcAft>
                <a:spcPts val="600"/>
              </a:spcAft>
            </a:pPr>
            <a:r>
              <a:rPr sz="3000" b="1" i="0">
                <a:solidFill>
                  <a:srgbClr val="1B211D"/>
                </a:solidFill>
                <a:latin typeface="Georgia"/>
              </a:rPr>
              <a:t>L2 — Version control basics</a:t>
            </a:r>
          </a:p>
        </p:txBody>
      </p:sp>
      <p:sp>
        <p:nvSpPr>
          <p:cNvPr id="4" name="TextBox 3"/>
          <p:cNvSpPr txBox="1"/>
          <p:nvPr/>
        </p:nvSpPr>
        <p:spPr>
          <a:xfrm>
            <a:off x="548640" y="6473952"/>
            <a:ext cx="8229600" cy="320040"/>
          </a:xfrm>
          <a:prstGeom prst="rect">
            <a:avLst/>
          </a:prstGeom>
          <a:noFill/>
        </p:spPr>
        <p:txBody>
          <a:bodyPr wrap="square">
            <a:spAutoFit/>
          </a:bodyPr>
          <a:lstStyle/>
          <a:p>
            <a:pPr algn="l">
              <a:spcBef>
                <a:spcPts val="0"/>
              </a:spcBef>
              <a:spcAft>
                <a:spcPts val="600"/>
              </a:spcAft>
            </a:pPr>
            <a:r>
              <a:rPr sz="1000" b="0" i="0">
                <a:solidFill>
                  <a:srgbClr val="5B655F"/>
                </a:solidFill>
                <a:latin typeface="Calibri"/>
              </a:rPr>
              <a:t>Module 5 · Open Science Tools</a:t>
            </a:r>
          </a:p>
        </p:txBody>
      </p:sp>
      <p:sp>
        <p:nvSpPr>
          <p:cNvPr id="5" name="Rectangle 4"/>
          <p:cNvSpPr/>
          <p:nvPr/>
        </p:nvSpPr>
        <p:spPr>
          <a:xfrm>
            <a:off x="0" y="6419088"/>
            <a:ext cx="12191695" cy="17780"/>
          </a:xfrm>
          <a:prstGeom prst="rect">
            <a:avLst/>
          </a:prstGeom>
          <a:solidFill>
            <a:srgbClr val="A15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645920"/>
            <a:ext cx="5120640" cy="4297680"/>
          </a:xfrm>
          <a:prstGeom prst="rect">
            <a:avLst/>
          </a:prstGeom>
          <a:noFill/>
        </p:spPr>
        <p:txBody>
          <a:bodyPr wrap="square">
            <a:spAutoFit/>
          </a:bodyPr>
          <a:lstStyle/>
          <a:p>
            <a:pPr algn="l">
              <a:lnSpc>
                <a:spcPct val="108000"/>
              </a:lnSpc>
              <a:spcBef>
                <a:spcPts val="0"/>
              </a:spcBef>
              <a:spcAft>
                <a:spcPts val="1300"/>
              </a:spcAft>
            </a:pPr>
            <a:r>
              <a:rPr sz="1300" b="1" i="0">
                <a:solidFill>
                  <a:srgbClr val="A15A00"/>
                </a:solidFill>
                <a:latin typeface="Calibri"/>
              </a:rPr>
              <a:t>WHY IT MATTERS FOR RESEARCH</a:t>
            </a:r>
            <a:r>
              <a:rPr sz="1400" b="0" i="0">
                <a:solidFill>
                  <a:srgbClr val="1B211D"/>
                </a:solidFill>
                <a:latin typeface="Calibri"/>
              </a:rPr>
              <a:t>•  Every change tracked: who, what, when, why</a:t>
            </a:r>
          </a:p>
          <a:p>
            <a:pPr>
              <a:lnSpc>
                <a:spcPct val="108000"/>
              </a:lnSpc>
              <a:spcAft>
                <a:spcPts val="1300"/>
              </a:spcAft>
            </a:pPr>
            <a:r>
              <a:rPr sz="1400" b="0" i="0">
                <a:solidFill>
                  <a:srgbClr val="1B211D"/>
                </a:solidFill>
                <a:latin typeface="Calibri"/>
              </a:rPr>
              <a:t>•  Revert instantly if something breaks or a result needs exact reproduction</a:t>
            </a:r>
          </a:p>
          <a:p>
            <a:pPr>
              <a:lnSpc>
                <a:spcPct val="108000"/>
              </a:lnSpc>
              <a:spcAft>
                <a:spcPts val="1300"/>
              </a:spcAft>
            </a:pPr>
            <a:r>
              <a:rPr sz="1400" b="0" i="0">
                <a:solidFill>
                  <a:srgbClr val="1B211D"/>
                </a:solidFill>
                <a:latin typeface="Calibri"/>
              </a:rPr>
              <a:t>•  Multiple people work in parallel, then merge</a:t>
            </a:r>
          </a:p>
          <a:p>
            <a:pPr>
              <a:lnSpc>
                <a:spcPct val="108000"/>
              </a:lnSpc>
              <a:spcAft>
                <a:spcPts val="1300"/>
              </a:spcAft>
            </a:pPr>
            <a:r>
              <a:rPr sz="1400" b="0" i="0">
                <a:solidFill>
                  <a:srgbClr val="1B211D"/>
                </a:solidFill>
                <a:latin typeface="Calibri"/>
              </a:rPr>
              <a:t>•  Git (distributed) is the modern standard over older centralized systems (SVN)</a:t>
            </a:r>
          </a:p>
        </p:txBody>
      </p:sp>
      <p:sp>
        <p:nvSpPr>
          <p:cNvPr id="7" name="TextBox 6"/>
          <p:cNvSpPr txBox="1"/>
          <p:nvPr/>
        </p:nvSpPr>
        <p:spPr>
          <a:xfrm>
            <a:off x="5943600" y="1645920"/>
            <a:ext cx="5394960" cy="4297680"/>
          </a:xfrm>
          <a:prstGeom prst="rect">
            <a:avLst/>
          </a:prstGeom>
          <a:noFill/>
        </p:spPr>
        <p:txBody>
          <a:bodyPr wrap="square">
            <a:spAutoFit/>
          </a:bodyPr>
          <a:lstStyle/>
          <a:p>
            <a:pPr algn="l">
              <a:lnSpc>
                <a:spcPct val="108000"/>
              </a:lnSpc>
              <a:spcBef>
                <a:spcPts val="0"/>
              </a:spcBef>
              <a:spcAft>
                <a:spcPts val="1300"/>
              </a:spcAft>
            </a:pPr>
            <a:r>
              <a:rPr sz="1300" b="1" i="0">
                <a:solidFill>
                  <a:srgbClr val="A15A00"/>
                </a:solidFill>
                <a:latin typeface="Calibri"/>
              </a:rPr>
              <a:t>THE BASIC WORKFLOW</a:t>
            </a:r>
            <a:r>
              <a:rPr sz="1400" b="0" i="0">
                <a:solidFill>
                  <a:srgbClr val="1B211D"/>
                </a:solidFill>
                <a:latin typeface="Calibri"/>
              </a:rPr>
              <a:t>•  Commit — a snapshot, with a message explaining why, not what</a:t>
            </a:r>
          </a:p>
          <a:p>
            <a:pPr>
              <a:lnSpc>
                <a:spcPct val="108000"/>
              </a:lnSpc>
              <a:spcAft>
                <a:spcPts val="1300"/>
              </a:spcAft>
            </a:pPr>
            <a:r>
              <a:rPr sz="1400" b="0" i="0">
                <a:solidFill>
                  <a:srgbClr val="1B211D"/>
                </a:solidFill>
                <a:latin typeface="Calibri"/>
              </a:rPr>
              <a:t>•  Branch — an independent line of work off the main version</a:t>
            </a:r>
          </a:p>
          <a:p>
            <a:pPr>
              <a:lnSpc>
                <a:spcPct val="108000"/>
              </a:lnSpc>
              <a:spcAft>
                <a:spcPts val="1300"/>
              </a:spcAft>
            </a:pPr>
            <a:r>
              <a:rPr sz="1400" b="0" i="0">
                <a:solidFill>
                  <a:srgbClr val="1B211D"/>
                </a:solidFill>
                <a:latin typeface="Calibri"/>
              </a:rPr>
              <a:t>•  Pull request — propose a merge, get reviewed, catch errors before they hit the paper</a:t>
            </a:r>
          </a:p>
          <a:p>
            <a:pPr>
              <a:lnSpc>
                <a:spcPct val="108000"/>
              </a:lnSpc>
              <a:spcAft>
                <a:spcPts val="1300"/>
              </a:spcAft>
            </a:pPr>
            <a:r>
              <a:rPr sz="1400" b="0" i="0">
                <a:solidFill>
                  <a:srgbClr val="1B211D"/>
                </a:solidFill>
                <a:latin typeface="Calibri"/>
              </a:rPr>
              <a:t>•  Never commit passwords, keys, or raw data — use .gitignore</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7F5EE"/>
        </a:solidFill>
        <a:effectLst/>
      </p:bgPr>
    </p:bg>
    <p:spTree>
      <p:nvGrpSpPr>
        <p:cNvPr id="1" name=""/>
        <p:cNvGrpSpPr/>
        <p:nvPr/>
      </p:nvGrpSpPr>
      <p:grpSpPr/>
      <p:sp>
        <p:nvSpPr>
          <p:cNvPr id="2" name="TextBox 1"/>
          <p:cNvSpPr txBox="1"/>
          <p:nvPr/>
        </p:nvSpPr>
        <p:spPr>
          <a:xfrm>
            <a:off x="548640" y="411480"/>
            <a:ext cx="7315200" cy="365760"/>
          </a:xfrm>
          <a:prstGeom prst="rect">
            <a:avLst/>
          </a:prstGeom>
          <a:noFill/>
        </p:spPr>
        <p:txBody>
          <a:bodyPr wrap="square">
            <a:spAutoFit/>
          </a:bodyPr>
          <a:lstStyle/>
          <a:p>
            <a:pPr algn="l">
              <a:spcBef>
                <a:spcPts val="0"/>
              </a:spcBef>
              <a:spcAft>
                <a:spcPts val="600"/>
              </a:spcAft>
            </a:pPr>
            <a:r>
              <a:rPr sz="1300" b="1" i="0" spc="120">
                <a:solidFill>
                  <a:srgbClr val="A15A00"/>
                </a:solidFill>
                <a:latin typeface="Calibri"/>
              </a:rPr>
              <a:t>3.1–3.2 · GET CREDIT</a:t>
            </a:r>
          </a:p>
        </p:txBody>
      </p:sp>
      <p:sp>
        <p:nvSpPr>
          <p:cNvPr id="3" name="TextBox 2"/>
          <p:cNvSpPr txBox="1"/>
          <p:nvPr/>
        </p:nvSpPr>
        <p:spPr>
          <a:xfrm>
            <a:off x="548640" y="777240"/>
            <a:ext cx="10789920" cy="822960"/>
          </a:xfrm>
          <a:prstGeom prst="rect">
            <a:avLst/>
          </a:prstGeom>
          <a:noFill/>
        </p:spPr>
        <p:txBody>
          <a:bodyPr wrap="square">
            <a:spAutoFit/>
          </a:bodyPr>
          <a:lstStyle/>
          <a:p>
            <a:pPr algn="l">
              <a:spcBef>
                <a:spcPts val="0"/>
              </a:spcBef>
              <a:spcAft>
                <a:spcPts val="600"/>
              </a:spcAft>
            </a:pPr>
            <a:r>
              <a:rPr sz="3000" b="1" i="0">
                <a:solidFill>
                  <a:srgbClr val="1B211D"/>
                </a:solidFill>
                <a:latin typeface="Georgia"/>
              </a:rPr>
              <a:t>DOI + ORCID: do this today</a:t>
            </a:r>
          </a:p>
        </p:txBody>
      </p:sp>
      <p:sp>
        <p:nvSpPr>
          <p:cNvPr id="4" name="TextBox 3"/>
          <p:cNvSpPr txBox="1"/>
          <p:nvPr/>
        </p:nvSpPr>
        <p:spPr>
          <a:xfrm>
            <a:off x="548640" y="6473952"/>
            <a:ext cx="8229600" cy="320040"/>
          </a:xfrm>
          <a:prstGeom prst="rect">
            <a:avLst/>
          </a:prstGeom>
          <a:noFill/>
        </p:spPr>
        <p:txBody>
          <a:bodyPr wrap="square">
            <a:spAutoFit/>
          </a:bodyPr>
          <a:lstStyle/>
          <a:p>
            <a:pPr algn="l">
              <a:spcBef>
                <a:spcPts val="0"/>
              </a:spcBef>
              <a:spcAft>
                <a:spcPts val="600"/>
              </a:spcAft>
            </a:pPr>
            <a:r>
              <a:rPr sz="1000" b="0" i="0">
                <a:solidFill>
                  <a:srgbClr val="5B655F"/>
                </a:solidFill>
                <a:latin typeface="Calibri"/>
              </a:rPr>
              <a:t>Module 5 · Open Science Tools</a:t>
            </a:r>
          </a:p>
        </p:txBody>
      </p:sp>
      <p:sp>
        <p:nvSpPr>
          <p:cNvPr id="5" name="Rectangle 4"/>
          <p:cNvSpPr/>
          <p:nvPr/>
        </p:nvSpPr>
        <p:spPr>
          <a:xfrm>
            <a:off x="0" y="6419088"/>
            <a:ext cx="12191695" cy="17780"/>
          </a:xfrm>
          <a:prstGeom prst="rect">
            <a:avLst/>
          </a:prstGeom>
          <a:solidFill>
            <a:srgbClr val="A15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691640"/>
            <a:ext cx="5120640" cy="4206240"/>
          </a:xfrm>
          <a:prstGeom prst="rect">
            <a:avLst/>
          </a:prstGeom>
          <a:noFill/>
        </p:spPr>
        <p:txBody>
          <a:bodyPr wrap="square">
            <a:spAutoFit/>
          </a:bodyPr>
          <a:lstStyle/>
          <a:p>
            <a:pPr algn="l">
              <a:lnSpc>
                <a:spcPct val="108000"/>
              </a:lnSpc>
              <a:spcBef>
                <a:spcPts val="0"/>
              </a:spcBef>
              <a:spcAft>
                <a:spcPts val="1000"/>
              </a:spcAft>
            </a:pPr>
            <a:r>
              <a:rPr sz="1400" b="1" i="0">
                <a:solidFill>
                  <a:srgbClr val="A15A00"/>
                </a:solidFill>
                <a:latin typeface="Calibri"/>
              </a:rPr>
              <a:t>GET A DOI (Zenodo)</a:t>
            </a:r>
            <a:r>
              <a:rPr sz="1450" b="0" i="0">
                <a:solidFill>
                  <a:srgbClr val="1B211D"/>
                </a:solidFill>
                <a:latin typeface="Calibri"/>
              </a:rPr>
              <a:t>1.  Sign in to zenodo.org with GitHub</a:t>
            </a:r>
          </a:p>
          <a:p>
            <a:pPr>
              <a:lnSpc>
                <a:spcPct val="108000"/>
              </a:lnSpc>
              <a:spcAft>
                <a:spcPts val="1000"/>
              </a:spcAft>
            </a:pPr>
            <a:r>
              <a:rPr sz="1450" b="0" i="0">
                <a:solidFill>
                  <a:srgbClr val="1B211D"/>
                </a:solidFill>
                <a:latin typeface="Calibri"/>
              </a:rPr>
              <a:t>2.  New Upload → add files (data, code, paper)</a:t>
            </a:r>
          </a:p>
          <a:p>
            <a:pPr>
              <a:lnSpc>
                <a:spcPct val="108000"/>
              </a:lnSpc>
              <a:spcAft>
                <a:spcPts val="1000"/>
              </a:spcAft>
            </a:pPr>
            <a:r>
              <a:rPr sz="1450" b="0" i="0">
                <a:solidFill>
                  <a:srgbClr val="1B211D"/>
                </a:solidFill>
                <a:latin typeface="Calibri"/>
              </a:rPr>
              <a:t>3.  Fill in title, authors + ORCID, license</a:t>
            </a:r>
          </a:p>
          <a:p>
            <a:pPr>
              <a:lnSpc>
                <a:spcPct val="108000"/>
              </a:lnSpc>
              <a:spcAft>
                <a:spcPts val="1000"/>
              </a:spcAft>
            </a:pPr>
            <a:r>
              <a:rPr sz="1450" b="0" i="0">
                <a:solidFill>
                  <a:srgbClr val="1B211D"/>
                </a:solidFill>
                <a:latin typeface="Calibri"/>
              </a:rPr>
              <a:t>4.  Publish → DOI created automatically</a:t>
            </a:r>
          </a:p>
          <a:p>
            <a:pPr>
              <a:lnSpc>
                <a:spcPct val="108000"/>
              </a:lnSpc>
              <a:spcAft>
                <a:spcPts val="1000"/>
              </a:spcAft>
            </a:pPr>
            <a:r>
              <a:rPr sz="1450" b="0" i="0">
                <a:solidFill>
                  <a:srgbClr val="1B211D"/>
                </a:solidFill>
                <a:latin typeface="Calibri"/>
              </a:rPr>
              <a:t>5.  Add the DOI to your README / CV</a:t>
            </a:r>
          </a:p>
        </p:txBody>
      </p:sp>
      <p:sp>
        <p:nvSpPr>
          <p:cNvPr id="7" name="TextBox 6"/>
          <p:cNvSpPr txBox="1"/>
          <p:nvPr/>
        </p:nvSpPr>
        <p:spPr>
          <a:xfrm>
            <a:off x="5943600" y="1691640"/>
            <a:ext cx="5394960" cy="4206240"/>
          </a:xfrm>
          <a:prstGeom prst="rect">
            <a:avLst/>
          </a:prstGeom>
          <a:noFill/>
        </p:spPr>
        <p:txBody>
          <a:bodyPr wrap="square">
            <a:spAutoFit/>
          </a:bodyPr>
          <a:lstStyle/>
          <a:p>
            <a:pPr algn="l">
              <a:lnSpc>
                <a:spcPct val="108000"/>
              </a:lnSpc>
              <a:spcBef>
                <a:spcPts val="0"/>
              </a:spcBef>
              <a:spcAft>
                <a:spcPts val="1000"/>
              </a:spcAft>
            </a:pPr>
            <a:r>
              <a:rPr sz="1400" b="1" i="0">
                <a:solidFill>
                  <a:srgbClr val="A15A00"/>
                </a:solidFill>
                <a:latin typeface="Calibri"/>
              </a:rPr>
              <a:t>GET AN ORCID (2 minutes, free)</a:t>
            </a:r>
            <a:r>
              <a:rPr sz="1450" b="0" i="0">
                <a:solidFill>
                  <a:srgbClr val="1B211D"/>
                </a:solidFill>
                <a:latin typeface="Calibri"/>
              </a:rPr>
              <a:t>1.  Go to orcid.org → Register</a:t>
            </a:r>
          </a:p>
          <a:p>
            <a:pPr>
              <a:lnSpc>
                <a:spcPct val="108000"/>
              </a:lnSpc>
              <a:spcAft>
                <a:spcPts val="1000"/>
              </a:spcAft>
            </a:pPr>
            <a:r>
              <a:rPr sz="1450" b="0" i="0">
                <a:solidFill>
                  <a:srgbClr val="1B211D"/>
                </a:solidFill>
                <a:latin typeface="Calibri"/>
              </a:rPr>
              <a:t>2.  Confirm email, add affiliations</a:t>
            </a:r>
          </a:p>
          <a:p>
            <a:pPr>
              <a:lnSpc>
                <a:spcPct val="108000"/>
              </a:lnSpc>
              <a:spcAft>
                <a:spcPts val="1000"/>
              </a:spcAft>
            </a:pPr>
            <a:r>
              <a:rPr sz="1450" b="0" i="0">
                <a:solidFill>
                  <a:srgbClr val="1B211D"/>
                </a:solidFill>
                <a:latin typeface="Calibri"/>
              </a:rPr>
              <a:t>3.  You now have: 0000-XXXX-XXXX-XXXX</a:t>
            </a:r>
          </a:p>
          <a:p>
            <a:pPr>
              <a:lnSpc>
                <a:spcPct val="108000"/>
              </a:lnSpc>
              <a:spcAft>
                <a:spcPts val="1000"/>
              </a:spcAft>
            </a:pPr>
            <a:r>
              <a:rPr sz="1450" b="0" i="0">
                <a:solidFill>
                  <a:srgbClr val="1B211D"/>
                </a:solidFill>
                <a:latin typeface="Calibri"/>
              </a:rPr>
              <a:t>4.  Required by NSF, NIH, EU, most journals</a:t>
            </a:r>
          </a:p>
          <a:p>
            <a:pPr>
              <a:lnSpc>
                <a:spcPct val="108000"/>
              </a:lnSpc>
              <a:spcAft>
                <a:spcPts val="1000"/>
              </a:spcAft>
            </a:pPr>
            <a:r>
              <a:rPr sz="1450" b="0" i="0">
                <a:solidFill>
                  <a:srgbClr val="1B211D"/>
                </a:solidFill>
                <a:latin typeface="Calibri"/>
              </a:rPr>
              <a:t>5.  Add it to your email signature today</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7F5EE"/>
        </a:solidFill>
        <a:effectLst/>
      </p:bgPr>
    </p:bg>
    <p:spTree>
      <p:nvGrpSpPr>
        <p:cNvPr id="1" name=""/>
        <p:cNvGrpSpPr/>
        <p:nvPr/>
      </p:nvGrpSpPr>
      <p:grpSpPr/>
      <p:sp>
        <p:nvSpPr>
          <p:cNvPr id="2" name="TextBox 1"/>
          <p:cNvSpPr txBox="1"/>
          <p:nvPr/>
        </p:nvSpPr>
        <p:spPr>
          <a:xfrm>
            <a:off x="548640" y="411480"/>
            <a:ext cx="7315200" cy="365760"/>
          </a:xfrm>
          <a:prstGeom prst="rect">
            <a:avLst/>
          </a:prstGeom>
          <a:noFill/>
        </p:spPr>
        <p:txBody>
          <a:bodyPr wrap="square">
            <a:spAutoFit/>
          </a:bodyPr>
          <a:lstStyle/>
          <a:p>
            <a:pPr algn="l">
              <a:spcBef>
                <a:spcPts val="0"/>
              </a:spcBef>
              <a:spcAft>
                <a:spcPts val="600"/>
              </a:spcAft>
            </a:pPr>
            <a:r>
              <a:rPr sz="1300" b="1" i="0" spc="120">
                <a:solidFill>
                  <a:srgbClr val="A15A00"/>
                </a:solidFill>
                <a:latin typeface="Calibri"/>
              </a:rPr>
              <a:t>5.7 · THE CHECKLIST</a:t>
            </a:r>
          </a:p>
        </p:txBody>
      </p:sp>
      <p:sp>
        <p:nvSpPr>
          <p:cNvPr id="3" name="TextBox 2"/>
          <p:cNvSpPr txBox="1"/>
          <p:nvPr/>
        </p:nvSpPr>
        <p:spPr>
          <a:xfrm>
            <a:off x="548640" y="777240"/>
            <a:ext cx="10789920" cy="822960"/>
          </a:xfrm>
          <a:prstGeom prst="rect">
            <a:avLst/>
          </a:prstGeom>
          <a:noFill/>
        </p:spPr>
        <p:txBody>
          <a:bodyPr wrap="square">
            <a:spAutoFit/>
          </a:bodyPr>
          <a:lstStyle/>
          <a:p>
            <a:pPr algn="l">
              <a:spcBef>
                <a:spcPts val="0"/>
              </a:spcBef>
              <a:spcAft>
                <a:spcPts val="600"/>
              </a:spcAft>
            </a:pPr>
            <a:r>
              <a:rPr sz="3000" b="1" i="0">
                <a:solidFill>
                  <a:srgbClr val="1B211D"/>
                </a:solidFill>
                <a:latin typeface="Georgia"/>
              </a:rPr>
              <a:t>Your open science starter kit</a:t>
            </a:r>
          </a:p>
        </p:txBody>
      </p:sp>
      <p:sp>
        <p:nvSpPr>
          <p:cNvPr id="4" name="TextBox 3"/>
          <p:cNvSpPr txBox="1"/>
          <p:nvPr/>
        </p:nvSpPr>
        <p:spPr>
          <a:xfrm>
            <a:off x="548640" y="6473952"/>
            <a:ext cx="8229600" cy="320040"/>
          </a:xfrm>
          <a:prstGeom prst="rect">
            <a:avLst/>
          </a:prstGeom>
          <a:noFill/>
        </p:spPr>
        <p:txBody>
          <a:bodyPr wrap="square">
            <a:spAutoFit/>
          </a:bodyPr>
          <a:lstStyle/>
          <a:p>
            <a:pPr algn="l">
              <a:spcBef>
                <a:spcPts val="0"/>
              </a:spcBef>
              <a:spcAft>
                <a:spcPts val="600"/>
              </a:spcAft>
            </a:pPr>
            <a:r>
              <a:rPr sz="1000" b="0" i="0">
                <a:solidFill>
                  <a:srgbClr val="5B655F"/>
                </a:solidFill>
                <a:latin typeface="Calibri"/>
              </a:rPr>
              <a:t>Module 5 · Open Science Tools</a:t>
            </a:r>
          </a:p>
        </p:txBody>
      </p:sp>
      <p:sp>
        <p:nvSpPr>
          <p:cNvPr id="5" name="Rectangle 4"/>
          <p:cNvSpPr/>
          <p:nvPr/>
        </p:nvSpPr>
        <p:spPr>
          <a:xfrm>
            <a:off x="0" y="6419088"/>
            <a:ext cx="12191695" cy="17780"/>
          </a:xfrm>
          <a:prstGeom prst="rect">
            <a:avLst/>
          </a:prstGeom>
          <a:solidFill>
            <a:srgbClr val="A15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783080"/>
            <a:ext cx="3429000" cy="502920"/>
          </a:xfrm>
          <a:prstGeom prst="rect">
            <a:avLst/>
          </a:prstGeom>
          <a:solidFill>
            <a:srgbClr val="A15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856231"/>
            <a:ext cx="3063240" cy="411480"/>
          </a:xfrm>
          <a:prstGeom prst="rect">
            <a:avLst/>
          </a:prstGeom>
          <a:noFill/>
        </p:spPr>
        <p:txBody>
          <a:bodyPr wrap="square">
            <a:spAutoFit/>
          </a:bodyPr>
          <a:lstStyle/>
          <a:p>
            <a:pPr algn="l">
              <a:spcBef>
                <a:spcPts val="0"/>
              </a:spcBef>
              <a:spcAft>
                <a:spcPts val="600"/>
              </a:spcAft>
            </a:pPr>
            <a:r>
              <a:rPr sz="1400" b="1" i="0">
                <a:solidFill>
                  <a:srgbClr val="FFFFFF"/>
                </a:solidFill>
                <a:latin typeface="Calibri"/>
              </a:rPr>
              <a:t>Essential — start here</a:t>
            </a:r>
          </a:p>
        </p:txBody>
      </p:sp>
      <p:sp>
        <p:nvSpPr>
          <p:cNvPr id="8" name="TextBox 7"/>
          <p:cNvSpPr txBox="1"/>
          <p:nvPr/>
        </p:nvSpPr>
        <p:spPr>
          <a:xfrm>
            <a:off x="548640" y="2423160"/>
            <a:ext cx="3429000" cy="2560320"/>
          </a:xfrm>
          <a:prstGeom prst="rect">
            <a:avLst/>
          </a:prstGeom>
          <a:noFill/>
        </p:spPr>
        <p:txBody>
          <a:bodyPr wrap="square">
            <a:spAutoFit/>
          </a:bodyPr>
          <a:lstStyle/>
          <a:p>
            <a:pPr>
              <a:lnSpc>
                <a:spcPct val="108000"/>
              </a:lnSpc>
              <a:spcAft>
                <a:spcPts val="1300"/>
              </a:spcAft>
            </a:pPr>
            <a:r>
              <a:rPr sz="1450" b="0" i="0">
                <a:solidFill>
                  <a:srgbClr val="1B211D"/>
                </a:solidFill>
                <a:latin typeface="Calibri"/>
              </a:rPr>
              <a:t>☐  Version control (GitHub)</a:t>
            </a:r>
          </a:p>
          <a:p>
            <a:pPr>
              <a:lnSpc>
                <a:spcPct val="108000"/>
              </a:lnSpc>
              <a:spcAft>
                <a:spcPts val="1300"/>
              </a:spcAft>
            </a:pPr>
            <a:r>
              <a:rPr sz="1450" b="0" i="0">
                <a:solidFill>
                  <a:srgbClr val="1B211D"/>
                </a:solidFill>
                <a:latin typeface="Calibri"/>
              </a:rPr>
              <a:t>☐  ORCID profile</a:t>
            </a:r>
          </a:p>
          <a:p>
            <a:pPr>
              <a:lnSpc>
                <a:spcPct val="108000"/>
              </a:lnSpc>
              <a:spcAft>
                <a:spcPts val="1300"/>
              </a:spcAft>
            </a:pPr>
            <a:r>
              <a:rPr sz="1450" b="0" i="0">
                <a:solidFill>
                  <a:srgbClr val="1B211D"/>
                </a:solidFill>
                <a:latin typeface="Calibri"/>
              </a:rPr>
              <a:t>☐  A DOI from a repository</a:t>
            </a:r>
          </a:p>
        </p:txBody>
      </p:sp>
      <p:sp>
        <p:nvSpPr>
          <p:cNvPr id="9" name="Rectangle 8"/>
          <p:cNvSpPr/>
          <p:nvPr/>
        </p:nvSpPr>
        <p:spPr>
          <a:xfrm>
            <a:off x="4206240" y="1783080"/>
            <a:ext cx="3429000" cy="502920"/>
          </a:xfrm>
          <a:prstGeom prst="rect">
            <a:avLst/>
          </a:prstGeom>
          <a:solidFill>
            <a:srgbClr val="EFEC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389120" y="1856231"/>
            <a:ext cx="3063240" cy="411480"/>
          </a:xfrm>
          <a:prstGeom prst="rect">
            <a:avLst/>
          </a:prstGeom>
          <a:noFill/>
        </p:spPr>
        <p:txBody>
          <a:bodyPr wrap="square">
            <a:spAutoFit/>
          </a:bodyPr>
          <a:lstStyle/>
          <a:p>
            <a:pPr algn="l">
              <a:spcBef>
                <a:spcPts val="0"/>
              </a:spcBef>
              <a:spcAft>
                <a:spcPts val="600"/>
              </a:spcAft>
            </a:pPr>
            <a:r>
              <a:rPr sz="1400" b="1" i="0">
                <a:solidFill>
                  <a:srgbClr val="1B211D"/>
                </a:solidFill>
                <a:latin typeface="Calibri"/>
              </a:rPr>
              <a:t>Next (month 2–3)</a:t>
            </a:r>
          </a:p>
        </p:txBody>
      </p:sp>
      <p:sp>
        <p:nvSpPr>
          <p:cNvPr id="11" name="TextBox 10"/>
          <p:cNvSpPr txBox="1"/>
          <p:nvPr/>
        </p:nvSpPr>
        <p:spPr>
          <a:xfrm>
            <a:off x="4206240" y="2423160"/>
            <a:ext cx="3429000" cy="2560320"/>
          </a:xfrm>
          <a:prstGeom prst="rect">
            <a:avLst/>
          </a:prstGeom>
          <a:noFill/>
        </p:spPr>
        <p:txBody>
          <a:bodyPr wrap="square">
            <a:spAutoFit/>
          </a:bodyPr>
          <a:lstStyle/>
          <a:p>
            <a:pPr>
              <a:lnSpc>
                <a:spcPct val="108000"/>
              </a:lnSpc>
              <a:spcAft>
                <a:spcPts val="1300"/>
              </a:spcAft>
            </a:pPr>
            <a:r>
              <a:rPr sz="1450" b="0" i="0">
                <a:solidFill>
                  <a:srgbClr val="1B211D"/>
                </a:solidFill>
                <a:latin typeface="Calibri"/>
              </a:rPr>
              <a:t>☐  Data repository (Zenodo or discipline-specific)</a:t>
            </a:r>
          </a:p>
          <a:p>
            <a:pPr>
              <a:lnSpc>
                <a:spcPct val="108000"/>
              </a:lnSpc>
              <a:spcAft>
                <a:spcPts val="1300"/>
              </a:spcAft>
            </a:pPr>
            <a:r>
              <a:rPr sz="1450" b="0" i="0">
                <a:solidFill>
                  <a:srgbClr val="1B211D"/>
                </a:solidFill>
                <a:latin typeface="Calibri"/>
              </a:rPr>
              <a:t>☐  Preprint server</a:t>
            </a:r>
          </a:p>
          <a:p>
            <a:pPr>
              <a:lnSpc>
                <a:spcPct val="108000"/>
              </a:lnSpc>
              <a:spcAft>
                <a:spcPts val="1300"/>
              </a:spcAft>
            </a:pPr>
            <a:r>
              <a:rPr sz="1450" b="0" i="0">
                <a:solidFill>
                  <a:srgbClr val="1B211D"/>
                </a:solidFill>
                <a:latin typeface="Calibri"/>
              </a:rPr>
              <a:t>☐  A collaborative writing tool</a:t>
            </a:r>
          </a:p>
        </p:txBody>
      </p:sp>
      <p:sp>
        <p:nvSpPr>
          <p:cNvPr id="12" name="Rectangle 11"/>
          <p:cNvSpPr/>
          <p:nvPr/>
        </p:nvSpPr>
        <p:spPr>
          <a:xfrm>
            <a:off x="7863840" y="1783080"/>
            <a:ext cx="3429000" cy="502920"/>
          </a:xfrm>
          <a:prstGeom prst="rect">
            <a:avLst/>
          </a:prstGeom>
          <a:solidFill>
            <a:srgbClr val="EFEC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0" y="1856231"/>
            <a:ext cx="3063240" cy="411480"/>
          </a:xfrm>
          <a:prstGeom prst="rect">
            <a:avLst/>
          </a:prstGeom>
          <a:noFill/>
        </p:spPr>
        <p:txBody>
          <a:bodyPr wrap="square">
            <a:spAutoFit/>
          </a:bodyPr>
          <a:lstStyle/>
          <a:p>
            <a:pPr algn="l">
              <a:spcBef>
                <a:spcPts val="0"/>
              </a:spcBef>
              <a:spcAft>
                <a:spcPts val="600"/>
              </a:spcAft>
            </a:pPr>
            <a:r>
              <a:rPr sz="1400" b="1" i="0">
                <a:solidFill>
                  <a:srgbClr val="1B211D"/>
                </a:solidFill>
                <a:latin typeface="Calibri"/>
              </a:rPr>
              <a:t>Ongoing</a:t>
            </a:r>
          </a:p>
        </p:txBody>
      </p:sp>
      <p:sp>
        <p:nvSpPr>
          <p:cNvPr id="14" name="TextBox 13"/>
          <p:cNvSpPr txBox="1"/>
          <p:nvPr/>
        </p:nvSpPr>
        <p:spPr>
          <a:xfrm>
            <a:off x="7863840" y="2423160"/>
            <a:ext cx="3429000" cy="2560320"/>
          </a:xfrm>
          <a:prstGeom prst="rect">
            <a:avLst/>
          </a:prstGeom>
          <a:noFill/>
        </p:spPr>
        <p:txBody>
          <a:bodyPr wrap="square">
            <a:spAutoFit/>
          </a:bodyPr>
          <a:lstStyle/>
          <a:p>
            <a:pPr>
              <a:lnSpc>
                <a:spcPct val="108000"/>
              </a:lnSpc>
              <a:spcAft>
                <a:spcPts val="1300"/>
              </a:spcAft>
            </a:pPr>
            <a:r>
              <a:rPr sz="1450" b="0" i="0">
                <a:solidFill>
                  <a:srgbClr val="1B211D"/>
                </a:solidFill>
                <a:latin typeface="Calibri"/>
              </a:rPr>
              <a:t>☐  Issue tracking / project board</a:t>
            </a:r>
          </a:p>
          <a:p>
            <a:pPr>
              <a:lnSpc>
                <a:spcPct val="108000"/>
              </a:lnSpc>
              <a:spcAft>
                <a:spcPts val="1300"/>
              </a:spcAft>
            </a:pPr>
            <a:r>
              <a:rPr sz="1450" b="0" i="0">
                <a:solidFill>
                  <a:srgbClr val="1B211D"/>
                </a:solidFill>
                <a:latin typeface="Calibri"/>
              </a:rPr>
              <a:t>☐  Team communication (Slack/Discord)</a:t>
            </a:r>
          </a:p>
          <a:p>
            <a:pPr>
              <a:lnSpc>
                <a:spcPct val="108000"/>
              </a:lnSpc>
              <a:spcAft>
                <a:spcPts val="1300"/>
              </a:spcAft>
            </a:pPr>
            <a:r>
              <a:rPr sz="1450" b="0" i="0">
                <a:solidFill>
                  <a:srgbClr val="1B211D"/>
                </a:solidFill>
                <a:latin typeface="Calibri"/>
              </a:rPr>
              <a:t>☐  A data management plan</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5E7D2"/>
        </a:solidFill>
        <a:effectLst/>
      </p:bgPr>
    </p:bg>
    <p:spTree>
      <p:nvGrpSpPr>
        <p:cNvPr id="1" name=""/>
        <p:cNvGrpSpPr/>
        <p:nvPr/>
      </p:nvGrpSpPr>
      <p:grpSpPr/>
      <p:sp>
        <p:nvSpPr>
          <p:cNvPr id="2" name="Rectangle 1"/>
          <p:cNvSpPr/>
          <p:nvPr/>
        </p:nvSpPr>
        <p:spPr>
          <a:xfrm>
            <a:off x="0" y="0"/>
            <a:ext cx="12191695" cy="1371600"/>
          </a:xfrm>
          <a:prstGeom prst="rect">
            <a:avLst/>
          </a:prstGeom>
          <a:solidFill>
            <a:srgbClr val="A15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28600"/>
            <a:ext cx="5486400" cy="365760"/>
          </a:xfrm>
          <a:prstGeom prst="rect">
            <a:avLst/>
          </a:prstGeom>
          <a:noFill/>
        </p:spPr>
        <p:txBody>
          <a:bodyPr wrap="square">
            <a:spAutoFit/>
          </a:bodyPr>
          <a:lstStyle/>
          <a:p>
            <a:pPr algn="l">
              <a:spcBef>
                <a:spcPts val="0"/>
              </a:spcBef>
              <a:spcAft>
                <a:spcPts val="600"/>
              </a:spcAft>
            </a:pPr>
            <a:r>
              <a:rPr sz="1500" b="1" i="0">
                <a:solidFill>
                  <a:srgbClr val="C78A1E"/>
                </a:solidFill>
                <a:latin typeface="Calibri"/>
              </a:rPr>
              <a:t>★ ACTIVITY</a:t>
            </a:r>
          </a:p>
        </p:txBody>
      </p:sp>
      <p:sp>
        <p:nvSpPr>
          <p:cNvPr id="4" name="TextBox 3"/>
          <p:cNvSpPr txBox="1"/>
          <p:nvPr/>
        </p:nvSpPr>
        <p:spPr>
          <a:xfrm>
            <a:off x="548640" y="566928"/>
            <a:ext cx="8686800" cy="731520"/>
          </a:xfrm>
          <a:prstGeom prst="rect">
            <a:avLst/>
          </a:prstGeom>
          <a:noFill/>
        </p:spPr>
        <p:txBody>
          <a:bodyPr wrap="square">
            <a:spAutoFit/>
          </a:bodyPr>
          <a:lstStyle/>
          <a:p>
            <a:pPr algn="l">
              <a:spcBef>
                <a:spcPts val="0"/>
              </a:spcBef>
              <a:spcAft>
                <a:spcPts val="600"/>
              </a:spcAft>
            </a:pPr>
            <a:r>
              <a:rPr sz="2600" b="1" i="0">
                <a:solidFill>
                  <a:srgbClr val="FFFFFF"/>
                </a:solidFill>
                <a:latin typeface="Georgia"/>
              </a:rPr>
              <a:t>Live Toolkit Sign-Up</a:t>
            </a:r>
          </a:p>
        </p:txBody>
      </p:sp>
      <p:sp>
        <p:nvSpPr>
          <p:cNvPr id="5" name="TextBox 4"/>
          <p:cNvSpPr txBox="1"/>
          <p:nvPr/>
        </p:nvSpPr>
        <p:spPr>
          <a:xfrm>
            <a:off x="9692640" y="320040"/>
            <a:ext cx="1920240" cy="822960"/>
          </a:xfrm>
          <a:prstGeom prst="rect">
            <a:avLst/>
          </a:prstGeom>
          <a:noFill/>
        </p:spPr>
        <p:txBody>
          <a:bodyPr wrap="square" anchor="ctr">
            <a:spAutoFit/>
          </a:bodyPr>
          <a:lstStyle/>
          <a:p>
            <a:pPr algn="r">
              <a:spcBef>
                <a:spcPts val="0"/>
              </a:spcBef>
              <a:spcAft>
                <a:spcPts val="600"/>
              </a:spcAft>
            </a:pPr>
            <a:r>
              <a:rPr sz="2200" b="1" i="0">
                <a:solidFill>
                  <a:srgbClr val="FFFFFF"/>
                </a:solidFill>
                <a:latin typeface="Consolas"/>
              </a:rPr>
              <a:t>10 MIN</a:t>
            </a:r>
          </a:p>
        </p:txBody>
      </p:sp>
      <p:sp>
        <p:nvSpPr>
          <p:cNvPr id="6" name="TextBox 5"/>
          <p:cNvSpPr txBox="1"/>
          <p:nvPr/>
        </p:nvSpPr>
        <p:spPr>
          <a:xfrm>
            <a:off x="548640" y="1600200"/>
            <a:ext cx="10789920" cy="502920"/>
          </a:xfrm>
          <a:prstGeom prst="rect">
            <a:avLst/>
          </a:prstGeom>
          <a:noFill/>
        </p:spPr>
        <p:txBody>
          <a:bodyPr wrap="square">
            <a:spAutoFit/>
          </a:bodyPr>
          <a:lstStyle/>
          <a:p>
            <a:pPr algn="l">
              <a:lnSpc>
                <a:spcPct val="115000"/>
              </a:lnSpc>
              <a:spcBef>
                <a:spcPts val="0"/>
              </a:spcBef>
              <a:spcAft>
                <a:spcPts val="600"/>
              </a:spcAft>
            </a:pPr>
            <a:r>
              <a:rPr sz="1600" b="0" i="1">
                <a:solidFill>
                  <a:srgbClr val="1B211D"/>
                </a:solidFill>
                <a:latin typeface="Calibri"/>
              </a:rPr>
              <a:t>Right now, in the room: complete as many “Essential” items as you can before time's up.</a:t>
            </a:r>
          </a:p>
        </p:txBody>
      </p:sp>
      <p:sp>
        <p:nvSpPr>
          <p:cNvPr id="7" name="TextBox 6"/>
          <p:cNvSpPr txBox="1"/>
          <p:nvPr/>
        </p:nvSpPr>
        <p:spPr>
          <a:xfrm>
            <a:off x="548640" y="2240280"/>
            <a:ext cx="10789920" cy="3566160"/>
          </a:xfrm>
          <a:prstGeom prst="rect">
            <a:avLst/>
          </a:prstGeom>
          <a:noFill/>
        </p:spPr>
        <p:txBody>
          <a:bodyPr wrap="square">
            <a:spAutoFit/>
          </a:bodyPr>
          <a:lstStyle/>
          <a:p>
            <a:pPr>
              <a:lnSpc>
                <a:spcPct val="108000"/>
              </a:lnSpc>
              <a:spcAft>
                <a:spcPts val="1000"/>
              </a:spcAft>
            </a:pPr>
            <a:r>
              <a:rPr sz="1600" b="0" i="0">
                <a:solidFill>
                  <a:srgbClr val="1B211D"/>
                </a:solidFill>
                <a:latin typeface="Calibri"/>
              </a:rPr>
              <a:t>Open orcid.org on your phone or laptop and register (or find your existing ORCID).</a:t>
            </a:r>
          </a:p>
          <a:p>
            <a:pPr>
              <a:lnSpc>
                <a:spcPct val="108000"/>
              </a:lnSpc>
              <a:spcAft>
                <a:spcPts val="1000"/>
              </a:spcAft>
            </a:pPr>
            <a:r>
              <a:rPr sz="1600" b="0" i="0">
                <a:solidFill>
                  <a:srgbClr val="1B211D"/>
                </a:solidFill>
                <a:latin typeface="Calibri"/>
              </a:rPr>
              <a:t>If you have a GitHub account, add your ORCID to your profile bio.</a:t>
            </a:r>
          </a:p>
          <a:p>
            <a:pPr>
              <a:lnSpc>
                <a:spcPct val="108000"/>
              </a:lnSpc>
              <a:spcAft>
                <a:spcPts val="1000"/>
              </a:spcAft>
            </a:pPr>
            <a:r>
              <a:rPr sz="1600" b="0" i="0">
                <a:solidFill>
                  <a:srgbClr val="1B211D"/>
                </a:solidFill>
                <a:latin typeface="Calibri"/>
              </a:rPr>
              <a:t>If you don't have a GitHub account, create one now — it's free.</a:t>
            </a:r>
          </a:p>
          <a:p>
            <a:pPr>
              <a:lnSpc>
                <a:spcPct val="108000"/>
              </a:lnSpc>
              <a:spcAft>
                <a:spcPts val="1000"/>
              </a:spcAft>
            </a:pPr>
            <a:r>
              <a:rPr sz="1600" b="0" i="0">
                <a:solidFill>
                  <a:srgbClr val="1B211D"/>
                </a:solidFill>
                <a:latin typeface="Calibri"/>
              </a:rPr>
              <a:t>Neighbors: if you're stuck, ask the person next to you — everyone's doing this together.</a:t>
            </a:r>
          </a:p>
          <a:p>
            <a:pPr>
              <a:lnSpc>
                <a:spcPct val="108000"/>
              </a:lnSpc>
              <a:spcAft>
                <a:spcPts val="1000"/>
              </a:spcAft>
            </a:pPr>
            <a:r>
              <a:rPr sz="1600" b="0" i="0">
                <a:solidFill>
                  <a:srgbClr val="1B211D"/>
                </a:solidFill>
                <a:latin typeface="Calibri"/>
              </a:rPr>
              <a:t>Add your ORCID to one place you'll actually see it again (email signature, CV).</a:t>
            </a:r>
          </a:p>
        </p:txBody>
      </p:sp>
      <p:sp>
        <p:nvSpPr>
          <p:cNvPr id="8" name="Rounded Rectangle 7"/>
          <p:cNvSpPr/>
          <p:nvPr/>
        </p:nvSpPr>
        <p:spPr>
          <a:xfrm>
            <a:off x="548640" y="5989320"/>
            <a:ext cx="10789920" cy="548640"/>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6062472"/>
            <a:ext cx="10332720" cy="411480"/>
          </a:xfrm>
          <a:prstGeom prst="rect">
            <a:avLst/>
          </a:prstGeom>
          <a:noFill/>
        </p:spPr>
        <p:txBody>
          <a:bodyPr wrap="square">
            <a:spAutoFit/>
          </a:bodyPr>
          <a:lstStyle/>
          <a:p>
            <a:pPr algn="l">
              <a:spcBef>
                <a:spcPts val="0"/>
              </a:spcBef>
              <a:spcAft>
                <a:spcPts val="600"/>
              </a:spcAft>
            </a:pPr>
            <a:r>
              <a:rPr sz="1400" b="1" i="0">
                <a:solidFill>
                  <a:srgbClr val="A15A00"/>
                </a:solidFill>
                <a:latin typeface="Calibri"/>
              </a:rPr>
              <a:t>Deliverable: an actual ORCID iD in hand by the end of these 10 minutes.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1B211D"/>
        </a:solidFill>
        <a:effectLst/>
      </p:bgPr>
    </p:bg>
    <p:spTree>
      <p:nvGrpSpPr>
        <p:cNvPr id="1" name=""/>
        <p:cNvGrpSpPr/>
        <p:nvPr/>
      </p:nvGrpSpPr>
      <p:grpSpPr/>
      <p:sp>
        <p:nvSpPr>
          <p:cNvPr id="2" name="TextBox 1"/>
          <p:cNvSpPr txBox="1"/>
          <p:nvPr/>
        </p:nvSpPr>
        <p:spPr>
          <a:xfrm>
            <a:off x="822960" y="2468880"/>
            <a:ext cx="10058400" cy="1371600"/>
          </a:xfrm>
          <a:prstGeom prst="rect">
            <a:avLst/>
          </a:prstGeom>
          <a:noFill/>
        </p:spPr>
        <p:txBody>
          <a:bodyPr wrap="square">
            <a:spAutoFit/>
          </a:bodyPr>
          <a:lstStyle/>
          <a:p>
            <a:pPr algn="l">
              <a:spcBef>
                <a:spcPts val="0"/>
              </a:spcBef>
              <a:spcAft>
                <a:spcPts val="600"/>
              </a:spcAft>
            </a:pPr>
            <a:r>
              <a:rPr sz="5400" b="1" i="0">
                <a:solidFill>
                  <a:srgbClr val="FFFFFF"/>
                </a:solidFill>
                <a:latin typeface="Georgia"/>
              </a:rPr>
              <a:t>10-Minute Break</a:t>
            </a:r>
          </a:p>
        </p:txBody>
      </p:sp>
      <p:sp>
        <p:nvSpPr>
          <p:cNvPr id="3" name="TextBox 2"/>
          <p:cNvSpPr txBox="1"/>
          <p:nvPr/>
        </p:nvSpPr>
        <p:spPr>
          <a:xfrm>
            <a:off x="868680" y="3566160"/>
            <a:ext cx="9144000" cy="731520"/>
          </a:xfrm>
          <a:prstGeom prst="rect">
            <a:avLst/>
          </a:prstGeom>
          <a:noFill/>
        </p:spPr>
        <p:txBody>
          <a:bodyPr wrap="square">
            <a:spAutoFit/>
          </a:bodyPr>
          <a:lstStyle/>
          <a:p>
            <a:pPr algn="l">
              <a:spcBef>
                <a:spcPts val="0"/>
              </a:spcBef>
              <a:spcAft>
                <a:spcPts val="600"/>
              </a:spcAft>
            </a:pPr>
            <a:r>
              <a:rPr sz="1600" b="0" i="0">
                <a:solidFill>
                  <a:srgbClr val="B9C0B8"/>
                </a:solidFill>
                <a:latin typeface="Calibri"/>
              </a:rPr>
              <a:t>Stretch, refill, and jot one open question on a sticky note for the parking-lot wall.</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B3453A"/>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C7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1554480"/>
            <a:ext cx="2743200" cy="914400"/>
          </a:xfrm>
          <a:prstGeom prst="rect">
            <a:avLst/>
          </a:prstGeom>
          <a:noFill/>
        </p:spPr>
        <p:txBody>
          <a:bodyPr wrap="square">
            <a:spAutoFit/>
          </a:bodyPr>
          <a:lstStyle/>
          <a:p>
            <a:pPr algn="l">
              <a:spcBef>
                <a:spcPts val="0"/>
              </a:spcBef>
              <a:spcAft>
                <a:spcPts val="600"/>
              </a:spcAft>
            </a:pPr>
            <a:r>
              <a:rPr sz="1600" b="1" i="0">
                <a:solidFill>
                  <a:srgbClr val="F7E4E2"/>
                </a:solidFill>
                <a:latin typeface="Calibri"/>
              </a:rPr>
              <a:t>MODULE 4</a:t>
            </a:r>
          </a:p>
        </p:txBody>
      </p:sp>
      <p:sp>
        <p:nvSpPr>
          <p:cNvPr id="4" name="TextBox 3"/>
          <p:cNvSpPr txBox="1"/>
          <p:nvPr/>
        </p:nvSpPr>
        <p:spPr>
          <a:xfrm>
            <a:off x="822960" y="2011680"/>
            <a:ext cx="10058400" cy="1554480"/>
          </a:xfrm>
          <a:prstGeom prst="rect">
            <a:avLst/>
          </a:prstGeom>
          <a:noFill/>
        </p:spPr>
        <p:txBody>
          <a:bodyPr wrap="square">
            <a:spAutoFit/>
          </a:bodyPr>
          <a:lstStyle/>
          <a:p>
            <a:pPr algn="l">
              <a:spcBef>
                <a:spcPts val="0"/>
              </a:spcBef>
              <a:spcAft>
                <a:spcPts val="600"/>
              </a:spcAft>
            </a:pPr>
            <a:r>
              <a:rPr sz="4800" b="1" i="0">
                <a:solidFill>
                  <a:srgbClr val="FFFFFF"/>
                </a:solidFill>
                <a:latin typeface="Georgia"/>
              </a:rPr>
              <a:t>Open Results</a:t>
            </a:r>
          </a:p>
        </p:txBody>
      </p:sp>
      <p:sp>
        <p:nvSpPr>
          <p:cNvPr id="5" name="TextBox 4"/>
          <p:cNvSpPr txBox="1"/>
          <p:nvPr/>
        </p:nvSpPr>
        <p:spPr>
          <a:xfrm>
            <a:off x="868680" y="3246120"/>
            <a:ext cx="9601200" cy="914400"/>
          </a:xfrm>
          <a:prstGeom prst="rect">
            <a:avLst/>
          </a:prstGeom>
          <a:noFill/>
        </p:spPr>
        <p:txBody>
          <a:bodyPr wrap="square">
            <a:spAutoFit/>
          </a:bodyPr>
          <a:lstStyle/>
          <a:p>
            <a:pPr algn="l">
              <a:lnSpc>
                <a:spcPct val="120000"/>
              </a:lnSpc>
              <a:spcBef>
                <a:spcPts val="0"/>
              </a:spcBef>
              <a:spcAft>
                <a:spcPts val="600"/>
              </a:spcAft>
            </a:pPr>
            <a:r>
              <a:rPr sz="1800" b="0" i="0">
                <a:solidFill>
                  <a:srgbClr val="F7E4E2"/>
                </a:solidFill>
                <a:latin typeface="Calibri"/>
              </a:rPr>
              <a:t>Closing the loop on reproducibility — publishing, preprints, and giving credit where it's due.</a:t>
            </a:r>
          </a:p>
        </p:txBody>
      </p:sp>
      <p:sp>
        <p:nvSpPr>
          <p:cNvPr id="6" name="TextBox 5"/>
          <p:cNvSpPr txBox="1"/>
          <p:nvPr/>
        </p:nvSpPr>
        <p:spPr>
          <a:xfrm>
            <a:off x="868680" y="6126480"/>
            <a:ext cx="3657600" cy="457200"/>
          </a:xfrm>
          <a:prstGeom prst="rect">
            <a:avLst/>
          </a:prstGeom>
          <a:noFill/>
        </p:spPr>
        <p:txBody>
          <a:bodyPr wrap="square">
            <a:spAutoFit/>
          </a:bodyPr>
          <a:lstStyle/>
          <a:p>
            <a:pPr algn="l">
              <a:spcBef>
                <a:spcPts val="0"/>
              </a:spcBef>
              <a:spcAft>
                <a:spcPts val="600"/>
              </a:spcAft>
            </a:pPr>
            <a:r>
              <a:rPr sz="1400" b="1" i="0">
                <a:solidFill>
                  <a:srgbClr val="F7E4E2"/>
                </a:solidFill>
                <a:latin typeface="Consolas"/>
              </a:rPr>
              <a:t>35 MINUTES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7F5EE"/>
        </a:solidFill>
        <a:effectLst/>
      </p:bgPr>
    </p:bg>
    <p:spTree>
      <p:nvGrpSpPr>
        <p:cNvPr id="1" name=""/>
        <p:cNvGrpSpPr/>
        <p:nvPr/>
      </p:nvGrpSpPr>
      <p:grpSpPr/>
      <p:sp>
        <p:nvSpPr>
          <p:cNvPr id="2" name="TextBox 1"/>
          <p:cNvSpPr txBox="1"/>
          <p:nvPr/>
        </p:nvSpPr>
        <p:spPr>
          <a:xfrm>
            <a:off x="548640" y="411480"/>
            <a:ext cx="7315200" cy="365760"/>
          </a:xfrm>
          <a:prstGeom prst="rect">
            <a:avLst/>
          </a:prstGeom>
          <a:noFill/>
        </p:spPr>
        <p:txBody>
          <a:bodyPr wrap="square">
            <a:spAutoFit/>
          </a:bodyPr>
          <a:lstStyle/>
          <a:p>
            <a:pPr algn="l">
              <a:spcBef>
                <a:spcPts val="0"/>
              </a:spcBef>
              <a:spcAft>
                <a:spcPts val="600"/>
              </a:spcAft>
            </a:pPr>
            <a:r>
              <a:rPr sz="1300" b="1" i="0" spc="120">
                <a:solidFill>
                  <a:srgbClr val="B3453A"/>
                </a:solidFill>
                <a:latin typeface="Calibri"/>
              </a:rPr>
              <a:t>MODULE 4 AT A GLANCE</a:t>
            </a:r>
          </a:p>
        </p:txBody>
      </p:sp>
      <p:sp>
        <p:nvSpPr>
          <p:cNvPr id="3" name="TextBox 2"/>
          <p:cNvSpPr txBox="1"/>
          <p:nvPr/>
        </p:nvSpPr>
        <p:spPr>
          <a:xfrm>
            <a:off x="548640" y="777240"/>
            <a:ext cx="10789920" cy="822960"/>
          </a:xfrm>
          <a:prstGeom prst="rect">
            <a:avLst/>
          </a:prstGeom>
          <a:noFill/>
        </p:spPr>
        <p:txBody>
          <a:bodyPr wrap="square">
            <a:spAutoFit/>
          </a:bodyPr>
          <a:lstStyle/>
          <a:p>
            <a:pPr algn="l">
              <a:spcBef>
                <a:spcPts val="0"/>
              </a:spcBef>
              <a:spcAft>
                <a:spcPts val="600"/>
              </a:spcAft>
            </a:pPr>
            <a:r>
              <a:rPr sz="3000" b="1" i="0">
                <a:solidFill>
                  <a:srgbClr val="1B211D"/>
                </a:solidFill>
                <a:latin typeface="Georgia"/>
              </a:rPr>
              <a:t>Five lessons in the full course</a:t>
            </a:r>
          </a:p>
        </p:txBody>
      </p:sp>
      <p:sp>
        <p:nvSpPr>
          <p:cNvPr id="4" name="TextBox 3"/>
          <p:cNvSpPr txBox="1"/>
          <p:nvPr/>
        </p:nvSpPr>
        <p:spPr>
          <a:xfrm>
            <a:off x="548640" y="6473952"/>
            <a:ext cx="8229600" cy="320040"/>
          </a:xfrm>
          <a:prstGeom prst="rect">
            <a:avLst/>
          </a:prstGeom>
          <a:noFill/>
        </p:spPr>
        <p:txBody>
          <a:bodyPr wrap="square">
            <a:spAutoFit/>
          </a:bodyPr>
          <a:lstStyle/>
          <a:p>
            <a:pPr algn="l">
              <a:spcBef>
                <a:spcPts val="0"/>
              </a:spcBef>
              <a:spcAft>
                <a:spcPts val="600"/>
              </a:spcAft>
            </a:pPr>
            <a:r>
              <a:rPr sz="1000" b="0" i="0">
                <a:solidFill>
                  <a:srgbClr val="5B655F"/>
                </a:solidFill>
                <a:latin typeface="Calibri"/>
              </a:rPr>
              <a:t>Module 4 · Open Results</a:t>
            </a:r>
          </a:p>
        </p:txBody>
      </p:sp>
      <p:sp>
        <p:nvSpPr>
          <p:cNvPr id="5" name="Rectangle 4"/>
          <p:cNvSpPr/>
          <p:nvPr/>
        </p:nvSpPr>
        <p:spPr>
          <a:xfrm>
            <a:off x="0" y="6419088"/>
            <a:ext cx="12191695" cy="17780"/>
          </a:xfrm>
          <a:prstGeom prst="rect">
            <a:avLst/>
          </a:prstGeom>
          <a:solidFill>
            <a:srgbClr val="B345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783080"/>
            <a:ext cx="10607040" cy="731520"/>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783080"/>
            <a:ext cx="640080" cy="731520"/>
          </a:xfrm>
          <a:prstGeom prst="rect">
            <a:avLst/>
          </a:prstGeom>
          <a:solidFill>
            <a:srgbClr val="B345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965960"/>
            <a:ext cx="640080" cy="365760"/>
          </a:xfrm>
          <a:prstGeom prst="rect">
            <a:avLst/>
          </a:prstGeom>
          <a:noFill/>
        </p:spPr>
        <p:txBody>
          <a:bodyPr wrap="square" anchor="ctr">
            <a:spAutoFit/>
          </a:bodyPr>
          <a:lstStyle/>
          <a:p>
            <a:pPr algn="ctr">
              <a:spcBef>
                <a:spcPts val="0"/>
              </a:spcBef>
              <a:spcAft>
                <a:spcPts val="600"/>
              </a:spcAft>
            </a:pPr>
            <a:r>
              <a:rPr sz="1500" b="1" i="0">
                <a:solidFill>
                  <a:srgbClr val="FFFFFF"/>
                </a:solidFill>
                <a:latin typeface="Calibri"/>
              </a:rPr>
              <a:t>L1</a:t>
            </a:r>
          </a:p>
        </p:txBody>
      </p:sp>
      <p:sp>
        <p:nvSpPr>
          <p:cNvPr id="9" name="TextBox 8"/>
          <p:cNvSpPr txBox="1"/>
          <p:nvPr/>
        </p:nvSpPr>
        <p:spPr>
          <a:xfrm>
            <a:off x="1371600" y="1856232"/>
            <a:ext cx="5394960" cy="594360"/>
          </a:xfrm>
          <a:prstGeom prst="rect">
            <a:avLst/>
          </a:prstGeom>
          <a:noFill/>
        </p:spPr>
        <p:txBody>
          <a:bodyPr wrap="square">
            <a:spAutoFit/>
          </a:bodyPr>
          <a:lstStyle/>
          <a:p>
            <a:pPr algn="l">
              <a:spcBef>
                <a:spcPts val="0"/>
              </a:spcBef>
              <a:spcAft>
                <a:spcPts val="100"/>
              </a:spcAft>
            </a:pPr>
            <a:r>
              <a:rPr sz="1450" b="1" i="0">
                <a:solidFill>
                  <a:srgbClr val="1B211D"/>
                </a:solidFill>
                <a:latin typeface="Calibri"/>
              </a:rPr>
              <a:t>Introduction to Open Results</a:t>
            </a:r>
          </a:p>
          <a:p>
            <a:pPr algn="l">
              <a:spcBef>
                <a:spcPts val="0"/>
              </a:spcBef>
              <a:spcAft>
                <a:spcPts val="600"/>
              </a:spcAft>
            </a:pPr>
            <a:r>
              <a:rPr sz="1250" b="0" i="0">
                <a:solidFill>
                  <a:srgbClr val="5B655F"/>
                </a:solidFill>
                <a:latin typeface="Calibri"/>
              </a:rPr>
              <a:t>What counts as a result + the reproducibility crisis</a:t>
            </a:r>
          </a:p>
        </p:txBody>
      </p:sp>
      <p:sp>
        <p:nvSpPr>
          <p:cNvPr id="10" name="Rounded Rectangle 9"/>
          <p:cNvSpPr/>
          <p:nvPr/>
        </p:nvSpPr>
        <p:spPr>
          <a:xfrm>
            <a:off x="8549640" y="1965960"/>
            <a:ext cx="2331720" cy="365760"/>
          </a:xfrm>
          <a:prstGeom prst="roundRect">
            <a:avLst>
              <a:gd name="adj" fmla="val 50000"/>
            </a:avLst>
          </a:prstGeom>
          <a:solidFill>
            <a:srgbClr val="B345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49640" y="1965960"/>
            <a:ext cx="2331720" cy="365760"/>
          </a:xfrm>
          <a:prstGeom prst="rect">
            <a:avLst/>
          </a:prstGeom>
          <a:noFill/>
        </p:spPr>
        <p:txBody>
          <a:bodyPr wrap="square" anchor="ctr">
            <a:spAutoFit/>
          </a:bodyPr>
          <a:lstStyle/>
          <a:p>
            <a:pPr algn="ctr">
              <a:spcBef>
                <a:spcPts val="0"/>
              </a:spcBef>
              <a:spcAft>
                <a:spcPts val="600"/>
              </a:spcAft>
            </a:pPr>
            <a:r>
              <a:rPr sz="1050" b="1" i="0">
                <a:solidFill>
                  <a:srgbClr val="FFFFFF"/>
                </a:solidFill>
                <a:latin typeface="Calibri"/>
              </a:rPr>
              <a:t>TODAY · DEEP DIVE</a:t>
            </a:r>
          </a:p>
        </p:txBody>
      </p:sp>
      <p:sp>
        <p:nvSpPr>
          <p:cNvPr id="12" name="Rounded Rectangle 11"/>
          <p:cNvSpPr/>
          <p:nvPr/>
        </p:nvSpPr>
        <p:spPr>
          <a:xfrm>
            <a:off x="548640" y="2624328"/>
            <a:ext cx="10607040" cy="731520"/>
          </a:xfrm>
          <a:prstGeom prst="roundRect">
            <a:avLst>
              <a:gd name="adj" fmla="val 10000"/>
            </a:avLst>
          </a:prstGeom>
          <a:solidFill>
            <a:srgbClr val="EFEC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624328"/>
            <a:ext cx="640080" cy="731520"/>
          </a:xfrm>
          <a:prstGeom prst="rect">
            <a:avLst/>
          </a:prstGeom>
          <a:solidFill>
            <a:srgbClr val="B345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2807208"/>
            <a:ext cx="640080" cy="365760"/>
          </a:xfrm>
          <a:prstGeom prst="rect">
            <a:avLst/>
          </a:prstGeom>
          <a:noFill/>
        </p:spPr>
        <p:txBody>
          <a:bodyPr wrap="square" anchor="ctr">
            <a:spAutoFit/>
          </a:bodyPr>
          <a:lstStyle/>
          <a:p>
            <a:pPr algn="ctr">
              <a:spcBef>
                <a:spcPts val="0"/>
              </a:spcBef>
              <a:spcAft>
                <a:spcPts val="600"/>
              </a:spcAft>
            </a:pPr>
            <a:r>
              <a:rPr sz="1500" b="1" i="0">
                <a:solidFill>
                  <a:srgbClr val="FFFFFF"/>
                </a:solidFill>
                <a:latin typeface="Calibri"/>
              </a:rPr>
              <a:t>L2</a:t>
            </a:r>
          </a:p>
        </p:txBody>
      </p:sp>
      <p:sp>
        <p:nvSpPr>
          <p:cNvPr id="15" name="TextBox 14"/>
          <p:cNvSpPr txBox="1"/>
          <p:nvPr/>
        </p:nvSpPr>
        <p:spPr>
          <a:xfrm>
            <a:off x="1371600" y="2697480"/>
            <a:ext cx="5394960" cy="594360"/>
          </a:xfrm>
          <a:prstGeom prst="rect">
            <a:avLst/>
          </a:prstGeom>
          <a:noFill/>
        </p:spPr>
        <p:txBody>
          <a:bodyPr wrap="square">
            <a:spAutoFit/>
          </a:bodyPr>
          <a:lstStyle/>
          <a:p>
            <a:pPr algn="l">
              <a:spcBef>
                <a:spcPts val="0"/>
              </a:spcBef>
              <a:spcAft>
                <a:spcPts val="100"/>
              </a:spcAft>
            </a:pPr>
            <a:r>
              <a:rPr sz="1450" b="1" i="0">
                <a:solidFill>
                  <a:srgbClr val="1B211D"/>
                </a:solidFill>
                <a:latin typeface="Calibri"/>
              </a:rPr>
              <a:t>Using Open Results</a:t>
            </a:r>
          </a:p>
          <a:p>
            <a:pPr algn="l">
              <a:spcBef>
                <a:spcPts val="0"/>
              </a:spcBef>
              <a:spcAft>
                <a:spcPts val="600"/>
              </a:spcAft>
            </a:pPr>
            <a:r>
              <a:rPr sz="1250" b="0" i="0">
                <a:solidFill>
                  <a:srgbClr val="5B655F"/>
                </a:solidFill>
                <a:latin typeface="Calibri"/>
              </a:rPr>
              <a:t>Discovering, assessing &amp; reusing others' results</a:t>
            </a:r>
          </a:p>
        </p:txBody>
      </p:sp>
      <p:sp>
        <p:nvSpPr>
          <p:cNvPr id="16" name="Rounded Rectangle 15"/>
          <p:cNvSpPr/>
          <p:nvPr/>
        </p:nvSpPr>
        <p:spPr>
          <a:xfrm>
            <a:off x="8549640" y="2807208"/>
            <a:ext cx="2331720" cy="365760"/>
          </a:xfrm>
          <a:prstGeom prst="roundRect">
            <a:avLst>
              <a:gd name="adj" fmla="val 50000"/>
            </a:avLst>
          </a:prstGeom>
          <a:solidFill>
            <a:srgbClr val="C7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49640" y="2807208"/>
            <a:ext cx="2331720" cy="365760"/>
          </a:xfrm>
          <a:prstGeom prst="rect">
            <a:avLst/>
          </a:prstGeom>
          <a:noFill/>
        </p:spPr>
        <p:txBody>
          <a:bodyPr wrap="square" anchor="ctr">
            <a:spAutoFit/>
          </a:bodyPr>
          <a:lstStyle/>
          <a:p>
            <a:pPr algn="ctr">
              <a:spcBef>
                <a:spcPts val="0"/>
              </a:spcBef>
              <a:spcAft>
                <a:spcPts val="600"/>
              </a:spcAft>
            </a:pPr>
            <a:r>
              <a:rPr sz="1050" b="1" i="0">
                <a:solidFill>
                  <a:srgbClr val="1B211D"/>
                </a:solidFill>
                <a:latin typeface="Calibri"/>
              </a:rPr>
              <a:t>TODAY · QUICK HIT</a:t>
            </a:r>
          </a:p>
        </p:txBody>
      </p:sp>
      <p:sp>
        <p:nvSpPr>
          <p:cNvPr id="18" name="Rounded Rectangle 17"/>
          <p:cNvSpPr/>
          <p:nvPr/>
        </p:nvSpPr>
        <p:spPr>
          <a:xfrm>
            <a:off x="548640" y="3465576"/>
            <a:ext cx="10607040" cy="731520"/>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465576"/>
            <a:ext cx="640080" cy="731520"/>
          </a:xfrm>
          <a:prstGeom prst="rect">
            <a:avLst/>
          </a:prstGeom>
          <a:solidFill>
            <a:srgbClr val="B345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3648456"/>
            <a:ext cx="640080" cy="365760"/>
          </a:xfrm>
          <a:prstGeom prst="rect">
            <a:avLst/>
          </a:prstGeom>
          <a:noFill/>
        </p:spPr>
        <p:txBody>
          <a:bodyPr wrap="square" anchor="ctr">
            <a:spAutoFit/>
          </a:bodyPr>
          <a:lstStyle/>
          <a:p>
            <a:pPr algn="ctr">
              <a:spcBef>
                <a:spcPts val="0"/>
              </a:spcBef>
              <a:spcAft>
                <a:spcPts val="600"/>
              </a:spcAft>
            </a:pPr>
            <a:r>
              <a:rPr sz="1500" b="1" i="0">
                <a:solidFill>
                  <a:srgbClr val="FFFFFF"/>
                </a:solidFill>
                <a:latin typeface="Calibri"/>
              </a:rPr>
              <a:t>L3</a:t>
            </a:r>
          </a:p>
        </p:txBody>
      </p:sp>
      <p:sp>
        <p:nvSpPr>
          <p:cNvPr id="21" name="TextBox 20"/>
          <p:cNvSpPr txBox="1"/>
          <p:nvPr/>
        </p:nvSpPr>
        <p:spPr>
          <a:xfrm>
            <a:off x="1371600" y="3538728"/>
            <a:ext cx="5394960" cy="594360"/>
          </a:xfrm>
          <a:prstGeom prst="rect">
            <a:avLst/>
          </a:prstGeom>
          <a:noFill/>
        </p:spPr>
        <p:txBody>
          <a:bodyPr wrap="square">
            <a:spAutoFit/>
          </a:bodyPr>
          <a:lstStyle/>
          <a:p>
            <a:pPr algn="l">
              <a:spcBef>
                <a:spcPts val="0"/>
              </a:spcBef>
              <a:spcAft>
                <a:spcPts val="100"/>
              </a:spcAft>
            </a:pPr>
            <a:r>
              <a:rPr sz="1450" b="1" i="0">
                <a:solidFill>
                  <a:srgbClr val="1B211D"/>
                </a:solidFill>
                <a:latin typeface="Calibri"/>
              </a:rPr>
              <a:t>Making Open Results</a:t>
            </a:r>
          </a:p>
          <a:p>
            <a:pPr algn="l">
              <a:spcBef>
                <a:spcPts val="0"/>
              </a:spcBef>
              <a:spcAft>
                <a:spcPts val="600"/>
              </a:spcAft>
            </a:pPr>
            <a:r>
              <a:rPr sz="1250" b="0" i="0">
                <a:solidFill>
                  <a:srgbClr val="5B655F"/>
                </a:solidFill>
                <a:latin typeface="Calibri"/>
              </a:rPr>
              <a:t>Reproducible manuscripts + contributor credit</a:t>
            </a:r>
          </a:p>
        </p:txBody>
      </p:sp>
      <p:sp>
        <p:nvSpPr>
          <p:cNvPr id="22" name="Rounded Rectangle 21"/>
          <p:cNvSpPr/>
          <p:nvPr/>
        </p:nvSpPr>
        <p:spPr>
          <a:xfrm>
            <a:off x="8549640" y="3648456"/>
            <a:ext cx="2331720" cy="365760"/>
          </a:xfrm>
          <a:prstGeom prst="roundRect">
            <a:avLst>
              <a:gd name="adj" fmla="val 50000"/>
            </a:avLst>
          </a:prstGeom>
          <a:solidFill>
            <a:srgbClr val="B345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49640" y="3648456"/>
            <a:ext cx="2331720" cy="365760"/>
          </a:xfrm>
          <a:prstGeom prst="rect">
            <a:avLst/>
          </a:prstGeom>
          <a:noFill/>
        </p:spPr>
        <p:txBody>
          <a:bodyPr wrap="square" anchor="ctr">
            <a:spAutoFit/>
          </a:bodyPr>
          <a:lstStyle/>
          <a:p>
            <a:pPr algn="ctr">
              <a:spcBef>
                <a:spcPts val="0"/>
              </a:spcBef>
              <a:spcAft>
                <a:spcPts val="600"/>
              </a:spcAft>
            </a:pPr>
            <a:r>
              <a:rPr sz="1050" b="1" i="0">
                <a:solidFill>
                  <a:srgbClr val="FFFFFF"/>
                </a:solidFill>
                <a:latin typeface="Calibri"/>
              </a:rPr>
              <a:t>TODAY · DEEP DIVE</a:t>
            </a:r>
          </a:p>
        </p:txBody>
      </p:sp>
      <p:sp>
        <p:nvSpPr>
          <p:cNvPr id="24" name="Rounded Rectangle 23"/>
          <p:cNvSpPr/>
          <p:nvPr/>
        </p:nvSpPr>
        <p:spPr>
          <a:xfrm>
            <a:off x="548640" y="4306824"/>
            <a:ext cx="10607040" cy="731520"/>
          </a:xfrm>
          <a:prstGeom prst="roundRect">
            <a:avLst>
              <a:gd name="adj" fmla="val 10000"/>
            </a:avLst>
          </a:prstGeom>
          <a:solidFill>
            <a:srgbClr val="EFEC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4306824"/>
            <a:ext cx="640080" cy="731520"/>
          </a:xfrm>
          <a:prstGeom prst="rect">
            <a:avLst/>
          </a:prstGeom>
          <a:solidFill>
            <a:srgbClr val="B345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8640" y="4489704"/>
            <a:ext cx="640080" cy="365760"/>
          </a:xfrm>
          <a:prstGeom prst="rect">
            <a:avLst/>
          </a:prstGeom>
          <a:noFill/>
        </p:spPr>
        <p:txBody>
          <a:bodyPr wrap="square" anchor="ctr">
            <a:spAutoFit/>
          </a:bodyPr>
          <a:lstStyle/>
          <a:p>
            <a:pPr algn="ctr">
              <a:spcBef>
                <a:spcPts val="0"/>
              </a:spcBef>
              <a:spcAft>
                <a:spcPts val="600"/>
              </a:spcAft>
            </a:pPr>
            <a:r>
              <a:rPr sz="1500" b="1" i="0">
                <a:solidFill>
                  <a:srgbClr val="FFFFFF"/>
                </a:solidFill>
                <a:latin typeface="Calibri"/>
              </a:rPr>
              <a:t>L4</a:t>
            </a:r>
          </a:p>
        </p:txBody>
      </p:sp>
      <p:sp>
        <p:nvSpPr>
          <p:cNvPr id="27" name="TextBox 26"/>
          <p:cNvSpPr txBox="1"/>
          <p:nvPr/>
        </p:nvSpPr>
        <p:spPr>
          <a:xfrm>
            <a:off x="1371600" y="4379976"/>
            <a:ext cx="5394960" cy="594360"/>
          </a:xfrm>
          <a:prstGeom prst="rect">
            <a:avLst/>
          </a:prstGeom>
          <a:noFill/>
        </p:spPr>
        <p:txBody>
          <a:bodyPr wrap="square">
            <a:spAutoFit/>
          </a:bodyPr>
          <a:lstStyle/>
          <a:p>
            <a:pPr algn="l">
              <a:spcBef>
                <a:spcPts val="0"/>
              </a:spcBef>
              <a:spcAft>
                <a:spcPts val="100"/>
              </a:spcAft>
            </a:pPr>
            <a:r>
              <a:rPr sz="1450" b="1" i="0">
                <a:solidFill>
                  <a:srgbClr val="1B211D"/>
                </a:solidFill>
                <a:latin typeface="Calibri"/>
              </a:rPr>
              <a:t>Sharing Open Results</a:t>
            </a:r>
          </a:p>
          <a:p>
            <a:pPr algn="l">
              <a:spcBef>
                <a:spcPts val="0"/>
              </a:spcBef>
              <a:spcAft>
                <a:spcPts val="600"/>
              </a:spcAft>
            </a:pPr>
            <a:r>
              <a:rPr sz="1250" b="0" i="0">
                <a:solidFill>
                  <a:srgbClr val="5B655F"/>
                </a:solidFill>
                <a:latin typeface="Calibri"/>
              </a:rPr>
              <a:t>Open access publishing models</a:t>
            </a:r>
          </a:p>
        </p:txBody>
      </p:sp>
      <p:sp>
        <p:nvSpPr>
          <p:cNvPr id="28" name="Rounded Rectangle 27"/>
          <p:cNvSpPr/>
          <p:nvPr/>
        </p:nvSpPr>
        <p:spPr>
          <a:xfrm>
            <a:off x="8549640" y="4489704"/>
            <a:ext cx="2331720" cy="365760"/>
          </a:xfrm>
          <a:prstGeom prst="roundRect">
            <a:avLst>
              <a:gd name="adj" fmla="val 50000"/>
            </a:avLst>
          </a:prstGeom>
          <a:solidFill>
            <a:srgbClr val="B345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549640" y="4489704"/>
            <a:ext cx="2331720" cy="365760"/>
          </a:xfrm>
          <a:prstGeom prst="rect">
            <a:avLst/>
          </a:prstGeom>
          <a:noFill/>
        </p:spPr>
        <p:txBody>
          <a:bodyPr wrap="square" anchor="ctr">
            <a:spAutoFit/>
          </a:bodyPr>
          <a:lstStyle/>
          <a:p>
            <a:pPr algn="ctr">
              <a:spcBef>
                <a:spcPts val="0"/>
              </a:spcBef>
              <a:spcAft>
                <a:spcPts val="600"/>
              </a:spcAft>
            </a:pPr>
            <a:r>
              <a:rPr sz="1050" b="1" i="0">
                <a:solidFill>
                  <a:srgbClr val="FFFFFF"/>
                </a:solidFill>
                <a:latin typeface="Calibri"/>
              </a:rPr>
              <a:t>TODAY · DEEP DIVE</a:t>
            </a:r>
          </a:p>
        </p:txBody>
      </p:sp>
      <p:sp>
        <p:nvSpPr>
          <p:cNvPr id="30" name="Rounded Rectangle 29"/>
          <p:cNvSpPr/>
          <p:nvPr/>
        </p:nvSpPr>
        <p:spPr>
          <a:xfrm>
            <a:off x="548640" y="5148072"/>
            <a:ext cx="10607040" cy="731520"/>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48640" y="5148072"/>
            <a:ext cx="640080" cy="731520"/>
          </a:xfrm>
          <a:prstGeom prst="rect">
            <a:avLst/>
          </a:prstGeom>
          <a:solidFill>
            <a:srgbClr val="B345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48640" y="5330952"/>
            <a:ext cx="640080" cy="365760"/>
          </a:xfrm>
          <a:prstGeom prst="rect">
            <a:avLst/>
          </a:prstGeom>
          <a:noFill/>
        </p:spPr>
        <p:txBody>
          <a:bodyPr wrap="square" anchor="ctr">
            <a:spAutoFit/>
          </a:bodyPr>
          <a:lstStyle/>
          <a:p>
            <a:pPr algn="ctr">
              <a:spcBef>
                <a:spcPts val="0"/>
              </a:spcBef>
              <a:spcAft>
                <a:spcPts val="600"/>
              </a:spcAft>
            </a:pPr>
            <a:r>
              <a:rPr sz="1500" b="1" i="0">
                <a:solidFill>
                  <a:srgbClr val="FFFFFF"/>
                </a:solidFill>
                <a:latin typeface="Calibri"/>
              </a:rPr>
              <a:t>L5</a:t>
            </a:r>
          </a:p>
        </p:txBody>
      </p:sp>
      <p:sp>
        <p:nvSpPr>
          <p:cNvPr id="33" name="TextBox 32"/>
          <p:cNvSpPr txBox="1"/>
          <p:nvPr/>
        </p:nvSpPr>
        <p:spPr>
          <a:xfrm>
            <a:off x="1371600" y="5221224"/>
            <a:ext cx="5394960" cy="594360"/>
          </a:xfrm>
          <a:prstGeom prst="rect">
            <a:avLst/>
          </a:prstGeom>
          <a:noFill/>
        </p:spPr>
        <p:txBody>
          <a:bodyPr wrap="square">
            <a:spAutoFit/>
          </a:bodyPr>
          <a:lstStyle/>
          <a:p>
            <a:pPr algn="l">
              <a:spcBef>
                <a:spcPts val="0"/>
              </a:spcBef>
              <a:spcAft>
                <a:spcPts val="100"/>
              </a:spcAft>
            </a:pPr>
            <a:r>
              <a:rPr sz="1450" b="1" i="0">
                <a:solidFill>
                  <a:srgbClr val="1B211D"/>
                </a:solidFill>
                <a:latin typeface="Calibri"/>
              </a:rPr>
              <a:t>From Theory to Practice</a:t>
            </a:r>
          </a:p>
          <a:p>
            <a:pPr algn="l">
              <a:spcBef>
                <a:spcPts val="0"/>
              </a:spcBef>
              <a:spcAft>
                <a:spcPts val="600"/>
              </a:spcAft>
            </a:pPr>
            <a:r>
              <a:rPr sz="1250" b="0" i="0">
                <a:solidFill>
                  <a:srgbClr val="5B655F"/>
                </a:solidFill>
                <a:latin typeface="Calibri"/>
              </a:rPr>
              <a:t>Your sharing checklist for the OSDMP</a:t>
            </a:r>
          </a:p>
        </p:txBody>
      </p:sp>
      <p:sp>
        <p:nvSpPr>
          <p:cNvPr id="34" name="Rounded Rectangle 33"/>
          <p:cNvSpPr/>
          <p:nvPr/>
        </p:nvSpPr>
        <p:spPr>
          <a:xfrm>
            <a:off x="8549640" y="5330952"/>
            <a:ext cx="2331720" cy="365760"/>
          </a:xfrm>
          <a:prstGeom prst="roundRect">
            <a:avLst>
              <a:gd name="adj" fmla="val 50000"/>
            </a:avLst>
          </a:prstGeom>
          <a:solidFill>
            <a:srgbClr val="C9C5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549640" y="5330952"/>
            <a:ext cx="2331720" cy="365760"/>
          </a:xfrm>
          <a:prstGeom prst="rect">
            <a:avLst/>
          </a:prstGeom>
          <a:noFill/>
        </p:spPr>
        <p:txBody>
          <a:bodyPr wrap="square" anchor="ctr">
            <a:spAutoFit/>
          </a:bodyPr>
          <a:lstStyle/>
          <a:p>
            <a:pPr algn="ctr">
              <a:spcBef>
                <a:spcPts val="0"/>
              </a:spcBef>
              <a:spcAft>
                <a:spcPts val="600"/>
              </a:spcAft>
            </a:pPr>
            <a:r>
              <a:rPr sz="1050" b="1" i="0">
                <a:solidFill>
                  <a:srgbClr val="1B211D"/>
                </a:solidFill>
                <a:latin typeface="Calibri"/>
              </a:rPr>
              <a:t>SELF-PACED FOLLOW-UP</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7F5EE"/>
        </a:solidFill>
        <a:effectLst/>
      </p:bgPr>
    </p:bg>
    <p:spTree>
      <p:nvGrpSpPr>
        <p:cNvPr id="1" name=""/>
        <p:cNvGrpSpPr/>
        <p:nvPr/>
      </p:nvGrpSpPr>
      <p:grpSpPr/>
      <p:sp>
        <p:nvSpPr>
          <p:cNvPr id="2" name="TextBox 1"/>
          <p:cNvSpPr txBox="1"/>
          <p:nvPr/>
        </p:nvSpPr>
        <p:spPr>
          <a:xfrm>
            <a:off x="548640" y="411480"/>
            <a:ext cx="7315200" cy="365760"/>
          </a:xfrm>
          <a:prstGeom prst="rect">
            <a:avLst/>
          </a:prstGeom>
          <a:noFill/>
        </p:spPr>
        <p:txBody>
          <a:bodyPr wrap="square">
            <a:spAutoFit/>
          </a:bodyPr>
          <a:lstStyle/>
          <a:p>
            <a:pPr algn="l">
              <a:spcBef>
                <a:spcPts val="0"/>
              </a:spcBef>
              <a:spcAft>
                <a:spcPts val="600"/>
              </a:spcAft>
            </a:pPr>
            <a:r>
              <a:rPr sz="1300" b="1" i="0" spc="120">
                <a:solidFill>
                  <a:srgbClr val="B3453A"/>
                </a:solidFill>
                <a:latin typeface="Calibri"/>
              </a:rPr>
              <a:t>1.2 · FULL CIRCLE</a:t>
            </a:r>
          </a:p>
        </p:txBody>
      </p:sp>
      <p:sp>
        <p:nvSpPr>
          <p:cNvPr id="3" name="TextBox 2"/>
          <p:cNvSpPr txBox="1"/>
          <p:nvPr/>
        </p:nvSpPr>
        <p:spPr>
          <a:xfrm>
            <a:off x="548640" y="777240"/>
            <a:ext cx="10789920" cy="822960"/>
          </a:xfrm>
          <a:prstGeom prst="rect">
            <a:avLst/>
          </a:prstGeom>
          <a:noFill/>
        </p:spPr>
        <p:txBody>
          <a:bodyPr wrap="square">
            <a:spAutoFit/>
          </a:bodyPr>
          <a:lstStyle/>
          <a:p>
            <a:pPr algn="l">
              <a:spcBef>
                <a:spcPts val="0"/>
              </a:spcBef>
              <a:spcAft>
                <a:spcPts val="600"/>
              </a:spcAft>
            </a:pPr>
            <a:r>
              <a:rPr sz="3000" b="1" i="0">
                <a:solidFill>
                  <a:srgbClr val="1B211D"/>
                </a:solidFill>
                <a:latin typeface="Georgia"/>
              </a:rPr>
              <a:t>Back to that 70% — what's actually causing it?</a:t>
            </a:r>
          </a:p>
        </p:txBody>
      </p:sp>
      <p:sp>
        <p:nvSpPr>
          <p:cNvPr id="4" name="TextBox 3"/>
          <p:cNvSpPr txBox="1"/>
          <p:nvPr/>
        </p:nvSpPr>
        <p:spPr>
          <a:xfrm>
            <a:off x="548640" y="6473952"/>
            <a:ext cx="8229600" cy="320040"/>
          </a:xfrm>
          <a:prstGeom prst="rect">
            <a:avLst/>
          </a:prstGeom>
          <a:noFill/>
        </p:spPr>
        <p:txBody>
          <a:bodyPr wrap="square">
            <a:spAutoFit/>
          </a:bodyPr>
          <a:lstStyle/>
          <a:p>
            <a:pPr algn="l">
              <a:spcBef>
                <a:spcPts val="0"/>
              </a:spcBef>
              <a:spcAft>
                <a:spcPts val="600"/>
              </a:spcAft>
            </a:pPr>
            <a:r>
              <a:rPr sz="1000" b="0" i="0">
                <a:solidFill>
                  <a:srgbClr val="5B655F"/>
                </a:solidFill>
                <a:latin typeface="Calibri"/>
              </a:rPr>
              <a:t>Module 4 · Open Results</a:t>
            </a:r>
          </a:p>
        </p:txBody>
      </p:sp>
      <p:sp>
        <p:nvSpPr>
          <p:cNvPr id="5" name="Rectangle 4"/>
          <p:cNvSpPr/>
          <p:nvPr/>
        </p:nvSpPr>
        <p:spPr>
          <a:xfrm>
            <a:off x="0" y="6419088"/>
            <a:ext cx="12191695" cy="17780"/>
          </a:xfrm>
          <a:prstGeom prst="rect">
            <a:avLst/>
          </a:prstGeom>
          <a:solidFill>
            <a:srgbClr val="B345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691640"/>
            <a:ext cx="10607040" cy="457200"/>
          </a:xfrm>
          <a:prstGeom prst="rect">
            <a:avLst/>
          </a:prstGeom>
          <a:noFill/>
        </p:spPr>
        <p:txBody>
          <a:bodyPr wrap="square">
            <a:spAutoFit/>
          </a:bodyPr>
          <a:lstStyle/>
          <a:p>
            <a:pPr algn="l">
              <a:spcBef>
                <a:spcPts val="0"/>
              </a:spcBef>
              <a:spcAft>
                <a:spcPts val="600"/>
              </a:spcAft>
            </a:pPr>
            <a:r>
              <a:rPr sz="1600" b="0" i="1">
                <a:solidFill>
                  <a:srgbClr val="5B655F"/>
                </a:solidFill>
                <a:latin typeface="Calibri"/>
              </a:rPr>
              <a:t>Six documented causes of irreproducibility:</a:t>
            </a:r>
          </a:p>
        </p:txBody>
      </p:sp>
      <p:sp>
        <p:nvSpPr>
          <p:cNvPr id="7" name="TextBox 6"/>
          <p:cNvSpPr txBox="1"/>
          <p:nvPr/>
        </p:nvSpPr>
        <p:spPr>
          <a:xfrm>
            <a:off x="548640" y="2286000"/>
            <a:ext cx="5212080" cy="731520"/>
          </a:xfrm>
          <a:prstGeom prst="rect">
            <a:avLst/>
          </a:prstGeom>
          <a:noFill/>
        </p:spPr>
        <p:txBody>
          <a:bodyPr wrap="square">
            <a:spAutoFit/>
          </a:bodyPr>
          <a:lstStyle/>
          <a:p>
            <a:pPr>
              <a:lnSpc>
                <a:spcPct val="108000"/>
              </a:lnSpc>
              <a:spcAft>
                <a:spcPts val="0"/>
              </a:spcAft>
            </a:pPr>
            <a:r>
              <a:rPr sz="1450" b="1" i="0">
                <a:solidFill>
                  <a:srgbClr val="1B211D"/>
                </a:solidFill>
                <a:latin typeface="Calibri"/>
              </a:rPr>
              <a:t>Data unavailable  —</a:t>
            </a:r>
            <a:r>
              <a:rPr sz="1450" b="0" i="0">
                <a:solidFill>
                  <a:srgbClr val="1B211D"/>
                </a:solidFill>
                <a:latin typeface="Calibri"/>
              </a:rPr>
              <a:t>  no way to verify calculations</a:t>
            </a:r>
          </a:p>
        </p:txBody>
      </p:sp>
      <p:sp>
        <p:nvSpPr>
          <p:cNvPr id="8" name="TextBox 7"/>
          <p:cNvSpPr txBox="1"/>
          <p:nvPr/>
        </p:nvSpPr>
        <p:spPr>
          <a:xfrm>
            <a:off x="5943600" y="2286000"/>
            <a:ext cx="5212080" cy="731520"/>
          </a:xfrm>
          <a:prstGeom prst="rect">
            <a:avLst/>
          </a:prstGeom>
          <a:noFill/>
        </p:spPr>
        <p:txBody>
          <a:bodyPr wrap="square">
            <a:spAutoFit/>
          </a:bodyPr>
          <a:lstStyle/>
          <a:p>
            <a:pPr>
              <a:lnSpc>
                <a:spcPct val="108000"/>
              </a:lnSpc>
              <a:spcAft>
                <a:spcPts val="0"/>
              </a:spcAft>
            </a:pPr>
            <a:r>
              <a:rPr sz="1450" b="1" i="0">
                <a:solidFill>
                  <a:srgbClr val="1B211D"/>
                </a:solidFill>
                <a:latin typeface="Calibri"/>
              </a:rPr>
              <a:t>Methods vague  —</a:t>
            </a:r>
            <a:r>
              <a:rPr sz="1450" b="0" i="0">
                <a:solidFill>
                  <a:srgbClr val="1B211D"/>
                </a:solidFill>
                <a:latin typeface="Calibri"/>
              </a:rPr>
              <a:t>  “available upon request” (often denied)</a:t>
            </a:r>
          </a:p>
        </p:txBody>
      </p:sp>
      <p:sp>
        <p:nvSpPr>
          <p:cNvPr id="9" name="TextBox 8"/>
          <p:cNvSpPr txBox="1"/>
          <p:nvPr/>
        </p:nvSpPr>
        <p:spPr>
          <a:xfrm>
            <a:off x="548640" y="3063240"/>
            <a:ext cx="5212080" cy="731520"/>
          </a:xfrm>
          <a:prstGeom prst="rect">
            <a:avLst/>
          </a:prstGeom>
          <a:noFill/>
        </p:spPr>
        <p:txBody>
          <a:bodyPr wrap="square">
            <a:spAutoFit/>
          </a:bodyPr>
          <a:lstStyle/>
          <a:p>
            <a:pPr>
              <a:lnSpc>
                <a:spcPct val="108000"/>
              </a:lnSpc>
              <a:spcAft>
                <a:spcPts val="0"/>
              </a:spcAft>
            </a:pPr>
            <a:r>
              <a:rPr sz="1450" b="1" i="0">
                <a:solidFill>
                  <a:srgbClr val="1B211D"/>
                </a:solidFill>
                <a:latin typeface="Calibri"/>
              </a:rPr>
              <a:t>Code unavailable  —</a:t>
            </a:r>
            <a:r>
              <a:rPr sz="1450" b="0" i="0">
                <a:solidFill>
                  <a:srgbClr val="1B211D"/>
                </a:solidFill>
                <a:latin typeface="Calibri"/>
              </a:rPr>
              <a:t>  computation can't be checked</a:t>
            </a:r>
          </a:p>
        </p:txBody>
      </p:sp>
      <p:sp>
        <p:nvSpPr>
          <p:cNvPr id="10" name="TextBox 9"/>
          <p:cNvSpPr txBox="1"/>
          <p:nvPr/>
        </p:nvSpPr>
        <p:spPr>
          <a:xfrm>
            <a:off x="5943600" y="3063240"/>
            <a:ext cx="5212080" cy="731520"/>
          </a:xfrm>
          <a:prstGeom prst="rect">
            <a:avLst/>
          </a:prstGeom>
          <a:noFill/>
        </p:spPr>
        <p:txBody>
          <a:bodyPr wrap="square">
            <a:spAutoFit/>
          </a:bodyPr>
          <a:lstStyle/>
          <a:p>
            <a:pPr>
              <a:lnSpc>
                <a:spcPct val="108000"/>
              </a:lnSpc>
              <a:spcAft>
                <a:spcPts val="0"/>
              </a:spcAft>
            </a:pPr>
            <a:r>
              <a:rPr sz="1450" b="1" i="0">
                <a:solidFill>
                  <a:srgbClr val="1B211D"/>
                </a:solidFill>
                <a:latin typeface="Calibri"/>
              </a:rPr>
              <a:t>Publication bias  —</a:t>
            </a:r>
            <a:r>
              <a:rPr sz="1450" b="0" i="0">
                <a:solidFill>
                  <a:srgbClr val="1B211D"/>
                </a:solidFill>
                <a:latin typeface="Calibri"/>
              </a:rPr>
              <a:t>  only positive results get published</a:t>
            </a:r>
          </a:p>
        </p:txBody>
      </p:sp>
      <p:sp>
        <p:nvSpPr>
          <p:cNvPr id="11" name="TextBox 10"/>
          <p:cNvSpPr txBox="1"/>
          <p:nvPr/>
        </p:nvSpPr>
        <p:spPr>
          <a:xfrm>
            <a:off x="548640" y="3840480"/>
            <a:ext cx="5212080" cy="731520"/>
          </a:xfrm>
          <a:prstGeom prst="rect">
            <a:avLst/>
          </a:prstGeom>
          <a:noFill/>
        </p:spPr>
        <p:txBody>
          <a:bodyPr wrap="square">
            <a:spAutoFit/>
          </a:bodyPr>
          <a:lstStyle/>
          <a:p>
            <a:pPr>
              <a:lnSpc>
                <a:spcPct val="108000"/>
              </a:lnSpc>
              <a:spcAft>
                <a:spcPts val="0"/>
              </a:spcAft>
            </a:pPr>
            <a:r>
              <a:rPr sz="1450" b="1" i="0">
                <a:solidFill>
                  <a:srgbClr val="1B211D"/>
                </a:solidFill>
                <a:latin typeface="Calibri"/>
              </a:rPr>
              <a:t>P-hacking &amp; HARKing  —</a:t>
            </a:r>
            <a:r>
              <a:rPr sz="1450" b="0" i="0">
                <a:solidFill>
                  <a:srgbClr val="1B211D"/>
                </a:solidFill>
                <a:latin typeface="Calibri"/>
              </a:rPr>
              <a:t>  hypotheses fitted after the fact</a:t>
            </a:r>
          </a:p>
        </p:txBody>
      </p:sp>
      <p:sp>
        <p:nvSpPr>
          <p:cNvPr id="12" name="TextBox 11"/>
          <p:cNvSpPr txBox="1"/>
          <p:nvPr/>
        </p:nvSpPr>
        <p:spPr>
          <a:xfrm>
            <a:off x="5943600" y="3840480"/>
            <a:ext cx="5212080" cy="731520"/>
          </a:xfrm>
          <a:prstGeom prst="rect">
            <a:avLst/>
          </a:prstGeom>
          <a:noFill/>
        </p:spPr>
        <p:txBody>
          <a:bodyPr wrap="square">
            <a:spAutoFit/>
          </a:bodyPr>
          <a:lstStyle/>
          <a:p>
            <a:pPr>
              <a:lnSpc>
                <a:spcPct val="108000"/>
              </a:lnSpc>
              <a:spcAft>
                <a:spcPts val="0"/>
              </a:spcAft>
            </a:pPr>
            <a:r>
              <a:rPr sz="1450" b="1" i="0">
                <a:solidFill>
                  <a:srgbClr val="1B211D"/>
                </a:solidFill>
                <a:latin typeface="Calibri"/>
              </a:rPr>
              <a:t>Incentives  —</a:t>
            </a:r>
            <a:r>
              <a:rPr sz="1450" b="0" i="0">
                <a:solidFill>
                  <a:srgbClr val="1B211D"/>
                </a:solidFill>
                <a:latin typeface="Calibri"/>
              </a:rPr>
              <a:t>  publish-or-perish rewards novelty over rigor</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7F5EE"/>
        </a:solidFill>
        <a:effectLst/>
      </p:bgPr>
    </p:bg>
    <p:spTree>
      <p:nvGrpSpPr>
        <p:cNvPr id="1" name=""/>
        <p:cNvGrpSpPr/>
        <p:nvPr/>
      </p:nvGrpSpPr>
      <p:grpSpPr/>
      <p:sp>
        <p:nvSpPr>
          <p:cNvPr id="2" name="TextBox 1"/>
          <p:cNvSpPr txBox="1"/>
          <p:nvPr/>
        </p:nvSpPr>
        <p:spPr>
          <a:xfrm>
            <a:off x="548640" y="411480"/>
            <a:ext cx="7315200" cy="365760"/>
          </a:xfrm>
          <a:prstGeom prst="rect">
            <a:avLst/>
          </a:prstGeom>
          <a:noFill/>
        </p:spPr>
        <p:txBody>
          <a:bodyPr wrap="square">
            <a:spAutoFit/>
          </a:bodyPr>
          <a:lstStyle/>
          <a:p>
            <a:pPr algn="l">
              <a:spcBef>
                <a:spcPts val="0"/>
              </a:spcBef>
              <a:spcAft>
                <a:spcPts val="600"/>
              </a:spcAft>
            </a:pPr>
            <a:r>
              <a:rPr sz="1300" b="1" i="0" spc="120">
                <a:solidFill>
                  <a:srgbClr val="B3453A"/>
                </a:solidFill>
                <a:latin typeface="Calibri"/>
              </a:rPr>
              <a:t>2.2 · LIGHTNING ROUND</a:t>
            </a:r>
          </a:p>
        </p:txBody>
      </p:sp>
      <p:sp>
        <p:nvSpPr>
          <p:cNvPr id="3" name="TextBox 2"/>
          <p:cNvSpPr txBox="1"/>
          <p:nvPr/>
        </p:nvSpPr>
        <p:spPr>
          <a:xfrm>
            <a:off x="548640" y="777240"/>
            <a:ext cx="10789920" cy="822960"/>
          </a:xfrm>
          <a:prstGeom prst="rect">
            <a:avLst/>
          </a:prstGeom>
          <a:noFill/>
        </p:spPr>
        <p:txBody>
          <a:bodyPr wrap="square">
            <a:spAutoFit/>
          </a:bodyPr>
          <a:lstStyle/>
          <a:p>
            <a:pPr algn="l">
              <a:spcBef>
                <a:spcPts val="0"/>
              </a:spcBef>
              <a:spcAft>
                <a:spcPts val="600"/>
              </a:spcAft>
            </a:pPr>
            <a:r>
              <a:rPr sz="3000" b="1" i="0">
                <a:solidFill>
                  <a:srgbClr val="1B211D"/>
                </a:solidFill>
                <a:latin typeface="Georgia"/>
              </a:rPr>
              <a:t>L2 — Discover, assess &amp; reuse open results</a:t>
            </a:r>
          </a:p>
        </p:txBody>
      </p:sp>
      <p:sp>
        <p:nvSpPr>
          <p:cNvPr id="4" name="TextBox 3"/>
          <p:cNvSpPr txBox="1"/>
          <p:nvPr/>
        </p:nvSpPr>
        <p:spPr>
          <a:xfrm>
            <a:off x="548640" y="6473952"/>
            <a:ext cx="8229600" cy="320040"/>
          </a:xfrm>
          <a:prstGeom prst="rect">
            <a:avLst/>
          </a:prstGeom>
          <a:noFill/>
        </p:spPr>
        <p:txBody>
          <a:bodyPr wrap="square">
            <a:spAutoFit/>
          </a:bodyPr>
          <a:lstStyle/>
          <a:p>
            <a:pPr algn="l">
              <a:spcBef>
                <a:spcPts val="0"/>
              </a:spcBef>
              <a:spcAft>
                <a:spcPts val="600"/>
              </a:spcAft>
            </a:pPr>
            <a:r>
              <a:rPr sz="1000" b="0" i="0">
                <a:solidFill>
                  <a:srgbClr val="5B655F"/>
                </a:solidFill>
                <a:latin typeface="Calibri"/>
              </a:rPr>
              <a:t>Module 4 · Open Results</a:t>
            </a:r>
          </a:p>
        </p:txBody>
      </p:sp>
      <p:sp>
        <p:nvSpPr>
          <p:cNvPr id="5" name="Rectangle 4"/>
          <p:cNvSpPr/>
          <p:nvPr/>
        </p:nvSpPr>
        <p:spPr>
          <a:xfrm>
            <a:off x="0" y="6419088"/>
            <a:ext cx="12191695" cy="17780"/>
          </a:xfrm>
          <a:prstGeom prst="rect">
            <a:avLst/>
          </a:prstGeom>
          <a:solidFill>
            <a:srgbClr val="B345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645920"/>
            <a:ext cx="5120640" cy="4297680"/>
          </a:xfrm>
          <a:prstGeom prst="rect">
            <a:avLst/>
          </a:prstGeom>
          <a:noFill/>
        </p:spPr>
        <p:txBody>
          <a:bodyPr wrap="square">
            <a:spAutoFit/>
          </a:bodyPr>
          <a:lstStyle/>
          <a:p>
            <a:pPr algn="l">
              <a:lnSpc>
                <a:spcPct val="108000"/>
              </a:lnSpc>
              <a:spcBef>
                <a:spcPts val="0"/>
              </a:spcBef>
              <a:spcAft>
                <a:spcPts val="1400"/>
              </a:spcAft>
            </a:pPr>
            <a:r>
              <a:rPr sz="1300" b="1" i="0">
                <a:solidFill>
                  <a:srgbClr val="B3453A"/>
                </a:solidFill>
                <a:latin typeface="Calibri"/>
              </a:rPr>
              <a:t>KNOW YOUR SOURCE</a:t>
            </a:r>
            <a:r>
              <a:rPr sz="1400" b="0" i="0">
                <a:solidFill>
                  <a:srgbClr val="1B211D"/>
                </a:solidFill>
                <a:latin typeface="Calibri"/>
              </a:rPr>
              <a:t>•  Peer-reviewed — vetted, but review rigor varies and publication bias exists</a:t>
            </a:r>
          </a:p>
          <a:p>
            <a:pPr>
              <a:lnSpc>
                <a:spcPct val="108000"/>
              </a:lnSpc>
              <a:spcAft>
                <a:spcPts val="1400"/>
              </a:spcAft>
            </a:pPr>
            <a:r>
              <a:rPr sz="1400" b="0" i="0">
                <a:solidFill>
                  <a:srgbClr val="1B211D"/>
                </a:solidFill>
                <a:latin typeface="Calibri"/>
              </a:rPr>
              <a:t>•  Preprints — fast and early, but not yet reviewed; quality varies widely</a:t>
            </a:r>
          </a:p>
          <a:p>
            <a:pPr>
              <a:lnSpc>
                <a:spcPct val="108000"/>
              </a:lnSpc>
              <a:spcAft>
                <a:spcPts val="1400"/>
              </a:spcAft>
            </a:pPr>
            <a:r>
              <a:rPr sz="1400" b="0" i="0">
                <a:solidFill>
                  <a:srgbClr val="1B211D"/>
                </a:solidFill>
                <a:latin typeface="Calibri"/>
              </a:rPr>
              <a:t>•  Gray literature (theses, reports) — often detailed, rarely reviewed</a:t>
            </a:r>
          </a:p>
        </p:txBody>
      </p:sp>
      <p:sp>
        <p:nvSpPr>
          <p:cNvPr id="7" name="TextBox 6"/>
          <p:cNvSpPr txBox="1"/>
          <p:nvPr/>
        </p:nvSpPr>
        <p:spPr>
          <a:xfrm>
            <a:off x="5943600" y="1645920"/>
            <a:ext cx="5394960" cy="4297680"/>
          </a:xfrm>
          <a:prstGeom prst="rect">
            <a:avLst/>
          </a:prstGeom>
          <a:noFill/>
        </p:spPr>
        <p:txBody>
          <a:bodyPr wrap="square">
            <a:spAutoFit/>
          </a:bodyPr>
          <a:lstStyle/>
          <a:p>
            <a:pPr algn="l">
              <a:lnSpc>
                <a:spcPct val="108000"/>
              </a:lnSpc>
              <a:spcBef>
                <a:spcPts val="0"/>
              </a:spcBef>
              <a:spcAft>
                <a:spcPts val="1100"/>
              </a:spcAft>
            </a:pPr>
            <a:r>
              <a:rPr sz="1300" b="1" i="0">
                <a:solidFill>
                  <a:srgbClr val="B3453A"/>
                </a:solidFill>
                <a:latin typeface="Calibri"/>
              </a:rPr>
              <a:t>FIVE-QUESTION QUALITY CHECK</a:t>
            </a:r>
            <a:r>
              <a:rPr sz="1400" b="0" i="0">
                <a:solidFill>
                  <a:srgbClr val="1B211D"/>
                </a:solidFill>
                <a:latin typeface="Calibri"/>
              </a:rPr>
              <a:t>•  Are methods clear enough to understand, not just skim?</a:t>
            </a:r>
          </a:p>
          <a:p>
            <a:pPr>
              <a:lnSpc>
                <a:spcPct val="108000"/>
              </a:lnSpc>
              <a:spcAft>
                <a:spcPts val="1100"/>
              </a:spcAft>
            </a:pPr>
            <a:r>
              <a:rPr sz="1400" b="0" i="0">
                <a:solidFill>
                  <a:srgbClr val="1B211D"/>
                </a:solidFill>
                <a:latin typeface="Calibri"/>
              </a:rPr>
              <a:t>•  Are conclusions actually supported by the data shown?</a:t>
            </a:r>
          </a:p>
          <a:p>
            <a:pPr>
              <a:lnSpc>
                <a:spcPct val="108000"/>
              </a:lnSpc>
              <a:spcAft>
                <a:spcPts val="1100"/>
              </a:spcAft>
            </a:pPr>
            <a:r>
              <a:rPr sz="1400" b="0" i="0">
                <a:solidFill>
                  <a:srgbClr val="1B211D"/>
                </a:solidFill>
                <a:latin typeface="Calibri"/>
              </a:rPr>
              <a:t>•  Are limitations acknowledged, not buried?</a:t>
            </a:r>
          </a:p>
          <a:p>
            <a:pPr>
              <a:lnSpc>
                <a:spcPct val="108000"/>
              </a:lnSpc>
              <a:spcAft>
                <a:spcPts val="1100"/>
              </a:spcAft>
            </a:pPr>
            <a:r>
              <a:rPr sz="1400" b="0" i="0">
                <a:solidFill>
                  <a:srgbClr val="1B211D"/>
                </a:solidFill>
                <a:latin typeface="Calibri"/>
              </a:rPr>
              <a:t>•  Is data/code available, and is there a DOI?</a:t>
            </a:r>
          </a:p>
          <a:p>
            <a:pPr>
              <a:lnSpc>
                <a:spcPct val="108000"/>
              </a:lnSpc>
              <a:spcAft>
                <a:spcPts val="1100"/>
              </a:spcAft>
            </a:pPr>
            <a:r>
              <a:rPr sz="1400" b="0" i="0">
                <a:solidFill>
                  <a:srgbClr val="1B211D"/>
                </a:solidFill>
                <a:latin typeface="Calibri"/>
              </a:rPr>
              <a:t>•  Has it been reproduced or cited by anyone else?</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7F5EE"/>
        </a:solidFill>
        <a:effectLst/>
      </p:bgPr>
    </p:bg>
    <p:spTree>
      <p:nvGrpSpPr>
        <p:cNvPr id="1" name=""/>
        <p:cNvGrpSpPr/>
        <p:nvPr/>
      </p:nvGrpSpPr>
      <p:grpSpPr/>
      <p:sp>
        <p:nvSpPr>
          <p:cNvPr id="2" name="TextBox 1"/>
          <p:cNvSpPr txBox="1"/>
          <p:nvPr/>
        </p:nvSpPr>
        <p:spPr>
          <a:xfrm>
            <a:off x="548640" y="411480"/>
            <a:ext cx="7315200" cy="365760"/>
          </a:xfrm>
          <a:prstGeom prst="rect">
            <a:avLst/>
          </a:prstGeom>
          <a:noFill/>
        </p:spPr>
        <p:txBody>
          <a:bodyPr wrap="square">
            <a:spAutoFit/>
          </a:bodyPr>
          <a:lstStyle/>
          <a:p>
            <a:pPr algn="l">
              <a:spcBef>
                <a:spcPts val="0"/>
              </a:spcBef>
              <a:spcAft>
                <a:spcPts val="600"/>
              </a:spcAft>
            </a:pPr>
            <a:r>
              <a:rPr sz="1300" b="1" i="0" spc="120">
                <a:solidFill>
                  <a:srgbClr val="B3453A"/>
                </a:solidFill>
                <a:latin typeface="Calibri"/>
              </a:rPr>
              <a:t>4.1 · PUBLISHING OPEN</a:t>
            </a:r>
          </a:p>
        </p:txBody>
      </p:sp>
      <p:sp>
        <p:nvSpPr>
          <p:cNvPr id="3" name="TextBox 2"/>
          <p:cNvSpPr txBox="1"/>
          <p:nvPr/>
        </p:nvSpPr>
        <p:spPr>
          <a:xfrm>
            <a:off x="548640" y="777240"/>
            <a:ext cx="10789920" cy="822960"/>
          </a:xfrm>
          <a:prstGeom prst="rect">
            <a:avLst/>
          </a:prstGeom>
          <a:noFill/>
        </p:spPr>
        <p:txBody>
          <a:bodyPr wrap="square">
            <a:spAutoFit/>
          </a:bodyPr>
          <a:lstStyle/>
          <a:p>
            <a:pPr algn="l">
              <a:spcBef>
                <a:spcPts val="0"/>
              </a:spcBef>
              <a:spcAft>
                <a:spcPts val="600"/>
              </a:spcAft>
            </a:pPr>
            <a:r>
              <a:rPr sz="3000" b="1" i="0">
                <a:solidFill>
                  <a:srgbClr val="1B211D"/>
                </a:solidFill>
                <a:latin typeface="Georgia"/>
              </a:rPr>
              <a:t>Open access, four ways</a:t>
            </a:r>
          </a:p>
        </p:txBody>
      </p:sp>
      <p:sp>
        <p:nvSpPr>
          <p:cNvPr id="4" name="TextBox 3"/>
          <p:cNvSpPr txBox="1"/>
          <p:nvPr/>
        </p:nvSpPr>
        <p:spPr>
          <a:xfrm>
            <a:off x="548640" y="6473952"/>
            <a:ext cx="8229600" cy="320040"/>
          </a:xfrm>
          <a:prstGeom prst="rect">
            <a:avLst/>
          </a:prstGeom>
          <a:noFill/>
        </p:spPr>
        <p:txBody>
          <a:bodyPr wrap="square">
            <a:spAutoFit/>
          </a:bodyPr>
          <a:lstStyle/>
          <a:p>
            <a:pPr algn="l">
              <a:spcBef>
                <a:spcPts val="0"/>
              </a:spcBef>
              <a:spcAft>
                <a:spcPts val="600"/>
              </a:spcAft>
            </a:pPr>
            <a:r>
              <a:rPr sz="1000" b="0" i="0">
                <a:solidFill>
                  <a:srgbClr val="5B655F"/>
                </a:solidFill>
                <a:latin typeface="Calibri"/>
              </a:rPr>
              <a:t>Module 4 · Open Results</a:t>
            </a:r>
          </a:p>
        </p:txBody>
      </p:sp>
      <p:sp>
        <p:nvSpPr>
          <p:cNvPr id="5" name="Rectangle 4"/>
          <p:cNvSpPr/>
          <p:nvPr/>
        </p:nvSpPr>
        <p:spPr>
          <a:xfrm>
            <a:off x="0" y="6419088"/>
            <a:ext cx="12191695" cy="17780"/>
          </a:xfrm>
          <a:prstGeom prst="rect">
            <a:avLst/>
          </a:prstGeom>
          <a:solidFill>
            <a:srgbClr val="B345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783080"/>
            <a:ext cx="10607040" cy="365760"/>
          </a:xfrm>
          <a:prstGeom prst="rect">
            <a:avLst/>
          </a:prstGeom>
          <a:solidFill>
            <a:srgbClr val="B345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801368"/>
            <a:ext cx="1325880" cy="329184"/>
          </a:xfrm>
          <a:prstGeom prst="rect">
            <a:avLst/>
          </a:prstGeom>
          <a:noFill/>
        </p:spPr>
        <p:txBody>
          <a:bodyPr wrap="square">
            <a:spAutoFit/>
          </a:bodyPr>
          <a:lstStyle/>
          <a:p>
            <a:pPr algn="l">
              <a:spcBef>
                <a:spcPts val="0"/>
              </a:spcBef>
              <a:spcAft>
                <a:spcPts val="600"/>
              </a:spcAft>
            </a:pPr>
            <a:r>
              <a:rPr sz="1150" b="1" i="0">
                <a:solidFill>
                  <a:srgbClr val="FFFFFF"/>
                </a:solidFill>
                <a:latin typeface="Calibri"/>
              </a:rPr>
              <a:t>MODEL</a:t>
            </a:r>
          </a:p>
        </p:txBody>
      </p:sp>
      <p:sp>
        <p:nvSpPr>
          <p:cNvPr id="8" name="TextBox 7"/>
          <p:cNvSpPr txBox="1"/>
          <p:nvPr/>
        </p:nvSpPr>
        <p:spPr>
          <a:xfrm>
            <a:off x="2103120" y="1801368"/>
            <a:ext cx="2514600" cy="329184"/>
          </a:xfrm>
          <a:prstGeom prst="rect">
            <a:avLst/>
          </a:prstGeom>
          <a:noFill/>
        </p:spPr>
        <p:txBody>
          <a:bodyPr wrap="square">
            <a:spAutoFit/>
          </a:bodyPr>
          <a:lstStyle/>
          <a:p>
            <a:pPr algn="l">
              <a:spcBef>
                <a:spcPts val="0"/>
              </a:spcBef>
              <a:spcAft>
                <a:spcPts val="600"/>
              </a:spcAft>
            </a:pPr>
            <a:r>
              <a:rPr sz="1150" b="1" i="0">
                <a:solidFill>
                  <a:srgbClr val="FFFFFF"/>
                </a:solidFill>
                <a:latin typeface="Calibri"/>
              </a:rPr>
              <a:t>HOW IT WORKS</a:t>
            </a:r>
          </a:p>
        </p:txBody>
      </p:sp>
      <p:sp>
        <p:nvSpPr>
          <p:cNvPr id="9" name="TextBox 8"/>
          <p:cNvSpPr txBox="1"/>
          <p:nvPr/>
        </p:nvSpPr>
        <p:spPr>
          <a:xfrm>
            <a:off x="4754880" y="1801368"/>
            <a:ext cx="4343400" cy="329184"/>
          </a:xfrm>
          <a:prstGeom prst="rect">
            <a:avLst/>
          </a:prstGeom>
          <a:noFill/>
        </p:spPr>
        <p:txBody>
          <a:bodyPr wrap="square">
            <a:spAutoFit/>
          </a:bodyPr>
          <a:lstStyle/>
          <a:p>
            <a:pPr algn="l">
              <a:spcBef>
                <a:spcPts val="0"/>
              </a:spcBef>
              <a:spcAft>
                <a:spcPts val="600"/>
              </a:spcAft>
            </a:pPr>
            <a:r>
              <a:rPr sz="1150" b="1" i="0">
                <a:solidFill>
                  <a:srgbClr val="FFFFFF"/>
                </a:solidFill>
                <a:latin typeface="Calibri"/>
              </a:rPr>
              <a:t>TRADE-OFF</a:t>
            </a:r>
          </a:p>
        </p:txBody>
      </p:sp>
      <p:sp>
        <p:nvSpPr>
          <p:cNvPr id="10" name="TextBox 9"/>
          <p:cNvSpPr txBox="1"/>
          <p:nvPr/>
        </p:nvSpPr>
        <p:spPr>
          <a:xfrm>
            <a:off x="9235440" y="1801368"/>
            <a:ext cx="1874520" cy="329184"/>
          </a:xfrm>
          <a:prstGeom prst="rect">
            <a:avLst/>
          </a:prstGeom>
          <a:noFill/>
        </p:spPr>
        <p:txBody>
          <a:bodyPr wrap="square">
            <a:spAutoFit/>
          </a:bodyPr>
          <a:lstStyle/>
          <a:p>
            <a:pPr algn="l">
              <a:spcBef>
                <a:spcPts val="0"/>
              </a:spcBef>
              <a:spcAft>
                <a:spcPts val="600"/>
              </a:spcAft>
            </a:pPr>
            <a:r>
              <a:rPr sz="1150" b="1" i="0">
                <a:solidFill>
                  <a:srgbClr val="FFFFFF"/>
                </a:solidFill>
                <a:latin typeface="Calibri"/>
              </a:rPr>
              <a:t>EXAMPLES</a:t>
            </a:r>
          </a:p>
        </p:txBody>
      </p:sp>
      <p:sp>
        <p:nvSpPr>
          <p:cNvPr id="11" name="Rectangle 10"/>
          <p:cNvSpPr/>
          <p:nvPr/>
        </p:nvSpPr>
        <p:spPr>
          <a:xfrm>
            <a:off x="548640" y="2148840"/>
            <a:ext cx="10607040" cy="8412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2221992"/>
            <a:ext cx="1280160" cy="731520"/>
          </a:xfrm>
          <a:prstGeom prst="rect">
            <a:avLst/>
          </a:prstGeom>
          <a:noFill/>
        </p:spPr>
        <p:txBody>
          <a:bodyPr wrap="square">
            <a:spAutoFit/>
          </a:bodyPr>
          <a:lstStyle/>
          <a:p>
            <a:pPr algn="l">
              <a:lnSpc>
                <a:spcPct val="110000"/>
              </a:lnSpc>
              <a:spcBef>
                <a:spcPts val="0"/>
              </a:spcBef>
              <a:spcAft>
                <a:spcPts val="600"/>
              </a:spcAft>
            </a:pPr>
            <a:r>
              <a:rPr sz="1250" b="1" i="0">
                <a:solidFill>
                  <a:srgbClr val="B3453A"/>
                </a:solidFill>
                <a:latin typeface="Calibri"/>
              </a:rPr>
              <a:t>Gold</a:t>
            </a:r>
          </a:p>
        </p:txBody>
      </p:sp>
      <p:sp>
        <p:nvSpPr>
          <p:cNvPr id="13" name="TextBox 12"/>
          <p:cNvSpPr txBox="1"/>
          <p:nvPr/>
        </p:nvSpPr>
        <p:spPr>
          <a:xfrm>
            <a:off x="2103120" y="2221992"/>
            <a:ext cx="2468880" cy="731520"/>
          </a:xfrm>
          <a:prstGeom prst="rect">
            <a:avLst/>
          </a:prstGeom>
          <a:noFill/>
        </p:spPr>
        <p:txBody>
          <a:bodyPr wrap="square">
            <a:spAutoFit/>
          </a:bodyPr>
          <a:lstStyle/>
          <a:p>
            <a:pPr algn="l">
              <a:lnSpc>
                <a:spcPct val="110000"/>
              </a:lnSpc>
              <a:spcBef>
                <a:spcPts val="0"/>
              </a:spcBef>
              <a:spcAft>
                <a:spcPts val="600"/>
              </a:spcAft>
            </a:pPr>
            <a:r>
              <a:rPr sz="1250" b="0" i="0">
                <a:solidFill>
                  <a:srgbClr val="1B211D"/>
                </a:solidFill>
                <a:latin typeface="Calibri"/>
              </a:rPr>
              <a:t>Publisher OA, immediate</a:t>
            </a:r>
          </a:p>
        </p:txBody>
      </p:sp>
      <p:sp>
        <p:nvSpPr>
          <p:cNvPr id="14" name="TextBox 13"/>
          <p:cNvSpPr txBox="1"/>
          <p:nvPr/>
        </p:nvSpPr>
        <p:spPr>
          <a:xfrm>
            <a:off x="4754880" y="2221992"/>
            <a:ext cx="4297680" cy="731520"/>
          </a:xfrm>
          <a:prstGeom prst="rect">
            <a:avLst/>
          </a:prstGeom>
          <a:noFill/>
        </p:spPr>
        <p:txBody>
          <a:bodyPr wrap="square">
            <a:spAutoFit/>
          </a:bodyPr>
          <a:lstStyle/>
          <a:p>
            <a:pPr algn="l">
              <a:lnSpc>
                <a:spcPct val="110000"/>
              </a:lnSpc>
              <a:spcBef>
                <a:spcPts val="0"/>
              </a:spcBef>
              <a:spcAft>
                <a:spcPts val="600"/>
              </a:spcAft>
            </a:pPr>
            <a:r>
              <a:rPr sz="1250" b="0" i="0">
                <a:solidFill>
                  <a:srgbClr val="1B211D"/>
                </a:solidFill>
                <a:latin typeface="Calibri"/>
              </a:rPr>
              <a:t>Author pays ($1–5k+); full prestige &amp; formatting</a:t>
            </a:r>
          </a:p>
        </p:txBody>
      </p:sp>
      <p:sp>
        <p:nvSpPr>
          <p:cNvPr id="15" name="TextBox 14"/>
          <p:cNvSpPr txBox="1"/>
          <p:nvPr/>
        </p:nvSpPr>
        <p:spPr>
          <a:xfrm>
            <a:off x="9235440" y="2221992"/>
            <a:ext cx="1828800" cy="731520"/>
          </a:xfrm>
          <a:prstGeom prst="rect">
            <a:avLst/>
          </a:prstGeom>
          <a:noFill/>
        </p:spPr>
        <p:txBody>
          <a:bodyPr wrap="square">
            <a:spAutoFit/>
          </a:bodyPr>
          <a:lstStyle/>
          <a:p>
            <a:pPr algn="l">
              <a:lnSpc>
                <a:spcPct val="110000"/>
              </a:lnSpc>
              <a:spcBef>
                <a:spcPts val="0"/>
              </a:spcBef>
              <a:spcAft>
                <a:spcPts val="600"/>
              </a:spcAft>
            </a:pPr>
            <a:r>
              <a:rPr sz="1250" b="0" i="0">
                <a:solidFill>
                  <a:srgbClr val="1B211D"/>
                </a:solidFill>
                <a:latin typeface="Calibri"/>
              </a:rPr>
              <a:t>PLOS, Frontiers, eLife</a:t>
            </a:r>
          </a:p>
        </p:txBody>
      </p:sp>
      <p:sp>
        <p:nvSpPr>
          <p:cNvPr id="16" name="Rectangle 15"/>
          <p:cNvSpPr/>
          <p:nvPr/>
        </p:nvSpPr>
        <p:spPr>
          <a:xfrm>
            <a:off x="548640" y="2990088"/>
            <a:ext cx="10607040" cy="841248"/>
          </a:xfrm>
          <a:prstGeom prst="rect">
            <a:avLst/>
          </a:prstGeom>
          <a:solidFill>
            <a:srgbClr val="EFEC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3063240"/>
            <a:ext cx="1280160" cy="731520"/>
          </a:xfrm>
          <a:prstGeom prst="rect">
            <a:avLst/>
          </a:prstGeom>
          <a:noFill/>
        </p:spPr>
        <p:txBody>
          <a:bodyPr wrap="square">
            <a:spAutoFit/>
          </a:bodyPr>
          <a:lstStyle/>
          <a:p>
            <a:pPr algn="l">
              <a:lnSpc>
                <a:spcPct val="110000"/>
              </a:lnSpc>
              <a:spcBef>
                <a:spcPts val="0"/>
              </a:spcBef>
              <a:spcAft>
                <a:spcPts val="600"/>
              </a:spcAft>
            </a:pPr>
            <a:r>
              <a:rPr sz="1250" b="1" i="0">
                <a:solidFill>
                  <a:srgbClr val="B3453A"/>
                </a:solidFill>
                <a:latin typeface="Calibri"/>
              </a:rPr>
              <a:t>Green</a:t>
            </a:r>
          </a:p>
        </p:txBody>
      </p:sp>
      <p:sp>
        <p:nvSpPr>
          <p:cNvPr id="18" name="TextBox 17"/>
          <p:cNvSpPr txBox="1"/>
          <p:nvPr/>
        </p:nvSpPr>
        <p:spPr>
          <a:xfrm>
            <a:off x="2103120" y="3063240"/>
            <a:ext cx="2468880" cy="731520"/>
          </a:xfrm>
          <a:prstGeom prst="rect">
            <a:avLst/>
          </a:prstGeom>
          <a:noFill/>
        </p:spPr>
        <p:txBody>
          <a:bodyPr wrap="square">
            <a:spAutoFit/>
          </a:bodyPr>
          <a:lstStyle/>
          <a:p>
            <a:pPr algn="l">
              <a:lnSpc>
                <a:spcPct val="110000"/>
              </a:lnSpc>
              <a:spcBef>
                <a:spcPts val="0"/>
              </a:spcBef>
              <a:spcAft>
                <a:spcPts val="600"/>
              </a:spcAft>
            </a:pPr>
            <a:r>
              <a:rPr sz="1250" b="0" i="0">
                <a:solidFill>
                  <a:srgbClr val="1B211D"/>
                </a:solidFill>
                <a:latin typeface="Calibri"/>
              </a:rPr>
              <a:t>Self-archive after embargo</a:t>
            </a:r>
          </a:p>
        </p:txBody>
      </p:sp>
      <p:sp>
        <p:nvSpPr>
          <p:cNvPr id="19" name="TextBox 18"/>
          <p:cNvSpPr txBox="1"/>
          <p:nvPr/>
        </p:nvSpPr>
        <p:spPr>
          <a:xfrm>
            <a:off x="4754880" y="3063240"/>
            <a:ext cx="4297680" cy="731520"/>
          </a:xfrm>
          <a:prstGeom prst="rect">
            <a:avLst/>
          </a:prstGeom>
          <a:noFill/>
        </p:spPr>
        <p:txBody>
          <a:bodyPr wrap="square">
            <a:spAutoFit/>
          </a:bodyPr>
          <a:lstStyle/>
          <a:p>
            <a:pPr algn="l">
              <a:lnSpc>
                <a:spcPct val="110000"/>
              </a:lnSpc>
              <a:spcBef>
                <a:spcPts val="0"/>
              </a:spcBef>
              <a:spcAft>
                <a:spcPts val="600"/>
              </a:spcAft>
            </a:pPr>
            <a:r>
              <a:rPr sz="1250" b="0" i="0">
                <a:solidFill>
                  <a:srgbClr val="1B211D"/>
                </a:solidFill>
                <a:latin typeface="Calibri"/>
              </a:rPr>
              <a:t>Free; embargo 6–24 months; postprint, not final PDF</a:t>
            </a:r>
          </a:p>
        </p:txBody>
      </p:sp>
      <p:sp>
        <p:nvSpPr>
          <p:cNvPr id="20" name="TextBox 19"/>
          <p:cNvSpPr txBox="1"/>
          <p:nvPr/>
        </p:nvSpPr>
        <p:spPr>
          <a:xfrm>
            <a:off x="9235440" y="3063240"/>
            <a:ext cx="1828800" cy="731520"/>
          </a:xfrm>
          <a:prstGeom prst="rect">
            <a:avLst/>
          </a:prstGeom>
          <a:noFill/>
        </p:spPr>
        <p:txBody>
          <a:bodyPr wrap="square">
            <a:spAutoFit/>
          </a:bodyPr>
          <a:lstStyle/>
          <a:p>
            <a:pPr algn="l">
              <a:lnSpc>
                <a:spcPct val="110000"/>
              </a:lnSpc>
              <a:spcBef>
                <a:spcPts val="0"/>
              </a:spcBef>
              <a:spcAft>
                <a:spcPts val="600"/>
              </a:spcAft>
            </a:pPr>
            <a:r>
              <a:rPr sz="1250" b="0" i="0">
                <a:solidFill>
                  <a:srgbClr val="1B211D"/>
                </a:solidFill>
                <a:latin typeface="Calibri"/>
              </a:rPr>
              <a:t>Institutional/discipline repos</a:t>
            </a:r>
          </a:p>
        </p:txBody>
      </p:sp>
      <p:sp>
        <p:nvSpPr>
          <p:cNvPr id="21" name="Rectangle 20"/>
          <p:cNvSpPr/>
          <p:nvPr/>
        </p:nvSpPr>
        <p:spPr>
          <a:xfrm>
            <a:off x="548640" y="3831336"/>
            <a:ext cx="10607040" cy="8412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3904488"/>
            <a:ext cx="1280160" cy="731520"/>
          </a:xfrm>
          <a:prstGeom prst="rect">
            <a:avLst/>
          </a:prstGeom>
          <a:noFill/>
        </p:spPr>
        <p:txBody>
          <a:bodyPr wrap="square">
            <a:spAutoFit/>
          </a:bodyPr>
          <a:lstStyle/>
          <a:p>
            <a:pPr algn="l">
              <a:lnSpc>
                <a:spcPct val="110000"/>
              </a:lnSpc>
              <a:spcBef>
                <a:spcPts val="0"/>
              </a:spcBef>
              <a:spcAft>
                <a:spcPts val="600"/>
              </a:spcAft>
            </a:pPr>
            <a:r>
              <a:rPr sz="1250" b="1" i="0">
                <a:solidFill>
                  <a:srgbClr val="B3453A"/>
                </a:solidFill>
                <a:latin typeface="Calibri"/>
              </a:rPr>
              <a:t>Hybrid</a:t>
            </a:r>
          </a:p>
        </p:txBody>
      </p:sp>
      <p:sp>
        <p:nvSpPr>
          <p:cNvPr id="23" name="TextBox 22"/>
          <p:cNvSpPr txBox="1"/>
          <p:nvPr/>
        </p:nvSpPr>
        <p:spPr>
          <a:xfrm>
            <a:off x="2103120" y="3904488"/>
            <a:ext cx="2468880" cy="731520"/>
          </a:xfrm>
          <a:prstGeom prst="rect">
            <a:avLst/>
          </a:prstGeom>
          <a:noFill/>
        </p:spPr>
        <p:txBody>
          <a:bodyPr wrap="square">
            <a:spAutoFit/>
          </a:bodyPr>
          <a:lstStyle/>
          <a:p>
            <a:pPr algn="l">
              <a:lnSpc>
                <a:spcPct val="110000"/>
              </a:lnSpc>
              <a:spcBef>
                <a:spcPts val="0"/>
              </a:spcBef>
              <a:spcAft>
                <a:spcPts val="600"/>
              </a:spcAft>
            </a:pPr>
            <a:r>
              <a:rPr sz="1250" b="0" i="0">
                <a:solidFill>
                  <a:srgbClr val="1B211D"/>
                </a:solidFill>
                <a:latin typeface="Calibri"/>
              </a:rPr>
              <a:t>Subscription journal, pay per article</a:t>
            </a:r>
          </a:p>
        </p:txBody>
      </p:sp>
      <p:sp>
        <p:nvSpPr>
          <p:cNvPr id="24" name="TextBox 23"/>
          <p:cNvSpPr txBox="1"/>
          <p:nvPr/>
        </p:nvSpPr>
        <p:spPr>
          <a:xfrm>
            <a:off x="4754880" y="3904488"/>
            <a:ext cx="4297680" cy="731520"/>
          </a:xfrm>
          <a:prstGeom prst="rect">
            <a:avLst/>
          </a:prstGeom>
          <a:noFill/>
        </p:spPr>
        <p:txBody>
          <a:bodyPr wrap="square">
            <a:spAutoFit/>
          </a:bodyPr>
          <a:lstStyle/>
          <a:p>
            <a:pPr algn="l">
              <a:lnSpc>
                <a:spcPct val="110000"/>
              </a:lnSpc>
              <a:spcBef>
                <a:spcPts val="0"/>
              </a:spcBef>
              <a:spcAft>
                <a:spcPts val="600"/>
              </a:spcAft>
            </a:pPr>
            <a:r>
              <a:rPr sz="1250" b="0" i="0">
                <a:solidFill>
                  <a:srgbClr val="1B211D"/>
                </a:solidFill>
                <a:latin typeface="Calibri"/>
              </a:rPr>
              <a:t>OA immediately; “double-dipping” criticism</a:t>
            </a:r>
          </a:p>
        </p:txBody>
      </p:sp>
      <p:sp>
        <p:nvSpPr>
          <p:cNvPr id="25" name="TextBox 24"/>
          <p:cNvSpPr txBox="1"/>
          <p:nvPr/>
        </p:nvSpPr>
        <p:spPr>
          <a:xfrm>
            <a:off x="9235440" y="3904488"/>
            <a:ext cx="1828800" cy="731520"/>
          </a:xfrm>
          <a:prstGeom prst="rect">
            <a:avLst/>
          </a:prstGeom>
          <a:noFill/>
        </p:spPr>
        <p:txBody>
          <a:bodyPr wrap="square">
            <a:spAutoFit/>
          </a:bodyPr>
          <a:lstStyle/>
          <a:p>
            <a:pPr algn="l">
              <a:lnSpc>
                <a:spcPct val="110000"/>
              </a:lnSpc>
              <a:spcBef>
                <a:spcPts val="0"/>
              </a:spcBef>
              <a:spcAft>
                <a:spcPts val="600"/>
              </a:spcAft>
            </a:pPr>
            <a:r>
              <a:rPr sz="1250" b="0" i="0">
                <a:solidFill>
                  <a:srgbClr val="1B211D"/>
                </a:solidFill>
                <a:latin typeface="Calibri"/>
              </a:rPr>
              <a:t>Wiley, Springer, Elsevier</a:t>
            </a:r>
          </a:p>
        </p:txBody>
      </p:sp>
      <p:sp>
        <p:nvSpPr>
          <p:cNvPr id="26" name="Rectangle 25"/>
          <p:cNvSpPr/>
          <p:nvPr/>
        </p:nvSpPr>
        <p:spPr>
          <a:xfrm>
            <a:off x="548640" y="4672584"/>
            <a:ext cx="10607040" cy="841248"/>
          </a:xfrm>
          <a:prstGeom prst="rect">
            <a:avLst/>
          </a:prstGeom>
          <a:solidFill>
            <a:srgbClr val="EFEC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080" y="4745736"/>
            <a:ext cx="1280160" cy="731520"/>
          </a:xfrm>
          <a:prstGeom prst="rect">
            <a:avLst/>
          </a:prstGeom>
          <a:noFill/>
        </p:spPr>
        <p:txBody>
          <a:bodyPr wrap="square">
            <a:spAutoFit/>
          </a:bodyPr>
          <a:lstStyle/>
          <a:p>
            <a:pPr algn="l">
              <a:lnSpc>
                <a:spcPct val="110000"/>
              </a:lnSpc>
              <a:spcBef>
                <a:spcPts val="0"/>
              </a:spcBef>
              <a:spcAft>
                <a:spcPts val="600"/>
              </a:spcAft>
            </a:pPr>
            <a:r>
              <a:rPr sz="1250" b="1" i="0">
                <a:solidFill>
                  <a:srgbClr val="B3453A"/>
                </a:solidFill>
                <a:latin typeface="Calibri"/>
              </a:rPr>
              <a:t>Preprint</a:t>
            </a:r>
          </a:p>
        </p:txBody>
      </p:sp>
      <p:sp>
        <p:nvSpPr>
          <p:cNvPr id="28" name="TextBox 27"/>
          <p:cNvSpPr txBox="1"/>
          <p:nvPr/>
        </p:nvSpPr>
        <p:spPr>
          <a:xfrm>
            <a:off x="2103120" y="4745736"/>
            <a:ext cx="2468880" cy="731520"/>
          </a:xfrm>
          <a:prstGeom prst="rect">
            <a:avLst/>
          </a:prstGeom>
          <a:noFill/>
        </p:spPr>
        <p:txBody>
          <a:bodyPr wrap="square">
            <a:spAutoFit/>
          </a:bodyPr>
          <a:lstStyle/>
          <a:p>
            <a:pPr algn="l">
              <a:lnSpc>
                <a:spcPct val="110000"/>
              </a:lnSpc>
              <a:spcBef>
                <a:spcPts val="0"/>
              </a:spcBef>
              <a:spcAft>
                <a:spcPts val="600"/>
              </a:spcAft>
            </a:pPr>
            <a:r>
              <a:rPr sz="1250" b="0" i="0">
                <a:solidFill>
                  <a:srgbClr val="1B211D"/>
                </a:solidFill>
                <a:latin typeface="Calibri"/>
              </a:rPr>
              <a:t>Share before/without peer review</a:t>
            </a:r>
          </a:p>
        </p:txBody>
      </p:sp>
      <p:sp>
        <p:nvSpPr>
          <p:cNvPr id="29" name="TextBox 28"/>
          <p:cNvSpPr txBox="1"/>
          <p:nvPr/>
        </p:nvSpPr>
        <p:spPr>
          <a:xfrm>
            <a:off x="4754880" y="4745736"/>
            <a:ext cx="4297680" cy="731520"/>
          </a:xfrm>
          <a:prstGeom prst="rect">
            <a:avLst/>
          </a:prstGeom>
          <a:noFill/>
        </p:spPr>
        <p:txBody>
          <a:bodyPr wrap="square">
            <a:spAutoFit/>
          </a:bodyPr>
          <a:lstStyle/>
          <a:p>
            <a:pPr algn="l">
              <a:lnSpc>
                <a:spcPct val="110000"/>
              </a:lnSpc>
              <a:spcBef>
                <a:spcPts val="0"/>
              </a:spcBef>
              <a:spcAft>
                <a:spcPts val="600"/>
              </a:spcAft>
            </a:pPr>
            <a:r>
              <a:rPr sz="1250" b="0" i="0">
                <a:solidFill>
                  <a:srgbClr val="1B211D"/>
                </a:solidFill>
                <a:latin typeface="Calibri"/>
              </a:rPr>
              <a:t>Immediate, establishes priority; not yet reviewed</a:t>
            </a:r>
          </a:p>
        </p:txBody>
      </p:sp>
      <p:sp>
        <p:nvSpPr>
          <p:cNvPr id="30" name="TextBox 29"/>
          <p:cNvSpPr txBox="1"/>
          <p:nvPr/>
        </p:nvSpPr>
        <p:spPr>
          <a:xfrm>
            <a:off x="9235440" y="4745736"/>
            <a:ext cx="1828800" cy="731520"/>
          </a:xfrm>
          <a:prstGeom prst="rect">
            <a:avLst/>
          </a:prstGeom>
          <a:noFill/>
        </p:spPr>
        <p:txBody>
          <a:bodyPr wrap="square">
            <a:spAutoFit/>
          </a:bodyPr>
          <a:lstStyle/>
          <a:p>
            <a:pPr algn="l">
              <a:lnSpc>
                <a:spcPct val="110000"/>
              </a:lnSpc>
              <a:spcBef>
                <a:spcPts val="0"/>
              </a:spcBef>
              <a:spcAft>
                <a:spcPts val="600"/>
              </a:spcAft>
            </a:pPr>
            <a:r>
              <a:rPr sz="1250" b="0" i="0">
                <a:solidFill>
                  <a:srgbClr val="1B211D"/>
                </a:solidFill>
                <a:latin typeface="Calibri"/>
              </a:rPr>
              <a:t>arXiv, bioRxiv, medRxiv</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7F5EE"/>
        </a:solidFill>
        <a:effectLst/>
      </p:bgPr>
    </p:bg>
    <p:spTree>
      <p:nvGrpSpPr>
        <p:cNvPr id="1" name=""/>
        <p:cNvGrpSpPr/>
        <p:nvPr/>
      </p:nvGrpSpPr>
      <p:grpSpPr/>
      <p:sp>
        <p:nvSpPr>
          <p:cNvPr id="2" name="TextBox 1"/>
          <p:cNvSpPr txBox="1"/>
          <p:nvPr/>
        </p:nvSpPr>
        <p:spPr>
          <a:xfrm>
            <a:off x="548640" y="411480"/>
            <a:ext cx="7315200" cy="365760"/>
          </a:xfrm>
          <a:prstGeom prst="rect">
            <a:avLst/>
          </a:prstGeom>
          <a:noFill/>
        </p:spPr>
        <p:txBody>
          <a:bodyPr wrap="square">
            <a:spAutoFit/>
          </a:bodyPr>
          <a:lstStyle/>
          <a:p>
            <a:pPr algn="l">
              <a:spcBef>
                <a:spcPts val="0"/>
              </a:spcBef>
              <a:spcAft>
                <a:spcPts val="600"/>
              </a:spcAft>
            </a:pPr>
            <a:r>
              <a:rPr sz="1300" b="1" i="0" spc="120">
                <a:solidFill>
                  <a:srgbClr val="B3453A"/>
                </a:solidFill>
                <a:latin typeface="Calibri"/>
              </a:rPr>
              <a:t>3.4 · CREDIT</a:t>
            </a:r>
          </a:p>
        </p:txBody>
      </p:sp>
      <p:sp>
        <p:nvSpPr>
          <p:cNvPr id="3" name="TextBox 2"/>
          <p:cNvSpPr txBox="1"/>
          <p:nvPr/>
        </p:nvSpPr>
        <p:spPr>
          <a:xfrm>
            <a:off x="548640" y="777240"/>
            <a:ext cx="10789920" cy="822960"/>
          </a:xfrm>
          <a:prstGeom prst="rect">
            <a:avLst/>
          </a:prstGeom>
          <a:noFill/>
        </p:spPr>
        <p:txBody>
          <a:bodyPr wrap="square">
            <a:spAutoFit/>
          </a:bodyPr>
          <a:lstStyle/>
          <a:p>
            <a:pPr algn="l">
              <a:spcBef>
                <a:spcPts val="0"/>
              </a:spcBef>
              <a:spcAft>
                <a:spcPts val="600"/>
              </a:spcAft>
            </a:pPr>
            <a:r>
              <a:rPr sz="3000" b="1" i="0">
                <a:solidFill>
                  <a:srgbClr val="1B211D"/>
                </a:solidFill>
                <a:latin typeface="Georgia"/>
              </a:rPr>
              <a:t>Contributorship, not just authorship</a:t>
            </a:r>
          </a:p>
        </p:txBody>
      </p:sp>
      <p:sp>
        <p:nvSpPr>
          <p:cNvPr id="4" name="TextBox 3"/>
          <p:cNvSpPr txBox="1"/>
          <p:nvPr/>
        </p:nvSpPr>
        <p:spPr>
          <a:xfrm>
            <a:off x="548640" y="6473952"/>
            <a:ext cx="8229600" cy="320040"/>
          </a:xfrm>
          <a:prstGeom prst="rect">
            <a:avLst/>
          </a:prstGeom>
          <a:noFill/>
        </p:spPr>
        <p:txBody>
          <a:bodyPr wrap="square">
            <a:spAutoFit/>
          </a:bodyPr>
          <a:lstStyle/>
          <a:p>
            <a:pPr algn="l">
              <a:spcBef>
                <a:spcPts val="0"/>
              </a:spcBef>
              <a:spcAft>
                <a:spcPts val="600"/>
              </a:spcAft>
            </a:pPr>
            <a:r>
              <a:rPr sz="1000" b="0" i="0">
                <a:solidFill>
                  <a:srgbClr val="5B655F"/>
                </a:solidFill>
                <a:latin typeface="Calibri"/>
              </a:rPr>
              <a:t>Module 4 · Open Results</a:t>
            </a:r>
          </a:p>
        </p:txBody>
      </p:sp>
      <p:sp>
        <p:nvSpPr>
          <p:cNvPr id="5" name="Rectangle 4"/>
          <p:cNvSpPr/>
          <p:nvPr/>
        </p:nvSpPr>
        <p:spPr>
          <a:xfrm>
            <a:off x="0" y="6419088"/>
            <a:ext cx="12191695" cy="17780"/>
          </a:xfrm>
          <a:prstGeom prst="rect">
            <a:avLst/>
          </a:prstGeom>
          <a:solidFill>
            <a:srgbClr val="B345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691640"/>
            <a:ext cx="10607040" cy="548640"/>
          </a:xfrm>
          <a:prstGeom prst="rect">
            <a:avLst/>
          </a:prstGeom>
          <a:noFill/>
        </p:spPr>
        <p:txBody>
          <a:bodyPr wrap="square">
            <a:spAutoFit/>
          </a:bodyPr>
          <a:lstStyle/>
          <a:p>
            <a:pPr algn="l">
              <a:lnSpc>
                <a:spcPct val="120000"/>
              </a:lnSpc>
              <a:spcBef>
                <a:spcPts val="0"/>
              </a:spcBef>
              <a:spcAft>
                <a:spcPts val="600"/>
              </a:spcAft>
            </a:pPr>
            <a:r>
              <a:rPr sz="1600" b="0" i="0">
                <a:solidFill>
                  <a:srgbClr val="1B211D"/>
                </a:solidFill>
                <a:latin typeface="Calibri"/>
              </a:rPr>
              <a:t>CRediT taxonomy lets you credit real contributions beyond “author” — conceptualization, data curation, formal analysis, software, visualization, writing, and more.</a:t>
            </a:r>
          </a:p>
        </p:txBody>
      </p:sp>
      <p:sp>
        <p:nvSpPr>
          <p:cNvPr id="7" name="TextBox 6"/>
          <p:cNvSpPr txBox="1"/>
          <p:nvPr/>
        </p:nvSpPr>
        <p:spPr>
          <a:xfrm>
            <a:off x="548640" y="2514600"/>
            <a:ext cx="10607040" cy="2468880"/>
          </a:xfrm>
          <a:prstGeom prst="rect">
            <a:avLst/>
          </a:prstGeom>
          <a:noFill/>
        </p:spPr>
        <p:txBody>
          <a:bodyPr wrap="square">
            <a:spAutoFit/>
          </a:bodyPr>
          <a:lstStyle/>
          <a:p>
            <a:pPr algn="l">
              <a:lnSpc>
                <a:spcPct val="108000"/>
              </a:lnSpc>
              <a:spcBef>
                <a:spcPts val="0"/>
              </a:spcBef>
              <a:spcAft>
                <a:spcPts val="1200"/>
              </a:spcAft>
            </a:pPr>
            <a:r>
              <a:rPr sz="1500" b="1" i="0">
                <a:solidFill>
                  <a:srgbClr val="B3453A"/>
                </a:solidFill>
                <a:latin typeface="Calibri"/>
              </a:rPr>
              <a:t>Write your contributor guidelines before the disagreement, not after:</a:t>
            </a:r>
            <a:r>
              <a:rPr sz="1500" b="0" i="0">
                <a:solidFill>
                  <a:srgbClr val="1B211D"/>
                </a:solidFill>
                <a:latin typeface="Calibri"/>
              </a:rPr>
              <a:t>•  Who can contribute, and how (internal vs. external, data vs. code)</a:t>
            </a:r>
          </a:p>
          <a:p>
            <a:pPr>
              <a:lnSpc>
                <a:spcPct val="108000"/>
              </a:lnSpc>
              <a:spcAft>
                <a:spcPts val="1200"/>
              </a:spcAft>
            </a:pPr>
            <a:r>
              <a:rPr sz="1500" b="0" i="0">
                <a:solidFill>
                  <a:srgbClr val="1B211D"/>
                </a:solidFill>
                <a:latin typeface="Calibri"/>
              </a:rPr>
              <a:t>•  Authorship criteria — spelled out, not assumed</a:t>
            </a:r>
          </a:p>
          <a:p>
            <a:pPr>
              <a:lnSpc>
                <a:spcPct val="108000"/>
              </a:lnSpc>
              <a:spcAft>
                <a:spcPts val="1200"/>
              </a:spcAft>
            </a:pPr>
            <a:r>
              <a:rPr sz="1500" b="0" i="0">
                <a:solidFill>
                  <a:srgbClr val="1B211D"/>
                </a:solidFill>
                <a:latin typeface="Calibri"/>
              </a:rPr>
              <a:t>•  How conflicts get resolved</a:t>
            </a:r>
          </a:p>
          <a:p>
            <a:pPr>
              <a:lnSpc>
                <a:spcPct val="108000"/>
              </a:lnSpc>
              <a:spcAft>
                <a:spcPts val="1200"/>
              </a:spcAft>
            </a:pPr>
            <a:r>
              <a:rPr sz="1500" b="0" i="0">
                <a:solidFill>
                  <a:srgbClr val="1B211D"/>
                </a:solidFill>
                <a:latin typeface="Calibri"/>
              </a:rPr>
              <a:t>•  How every contribution gets acknowledged, even non-authorship ones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7E4E2"/>
        </a:solidFill>
        <a:effectLst/>
      </p:bgPr>
    </p:bg>
    <p:spTree>
      <p:nvGrpSpPr>
        <p:cNvPr id="1" name=""/>
        <p:cNvGrpSpPr/>
        <p:nvPr/>
      </p:nvGrpSpPr>
      <p:grpSpPr/>
      <p:sp>
        <p:nvSpPr>
          <p:cNvPr id="2" name="Rectangle 1"/>
          <p:cNvSpPr/>
          <p:nvPr/>
        </p:nvSpPr>
        <p:spPr>
          <a:xfrm>
            <a:off x="0" y="0"/>
            <a:ext cx="12191695" cy="1371600"/>
          </a:xfrm>
          <a:prstGeom prst="rect">
            <a:avLst/>
          </a:prstGeom>
          <a:solidFill>
            <a:srgbClr val="B345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28600"/>
            <a:ext cx="5486400" cy="365760"/>
          </a:xfrm>
          <a:prstGeom prst="rect">
            <a:avLst/>
          </a:prstGeom>
          <a:noFill/>
        </p:spPr>
        <p:txBody>
          <a:bodyPr wrap="square">
            <a:spAutoFit/>
          </a:bodyPr>
          <a:lstStyle/>
          <a:p>
            <a:pPr algn="l">
              <a:spcBef>
                <a:spcPts val="0"/>
              </a:spcBef>
              <a:spcAft>
                <a:spcPts val="600"/>
              </a:spcAft>
            </a:pPr>
            <a:r>
              <a:rPr sz="1500" b="1" i="0">
                <a:solidFill>
                  <a:srgbClr val="C78A1E"/>
                </a:solidFill>
                <a:latin typeface="Calibri"/>
              </a:rPr>
              <a:t>★ ACTIVITY</a:t>
            </a:r>
          </a:p>
        </p:txBody>
      </p:sp>
      <p:sp>
        <p:nvSpPr>
          <p:cNvPr id="4" name="TextBox 3"/>
          <p:cNvSpPr txBox="1"/>
          <p:nvPr/>
        </p:nvSpPr>
        <p:spPr>
          <a:xfrm>
            <a:off x="548640" y="566928"/>
            <a:ext cx="8686800" cy="731520"/>
          </a:xfrm>
          <a:prstGeom prst="rect">
            <a:avLst/>
          </a:prstGeom>
          <a:noFill/>
        </p:spPr>
        <p:txBody>
          <a:bodyPr wrap="square">
            <a:spAutoFit/>
          </a:bodyPr>
          <a:lstStyle/>
          <a:p>
            <a:pPr algn="l">
              <a:spcBef>
                <a:spcPts val="0"/>
              </a:spcBef>
              <a:spcAft>
                <a:spcPts val="600"/>
              </a:spcAft>
            </a:pPr>
            <a:r>
              <a:rPr sz="2600" b="1" i="0">
                <a:solidFill>
                  <a:srgbClr val="FFFFFF"/>
                </a:solidFill>
                <a:latin typeface="Georgia"/>
              </a:rPr>
              <a:t>Sharing Readiness Checklist</a:t>
            </a:r>
          </a:p>
        </p:txBody>
      </p:sp>
      <p:sp>
        <p:nvSpPr>
          <p:cNvPr id="5" name="TextBox 4"/>
          <p:cNvSpPr txBox="1"/>
          <p:nvPr/>
        </p:nvSpPr>
        <p:spPr>
          <a:xfrm>
            <a:off x="9692640" y="320040"/>
            <a:ext cx="1920240" cy="822960"/>
          </a:xfrm>
          <a:prstGeom prst="rect">
            <a:avLst/>
          </a:prstGeom>
          <a:noFill/>
        </p:spPr>
        <p:txBody>
          <a:bodyPr wrap="square" anchor="ctr">
            <a:spAutoFit/>
          </a:bodyPr>
          <a:lstStyle/>
          <a:p>
            <a:pPr algn="r">
              <a:spcBef>
                <a:spcPts val="0"/>
              </a:spcBef>
              <a:spcAft>
                <a:spcPts val="600"/>
              </a:spcAft>
            </a:pPr>
            <a:r>
              <a:rPr sz="2200" b="1" i="0">
                <a:solidFill>
                  <a:srgbClr val="FFFFFF"/>
                </a:solidFill>
                <a:latin typeface="Consolas"/>
              </a:rPr>
              <a:t>10 MIN</a:t>
            </a:r>
          </a:p>
        </p:txBody>
      </p:sp>
      <p:sp>
        <p:nvSpPr>
          <p:cNvPr id="6" name="TextBox 5"/>
          <p:cNvSpPr txBox="1"/>
          <p:nvPr/>
        </p:nvSpPr>
        <p:spPr>
          <a:xfrm>
            <a:off x="548640" y="1600200"/>
            <a:ext cx="10789920" cy="502920"/>
          </a:xfrm>
          <a:prstGeom prst="rect">
            <a:avLst/>
          </a:prstGeom>
          <a:noFill/>
        </p:spPr>
        <p:txBody>
          <a:bodyPr wrap="square">
            <a:spAutoFit/>
          </a:bodyPr>
          <a:lstStyle/>
          <a:p>
            <a:pPr algn="l">
              <a:lnSpc>
                <a:spcPct val="115000"/>
              </a:lnSpc>
              <a:spcBef>
                <a:spcPts val="0"/>
              </a:spcBef>
              <a:spcAft>
                <a:spcPts val="600"/>
              </a:spcAft>
            </a:pPr>
            <a:r>
              <a:rPr sz="1600" b="0" i="1">
                <a:solidFill>
                  <a:srgbClr val="1B211D"/>
                </a:solidFill>
                <a:latin typeface="Calibri"/>
              </a:rPr>
              <a:t>Take one result you're working on (or a past one) and walk it through a real go/no-go checklist.</a:t>
            </a:r>
          </a:p>
        </p:txBody>
      </p:sp>
      <p:sp>
        <p:nvSpPr>
          <p:cNvPr id="7" name="TextBox 6"/>
          <p:cNvSpPr txBox="1"/>
          <p:nvPr/>
        </p:nvSpPr>
        <p:spPr>
          <a:xfrm>
            <a:off x="548640" y="2240280"/>
            <a:ext cx="10789920" cy="3566160"/>
          </a:xfrm>
          <a:prstGeom prst="rect">
            <a:avLst/>
          </a:prstGeom>
          <a:noFill/>
        </p:spPr>
        <p:txBody>
          <a:bodyPr wrap="square">
            <a:spAutoFit/>
          </a:bodyPr>
          <a:lstStyle/>
          <a:p>
            <a:pPr>
              <a:lnSpc>
                <a:spcPct val="108000"/>
              </a:lnSpc>
              <a:spcAft>
                <a:spcPts val="1000"/>
              </a:spcAft>
            </a:pPr>
            <a:r>
              <a:rPr sz="1600" b="0" i="0">
                <a:solidFill>
                  <a:srgbClr val="1B211D"/>
                </a:solidFill>
                <a:latin typeface="Calibri"/>
              </a:rPr>
              <a:t>Is the data behind this result already shared? If not — what's stopping you?</a:t>
            </a:r>
          </a:p>
          <a:p>
            <a:pPr>
              <a:lnSpc>
                <a:spcPct val="108000"/>
              </a:lnSpc>
              <a:spcAft>
                <a:spcPts val="1000"/>
              </a:spcAft>
            </a:pPr>
            <a:r>
              <a:rPr sz="1600" b="0" i="0">
                <a:solidFill>
                  <a:srgbClr val="1B211D"/>
                </a:solidFill>
                <a:latin typeface="Calibri"/>
              </a:rPr>
              <a:t>Is the analysis code available, or only “available on request”?</a:t>
            </a:r>
          </a:p>
          <a:p>
            <a:pPr>
              <a:lnSpc>
                <a:spcPct val="108000"/>
              </a:lnSpc>
              <a:spcAft>
                <a:spcPts val="1000"/>
              </a:spcAft>
            </a:pPr>
            <a:r>
              <a:rPr sz="1600" b="0" i="0">
                <a:solidFill>
                  <a:srgbClr val="1B211D"/>
                </a:solidFill>
                <a:latin typeface="Calibri"/>
              </a:rPr>
              <a:t>Which OA model fits this venue — gold, green, hybrid, or preprint-first?</a:t>
            </a:r>
          </a:p>
          <a:p>
            <a:pPr>
              <a:lnSpc>
                <a:spcPct val="108000"/>
              </a:lnSpc>
              <a:spcAft>
                <a:spcPts val="1000"/>
              </a:spcAft>
            </a:pPr>
            <a:r>
              <a:rPr sz="1600" b="0" i="0">
                <a:solidFill>
                  <a:srgbClr val="1B211D"/>
                </a:solidFill>
                <a:latin typeface="Calibri"/>
              </a:rPr>
              <a:t>Who deserves CRediT credit that might not be an “author” today?</a:t>
            </a:r>
          </a:p>
          <a:p>
            <a:pPr>
              <a:lnSpc>
                <a:spcPct val="108000"/>
              </a:lnSpc>
              <a:spcAft>
                <a:spcPts val="1000"/>
              </a:spcAft>
            </a:pPr>
            <a:r>
              <a:rPr sz="1600" b="0" i="0">
                <a:solidFill>
                  <a:srgbClr val="1B211D"/>
                </a:solidFill>
                <a:latin typeface="Calibri"/>
              </a:rPr>
              <a:t>Name ONE concrete step you'll take on this result in the next two weeks.</a:t>
            </a:r>
          </a:p>
        </p:txBody>
      </p:sp>
      <p:sp>
        <p:nvSpPr>
          <p:cNvPr id="8" name="Rounded Rectangle 7"/>
          <p:cNvSpPr/>
          <p:nvPr/>
        </p:nvSpPr>
        <p:spPr>
          <a:xfrm>
            <a:off x="548640" y="5989320"/>
            <a:ext cx="10789920" cy="548640"/>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6062472"/>
            <a:ext cx="10332720" cy="411480"/>
          </a:xfrm>
          <a:prstGeom prst="rect">
            <a:avLst/>
          </a:prstGeom>
          <a:noFill/>
        </p:spPr>
        <p:txBody>
          <a:bodyPr wrap="square">
            <a:spAutoFit/>
          </a:bodyPr>
          <a:lstStyle/>
          <a:p>
            <a:pPr algn="l">
              <a:spcBef>
                <a:spcPts val="0"/>
              </a:spcBef>
              <a:spcAft>
                <a:spcPts val="600"/>
              </a:spcAft>
            </a:pPr>
            <a:r>
              <a:rPr sz="1400" b="1" i="0">
                <a:solidFill>
                  <a:srgbClr val="B3453A"/>
                </a:solidFill>
                <a:latin typeface="Calibri"/>
              </a:rPr>
              <a:t>Deliverable: one written commitment per person — collected as exit tickets at wrap-up.</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1B211D"/>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C7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468880"/>
            <a:ext cx="9601200" cy="1463040"/>
          </a:xfrm>
          <a:prstGeom prst="rect">
            <a:avLst/>
          </a:prstGeom>
          <a:noFill/>
        </p:spPr>
        <p:txBody>
          <a:bodyPr wrap="square">
            <a:spAutoFit/>
          </a:bodyPr>
          <a:lstStyle/>
          <a:p>
            <a:pPr algn="l">
              <a:spcBef>
                <a:spcPts val="0"/>
              </a:spcBef>
              <a:spcAft>
                <a:spcPts val="600"/>
              </a:spcAft>
            </a:pPr>
            <a:r>
              <a:rPr sz="4600" b="1" i="0">
                <a:solidFill>
                  <a:srgbClr val="FFFFFF"/>
                </a:solidFill>
                <a:latin typeface="Georgia"/>
              </a:rPr>
              <a:t>Wrap-Up</a:t>
            </a:r>
          </a:p>
          <a:p>
            <a:pPr algn="l">
              <a:spcBef>
                <a:spcPts val="600"/>
              </a:spcBef>
              <a:spcAft>
                <a:spcPts val="600"/>
              </a:spcAft>
            </a:pPr>
            <a:r>
              <a:rPr sz="2000" b="0" i="0">
                <a:solidFill>
                  <a:srgbClr val="C9CEC9"/>
                </a:solidFill>
                <a:latin typeface="Calibri"/>
              </a:rPr>
              <a:t>Turning today into your Open Science &amp; Data Management Plan</a:t>
            </a:r>
          </a:p>
        </p:txBody>
      </p:sp>
      <p:sp>
        <p:nvSpPr>
          <p:cNvPr id="4" name="TextBox 3"/>
          <p:cNvSpPr txBox="1"/>
          <p:nvPr/>
        </p:nvSpPr>
        <p:spPr>
          <a:xfrm>
            <a:off x="868680" y="6126480"/>
            <a:ext cx="3657600" cy="457200"/>
          </a:xfrm>
          <a:prstGeom prst="rect">
            <a:avLst/>
          </a:prstGeom>
          <a:noFill/>
        </p:spPr>
        <p:txBody>
          <a:bodyPr wrap="square">
            <a:spAutoFit/>
          </a:bodyPr>
          <a:lstStyle/>
          <a:p>
            <a:pPr algn="l">
              <a:spcBef>
                <a:spcPts val="0"/>
              </a:spcBef>
              <a:spcAft>
                <a:spcPts val="600"/>
              </a:spcAft>
            </a:pPr>
            <a:r>
              <a:rPr sz="1400" b="1" i="0">
                <a:solidFill>
                  <a:srgbClr val="C78A1E"/>
                </a:solidFill>
                <a:latin typeface="Consolas"/>
              </a:rPr>
              <a:t>20 MINUTES</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7F5EE"/>
        </a:solidFill>
        <a:effectLst/>
      </p:bgPr>
    </p:bg>
    <p:spTree>
      <p:nvGrpSpPr>
        <p:cNvPr id="1" name=""/>
        <p:cNvGrpSpPr/>
        <p:nvPr/>
      </p:nvGrpSpPr>
      <p:grpSpPr/>
      <p:sp>
        <p:nvSpPr>
          <p:cNvPr id="2" name="TextBox 1"/>
          <p:cNvSpPr txBox="1"/>
          <p:nvPr/>
        </p:nvSpPr>
        <p:spPr>
          <a:xfrm>
            <a:off x="548640" y="411480"/>
            <a:ext cx="7315200" cy="365760"/>
          </a:xfrm>
          <a:prstGeom prst="rect">
            <a:avLst/>
          </a:prstGeom>
          <a:noFill/>
        </p:spPr>
        <p:txBody>
          <a:bodyPr wrap="square">
            <a:spAutoFit/>
          </a:bodyPr>
          <a:lstStyle/>
          <a:p>
            <a:pPr algn="l">
              <a:spcBef>
                <a:spcPts val="0"/>
              </a:spcBef>
              <a:spcAft>
                <a:spcPts val="600"/>
              </a:spcAft>
            </a:pPr>
            <a:r>
              <a:rPr sz="1300" b="1" i="0" spc="120">
                <a:solidFill>
                  <a:srgbClr val="1B211D"/>
                </a:solidFill>
                <a:latin typeface="Calibri"/>
              </a:rPr>
              <a:t>BRINGING IT TOGETHER</a:t>
            </a:r>
          </a:p>
        </p:txBody>
      </p:sp>
      <p:sp>
        <p:nvSpPr>
          <p:cNvPr id="3" name="TextBox 2"/>
          <p:cNvSpPr txBox="1"/>
          <p:nvPr/>
        </p:nvSpPr>
        <p:spPr>
          <a:xfrm>
            <a:off x="548640" y="777240"/>
            <a:ext cx="10789920" cy="822960"/>
          </a:xfrm>
          <a:prstGeom prst="rect">
            <a:avLst/>
          </a:prstGeom>
          <a:noFill/>
        </p:spPr>
        <p:txBody>
          <a:bodyPr wrap="square">
            <a:spAutoFit/>
          </a:bodyPr>
          <a:lstStyle/>
          <a:p>
            <a:pPr algn="l">
              <a:spcBef>
                <a:spcPts val="0"/>
              </a:spcBef>
              <a:spcAft>
                <a:spcPts val="600"/>
              </a:spcAft>
            </a:pPr>
            <a:r>
              <a:rPr sz="3000" b="1" i="0">
                <a:solidFill>
                  <a:srgbClr val="1B211D"/>
                </a:solidFill>
                <a:latin typeface="Georgia"/>
              </a:rPr>
              <a:t>Your Open Science &amp; Data Management Plan</a:t>
            </a:r>
          </a:p>
        </p:txBody>
      </p:sp>
      <p:sp>
        <p:nvSpPr>
          <p:cNvPr id="4" name="TextBox 3"/>
          <p:cNvSpPr txBox="1"/>
          <p:nvPr/>
        </p:nvSpPr>
        <p:spPr>
          <a:xfrm>
            <a:off x="548640" y="6473952"/>
            <a:ext cx="8229600" cy="320040"/>
          </a:xfrm>
          <a:prstGeom prst="rect">
            <a:avLst/>
          </a:prstGeom>
          <a:noFill/>
        </p:spPr>
        <p:txBody>
          <a:bodyPr wrap="square">
            <a:spAutoFit/>
          </a:bodyPr>
          <a:lstStyle/>
          <a:p>
            <a:pPr algn="l">
              <a:spcBef>
                <a:spcPts val="0"/>
              </a:spcBef>
              <a:spcAft>
                <a:spcPts val="600"/>
              </a:spcAft>
            </a:pPr>
            <a:r>
              <a:rPr sz="1000" b="0" i="0">
                <a:solidFill>
                  <a:srgbClr val="5B655F"/>
                </a:solidFill>
                <a:latin typeface="Calibri"/>
              </a:rPr>
              <a:t>Wrap-Up</a:t>
            </a:r>
          </a:p>
        </p:txBody>
      </p:sp>
      <p:sp>
        <p:nvSpPr>
          <p:cNvPr id="5" name="Rectangle 4"/>
          <p:cNvSpPr/>
          <p:nvPr/>
        </p:nvSpPr>
        <p:spPr>
          <a:xfrm>
            <a:off x="0" y="6419088"/>
            <a:ext cx="12191695" cy="17780"/>
          </a:xfrm>
          <a:prstGeom prst="rect">
            <a:avLst/>
          </a:prstGeom>
          <a:solidFill>
            <a:srgbClr val="1B2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645920"/>
            <a:ext cx="10607040" cy="548640"/>
          </a:xfrm>
          <a:prstGeom prst="rect">
            <a:avLst/>
          </a:prstGeom>
          <a:noFill/>
        </p:spPr>
        <p:txBody>
          <a:bodyPr wrap="square">
            <a:spAutoFit/>
          </a:bodyPr>
          <a:lstStyle/>
          <a:p>
            <a:pPr algn="l">
              <a:lnSpc>
                <a:spcPct val="120000"/>
              </a:lnSpc>
              <a:spcBef>
                <a:spcPts val="0"/>
              </a:spcBef>
              <a:spcAft>
                <a:spcPts val="600"/>
              </a:spcAft>
            </a:pPr>
            <a:r>
              <a:rPr sz="1600" b="0" i="0">
                <a:solidFill>
                  <a:srgbClr val="1B211D"/>
                </a:solidFill>
                <a:latin typeface="Calibri"/>
              </a:rPr>
              <a:t>Every module fed into one document. An OSDMP just answers these, module by module:</a:t>
            </a:r>
          </a:p>
        </p:txBody>
      </p:sp>
      <p:sp>
        <p:nvSpPr>
          <p:cNvPr id="7" name="Rectangle 6"/>
          <p:cNvSpPr/>
          <p:nvPr/>
        </p:nvSpPr>
        <p:spPr>
          <a:xfrm>
            <a:off x="548640" y="2331720"/>
            <a:ext cx="1645920" cy="548640"/>
          </a:xfrm>
          <a:prstGeom prst="rect">
            <a:avLst/>
          </a:prstGeom>
          <a:solidFill>
            <a:srgbClr val="2F6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441448"/>
            <a:ext cx="1645920" cy="365760"/>
          </a:xfrm>
          <a:prstGeom prst="rect">
            <a:avLst/>
          </a:prstGeom>
          <a:noFill/>
        </p:spPr>
        <p:txBody>
          <a:bodyPr wrap="square" anchor="ctr">
            <a:spAutoFit/>
          </a:bodyPr>
          <a:lstStyle/>
          <a:p>
            <a:pPr algn="ctr">
              <a:spcBef>
                <a:spcPts val="0"/>
              </a:spcBef>
              <a:spcAft>
                <a:spcPts val="600"/>
              </a:spcAft>
            </a:pPr>
            <a:r>
              <a:rPr sz="1400" b="1" i="0">
                <a:solidFill>
                  <a:srgbClr val="FFFFFF"/>
                </a:solidFill>
                <a:latin typeface="Calibri"/>
              </a:rPr>
              <a:t>Ethos</a:t>
            </a:r>
          </a:p>
        </p:txBody>
      </p:sp>
      <p:sp>
        <p:nvSpPr>
          <p:cNvPr id="9" name="TextBox 8"/>
          <p:cNvSpPr txBox="1"/>
          <p:nvPr/>
        </p:nvSpPr>
        <p:spPr>
          <a:xfrm>
            <a:off x="2377440" y="2395728"/>
            <a:ext cx="8686800" cy="502920"/>
          </a:xfrm>
          <a:prstGeom prst="rect">
            <a:avLst/>
          </a:prstGeom>
          <a:noFill/>
        </p:spPr>
        <p:txBody>
          <a:bodyPr wrap="square" anchor="ctr">
            <a:spAutoFit/>
          </a:bodyPr>
          <a:lstStyle/>
          <a:p>
            <a:pPr algn="l">
              <a:spcBef>
                <a:spcPts val="0"/>
              </a:spcBef>
              <a:spcAft>
                <a:spcPts val="600"/>
              </a:spcAft>
            </a:pPr>
            <a:r>
              <a:rPr sz="1500" b="0" i="0">
                <a:solidFill>
                  <a:srgbClr val="1B211D"/>
                </a:solidFill>
                <a:latin typeface="Calibri"/>
              </a:rPr>
              <a:t>Why does this project need to be open — and where are its limits?</a:t>
            </a:r>
          </a:p>
        </p:txBody>
      </p:sp>
      <p:sp>
        <p:nvSpPr>
          <p:cNvPr id="10" name="Rectangle 9"/>
          <p:cNvSpPr/>
          <p:nvPr/>
        </p:nvSpPr>
        <p:spPr>
          <a:xfrm>
            <a:off x="548640" y="2990088"/>
            <a:ext cx="1645920" cy="548640"/>
          </a:xfrm>
          <a:prstGeom prst="rect">
            <a:avLst/>
          </a:prstGeom>
          <a:solidFill>
            <a:srgbClr val="2A5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3099816"/>
            <a:ext cx="1645920" cy="365760"/>
          </a:xfrm>
          <a:prstGeom prst="rect">
            <a:avLst/>
          </a:prstGeom>
          <a:noFill/>
        </p:spPr>
        <p:txBody>
          <a:bodyPr wrap="square" anchor="ctr">
            <a:spAutoFit/>
          </a:bodyPr>
          <a:lstStyle/>
          <a:p>
            <a:pPr algn="ctr">
              <a:spcBef>
                <a:spcPts val="0"/>
              </a:spcBef>
              <a:spcAft>
                <a:spcPts val="600"/>
              </a:spcAft>
            </a:pPr>
            <a:r>
              <a:rPr sz="1400" b="1" i="0">
                <a:solidFill>
                  <a:srgbClr val="FFFFFF"/>
                </a:solidFill>
                <a:latin typeface="Calibri"/>
              </a:rPr>
              <a:t>Data</a:t>
            </a:r>
          </a:p>
        </p:txBody>
      </p:sp>
      <p:sp>
        <p:nvSpPr>
          <p:cNvPr id="12" name="TextBox 11"/>
          <p:cNvSpPr txBox="1"/>
          <p:nvPr/>
        </p:nvSpPr>
        <p:spPr>
          <a:xfrm>
            <a:off x="2377440" y="3054096"/>
            <a:ext cx="8686800" cy="502920"/>
          </a:xfrm>
          <a:prstGeom prst="rect">
            <a:avLst/>
          </a:prstGeom>
          <a:noFill/>
        </p:spPr>
        <p:txBody>
          <a:bodyPr wrap="square" anchor="ctr">
            <a:spAutoFit/>
          </a:bodyPr>
          <a:lstStyle/>
          <a:p>
            <a:pPr algn="l">
              <a:spcBef>
                <a:spcPts val="0"/>
              </a:spcBef>
              <a:spcAft>
                <a:spcPts val="600"/>
              </a:spcAft>
            </a:pPr>
            <a:r>
              <a:rPr sz="1500" b="0" i="0">
                <a:solidFill>
                  <a:srgbClr val="1B211D"/>
                </a:solidFill>
                <a:latin typeface="Calibri"/>
              </a:rPr>
              <a:t>What data will you generate? Format, metadata, license, repository?</a:t>
            </a:r>
          </a:p>
        </p:txBody>
      </p:sp>
      <p:sp>
        <p:nvSpPr>
          <p:cNvPr id="13" name="Rectangle 12"/>
          <p:cNvSpPr/>
          <p:nvPr/>
        </p:nvSpPr>
        <p:spPr>
          <a:xfrm>
            <a:off x="548640" y="3648456"/>
            <a:ext cx="1645920" cy="548640"/>
          </a:xfrm>
          <a:prstGeom prst="rect">
            <a:avLst/>
          </a:prstGeom>
          <a:solidFill>
            <a:srgbClr val="6B4F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3758184"/>
            <a:ext cx="1645920" cy="365760"/>
          </a:xfrm>
          <a:prstGeom prst="rect">
            <a:avLst/>
          </a:prstGeom>
          <a:noFill/>
        </p:spPr>
        <p:txBody>
          <a:bodyPr wrap="square" anchor="ctr">
            <a:spAutoFit/>
          </a:bodyPr>
          <a:lstStyle/>
          <a:p>
            <a:pPr algn="ctr">
              <a:spcBef>
                <a:spcPts val="0"/>
              </a:spcBef>
              <a:spcAft>
                <a:spcPts val="600"/>
              </a:spcAft>
            </a:pPr>
            <a:r>
              <a:rPr sz="1400" b="1" i="0">
                <a:solidFill>
                  <a:srgbClr val="FFFFFF"/>
                </a:solidFill>
                <a:latin typeface="Calibri"/>
              </a:rPr>
              <a:t>Software</a:t>
            </a:r>
          </a:p>
        </p:txBody>
      </p:sp>
      <p:sp>
        <p:nvSpPr>
          <p:cNvPr id="15" name="TextBox 14"/>
          <p:cNvSpPr txBox="1"/>
          <p:nvPr/>
        </p:nvSpPr>
        <p:spPr>
          <a:xfrm>
            <a:off x="2377440" y="3712464"/>
            <a:ext cx="8686800" cy="502920"/>
          </a:xfrm>
          <a:prstGeom prst="rect">
            <a:avLst/>
          </a:prstGeom>
          <a:noFill/>
        </p:spPr>
        <p:txBody>
          <a:bodyPr wrap="square" anchor="ctr">
            <a:spAutoFit/>
          </a:bodyPr>
          <a:lstStyle/>
          <a:p>
            <a:pPr algn="l">
              <a:spcBef>
                <a:spcPts val="0"/>
              </a:spcBef>
              <a:spcAft>
                <a:spcPts val="600"/>
              </a:spcAft>
            </a:pPr>
            <a:r>
              <a:rPr sz="1500" b="0" i="0">
                <a:solidFill>
                  <a:srgbClr val="1B211D"/>
                </a:solidFill>
                <a:latin typeface="Calibri"/>
              </a:rPr>
              <a:t>What code will you write? README, license, where will it live?</a:t>
            </a:r>
          </a:p>
        </p:txBody>
      </p:sp>
      <p:sp>
        <p:nvSpPr>
          <p:cNvPr id="16" name="Rectangle 15"/>
          <p:cNvSpPr/>
          <p:nvPr/>
        </p:nvSpPr>
        <p:spPr>
          <a:xfrm>
            <a:off x="548640" y="4306824"/>
            <a:ext cx="1645920" cy="548640"/>
          </a:xfrm>
          <a:prstGeom prst="rect">
            <a:avLst/>
          </a:prstGeom>
          <a:solidFill>
            <a:srgbClr val="B345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4416552"/>
            <a:ext cx="1645920" cy="365760"/>
          </a:xfrm>
          <a:prstGeom prst="rect">
            <a:avLst/>
          </a:prstGeom>
          <a:noFill/>
        </p:spPr>
        <p:txBody>
          <a:bodyPr wrap="square" anchor="ctr">
            <a:spAutoFit/>
          </a:bodyPr>
          <a:lstStyle/>
          <a:p>
            <a:pPr algn="ctr">
              <a:spcBef>
                <a:spcPts val="0"/>
              </a:spcBef>
              <a:spcAft>
                <a:spcPts val="600"/>
              </a:spcAft>
            </a:pPr>
            <a:r>
              <a:rPr sz="1400" b="1" i="0">
                <a:solidFill>
                  <a:srgbClr val="FFFFFF"/>
                </a:solidFill>
                <a:latin typeface="Calibri"/>
              </a:rPr>
              <a:t>Results</a:t>
            </a:r>
          </a:p>
        </p:txBody>
      </p:sp>
      <p:sp>
        <p:nvSpPr>
          <p:cNvPr id="18" name="TextBox 17"/>
          <p:cNvSpPr txBox="1"/>
          <p:nvPr/>
        </p:nvSpPr>
        <p:spPr>
          <a:xfrm>
            <a:off x="2377440" y="4370832"/>
            <a:ext cx="8686800" cy="502920"/>
          </a:xfrm>
          <a:prstGeom prst="rect">
            <a:avLst/>
          </a:prstGeom>
          <a:noFill/>
        </p:spPr>
        <p:txBody>
          <a:bodyPr wrap="square" anchor="ctr">
            <a:spAutoFit/>
          </a:bodyPr>
          <a:lstStyle/>
          <a:p>
            <a:pPr algn="l">
              <a:spcBef>
                <a:spcPts val="0"/>
              </a:spcBef>
              <a:spcAft>
                <a:spcPts val="600"/>
              </a:spcAft>
            </a:pPr>
            <a:r>
              <a:rPr sz="1500" b="0" i="0">
                <a:solidFill>
                  <a:srgbClr val="1B211D"/>
                </a:solidFill>
                <a:latin typeface="Calibri"/>
              </a:rPr>
              <a:t>How and where will you share results? Which OA model, and when?</a:t>
            </a:r>
          </a:p>
        </p:txBody>
      </p:sp>
      <p:sp>
        <p:nvSpPr>
          <p:cNvPr id="19" name="Rectangle 18"/>
          <p:cNvSpPr/>
          <p:nvPr/>
        </p:nvSpPr>
        <p:spPr>
          <a:xfrm>
            <a:off x="548640" y="4965192"/>
            <a:ext cx="1645920" cy="548640"/>
          </a:xfrm>
          <a:prstGeom prst="rect">
            <a:avLst/>
          </a:prstGeom>
          <a:solidFill>
            <a:srgbClr val="A15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5074920"/>
            <a:ext cx="1645920" cy="365760"/>
          </a:xfrm>
          <a:prstGeom prst="rect">
            <a:avLst/>
          </a:prstGeom>
          <a:noFill/>
        </p:spPr>
        <p:txBody>
          <a:bodyPr wrap="square" anchor="ctr">
            <a:spAutoFit/>
          </a:bodyPr>
          <a:lstStyle/>
          <a:p>
            <a:pPr algn="ctr">
              <a:spcBef>
                <a:spcPts val="0"/>
              </a:spcBef>
              <a:spcAft>
                <a:spcPts val="600"/>
              </a:spcAft>
            </a:pPr>
            <a:r>
              <a:rPr sz="1400" b="1" i="0">
                <a:solidFill>
                  <a:srgbClr val="FFFFFF"/>
                </a:solidFill>
                <a:latin typeface="Calibri"/>
              </a:rPr>
              <a:t>Tools</a:t>
            </a:r>
          </a:p>
        </p:txBody>
      </p:sp>
      <p:sp>
        <p:nvSpPr>
          <p:cNvPr id="21" name="TextBox 20"/>
          <p:cNvSpPr txBox="1"/>
          <p:nvPr/>
        </p:nvSpPr>
        <p:spPr>
          <a:xfrm>
            <a:off x="2377440" y="5029200"/>
            <a:ext cx="8686800" cy="502920"/>
          </a:xfrm>
          <a:prstGeom prst="rect">
            <a:avLst/>
          </a:prstGeom>
          <a:noFill/>
        </p:spPr>
        <p:txBody>
          <a:bodyPr wrap="square" anchor="ctr">
            <a:spAutoFit/>
          </a:bodyPr>
          <a:lstStyle/>
          <a:p>
            <a:pPr algn="l">
              <a:spcBef>
                <a:spcPts val="0"/>
              </a:spcBef>
              <a:spcAft>
                <a:spcPts val="600"/>
              </a:spcAft>
            </a:pPr>
            <a:r>
              <a:rPr sz="1500" b="0" i="0">
                <a:solidFill>
                  <a:srgbClr val="1B211D"/>
                </a:solidFill>
                <a:latin typeface="Calibri"/>
              </a:rPr>
              <a:t>What's in your toolkit — DOI, ORCID, version control, communication?</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E3EEE9"/>
        </a:solidFill>
        <a:effectLst/>
      </p:bgPr>
    </p:bg>
    <p:spTree>
      <p:nvGrpSpPr>
        <p:cNvPr id="1" name=""/>
        <p:cNvGrpSpPr/>
        <p:nvPr/>
      </p:nvGrpSpPr>
      <p:grpSpPr/>
      <p:sp>
        <p:nvSpPr>
          <p:cNvPr id="2" name="Rectangle 1"/>
          <p:cNvSpPr/>
          <p:nvPr/>
        </p:nvSpPr>
        <p:spPr>
          <a:xfrm>
            <a:off x="0" y="0"/>
            <a:ext cx="12191695" cy="1371600"/>
          </a:xfrm>
          <a:prstGeom prst="rect">
            <a:avLst/>
          </a:prstGeom>
          <a:solidFill>
            <a:srgbClr val="2F6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28600"/>
            <a:ext cx="5486400" cy="365760"/>
          </a:xfrm>
          <a:prstGeom prst="rect">
            <a:avLst/>
          </a:prstGeom>
          <a:noFill/>
        </p:spPr>
        <p:txBody>
          <a:bodyPr wrap="square">
            <a:spAutoFit/>
          </a:bodyPr>
          <a:lstStyle/>
          <a:p>
            <a:pPr algn="l">
              <a:spcBef>
                <a:spcPts val="0"/>
              </a:spcBef>
              <a:spcAft>
                <a:spcPts val="600"/>
              </a:spcAft>
            </a:pPr>
            <a:r>
              <a:rPr sz="1500" b="1" i="0">
                <a:solidFill>
                  <a:srgbClr val="C78A1E"/>
                </a:solidFill>
                <a:latin typeface="Calibri"/>
              </a:rPr>
              <a:t>★ ACTIVITY</a:t>
            </a:r>
          </a:p>
        </p:txBody>
      </p:sp>
      <p:sp>
        <p:nvSpPr>
          <p:cNvPr id="4" name="TextBox 3"/>
          <p:cNvSpPr txBox="1"/>
          <p:nvPr/>
        </p:nvSpPr>
        <p:spPr>
          <a:xfrm>
            <a:off x="548640" y="566928"/>
            <a:ext cx="8686800" cy="731520"/>
          </a:xfrm>
          <a:prstGeom prst="rect">
            <a:avLst/>
          </a:prstGeom>
          <a:noFill/>
        </p:spPr>
        <p:txBody>
          <a:bodyPr wrap="square">
            <a:spAutoFit/>
          </a:bodyPr>
          <a:lstStyle/>
          <a:p>
            <a:pPr algn="l">
              <a:spcBef>
                <a:spcPts val="0"/>
              </a:spcBef>
              <a:spcAft>
                <a:spcPts val="600"/>
              </a:spcAft>
            </a:pPr>
            <a:r>
              <a:rPr sz="2600" b="1" i="0">
                <a:solidFill>
                  <a:srgbClr val="FFFFFF"/>
                </a:solidFill>
                <a:latin typeface="Georgia"/>
              </a:rPr>
              <a:t>Commitment Cards</a:t>
            </a:r>
          </a:p>
        </p:txBody>
      </p:sp>
      <p:sp>
        <p:nvSpPr>
          <p:cNvPr id="5" name="TextBox 4"/>
          <p:cNvSpPr txBox="1"/>
          <p:nvPr/>
        </p:nvSpPr>
        <p:spPr>
          <a:xfrm>
            <a:off x="9692640" y="320040"/>
            <a:ext cx="1920240" cy="822960"/>
          </a:xfrm>
          <a:prstGeom prst="rect">
            <a:avLst/>
          </a:prstGeom>
          <a:noFill/>
        </p:spPr>
        <p:txBody>
          <a:bodyPr wrap="square" anchor="ctr">
            <a:spAutoFit/>
          </a:bodyPr>
          <a:lstStyle/>
          <a:p>
            <a:pPr algn="r">
              <a:spcBef>
                <a:spcPts val="0"/>
              </a:spcBef>
              <a:spcAft>
                <a:spcPts val="600"/>
              </a:spcAft>
            </a:pPr>
            <a:r>
              <a:rPr sz="2200" b="1" i="0">
                <a:solidFill>
                  <a:srgbClr val="FFFFFF"/>
                </a:solidFill>
                <a:latin typeface="Consolas"/>
              </a:rPr>
              <a:t>7 MIN</a:t>
            </a:r>
          </a:p>
        </p:txBody>
      </p:sp>
      <p:sp>
        <p:nvSpPr>
          <p:cNvPr id="6" name="TextBox 5"/>
          <p:cNvSpPr txBox="1"/>
          <p:nvPr/>
        </p:nvSpPr>
        <p:spPr>
          <a:xfrm>
            <a:off x="548640" y="1600200"/>
            <a:ext cx="10789920" cy="502920"/>
          </a:xfrm>
          <a:prstGeom prst="rect">
            <a:avLst/>
          </a:prstGeom>
          <a:noFill/>
        </p:spPr>
        <p:txBody>
          <a:bodyPr wrap="square">
            <a:spAutoFit/>
          </a:bodyPr>
          <a:lstStyle/>
          <a:p>
            <a:pPr algn="l">
              <a:lnSpc>
                <a:spcPct val="115000"/>
              </a:lnSpc>
              <a:spcBef>
                <a:spcPts val="0"/>
              </a:spcBef>
              <a:spcAft>
                <a:spcPts val="600"/>
              </a:spcAft>
            </a:pPr>
            <a:r>
              <a:rPr sz="1600" b="0" i="1">
                <a:solidFill>
                  <a:srgbClr val="1B211D"/>
                </a:solidFill>
                <a:latin typeface="Calibri"/>
              </a:rPr>
              <a:t>One thing, one deadline. Write it down, keep it visible.</a:t>
            </a:r>
          </a:p>
        </p:txBody>
      </p:sp>
      <p:sp>
        <p:nvSpPr>
          <p:cNvPr id="7" name="TextBox 6"/>
          <p:cNvSpPr txBox="1"/>
          <p:nvPr/>
        </p:nvSpPr>
        <p:spPr>
          <a:xfrm>
            <a:off x="548640" y="2240280"/>
            <a:ext cx="10789920" cy="3566160"/>
          </a:xfrm>
          <a:prstGeom prst="rect">
            <a:avLst/>
          </a:prstGeom>
          <a:noFill/>
        </p:spPr>
        <p:txBody>
          <a:bodyPr wrap="square">
            <a:spAutoFit/>
          </a:bodyPr>
          <a:lstStyle/>
          <a:p>
            <a:pPr>
              <a:lnSpc>
                <a:spcPct val="108000"/>
              </a:lnSpc>
              <a:spcAft>
                <a:spcPts val="1000"/>
              </a:spcAft>
            </a:pPr>
            <a:r>
              <a:rPr sz="1600" b="0" i="0">
                <a:solidFill>
                  <a:srgbClr val="1B211D"/>
                </a:solidFill>
                <a:latin typeface="Calibri"/>
              </a:rPr>
              <a:t>On an index card (or sticky note): “The one open science practice I'll start in the next 30 days is ___.”</a:t>
            </a:r>
          </a:p>
          <a:p>
            <a:pPr>
              <a:lnSpc>
                <a:spcPct val="108000"/>
              </a:lnSpc>
              <a:spcAft>
                <a:spcPts val="1000"/>
              </a:spcAft>
            </a:pPr>
            <a:r>
              <a:rPr sz="1600" b="0" i="0">
                <a:solidFill>
                  <a:srgbClr val="1B211D"/>
                </a:solidFill>
                <a:latin typeface="Calibri"/>
              </a:rPr>
              <a:t>Be specific — “get my ORCID” beats “be more open.”</a:t>
            </a:r>
          </a:p>
          <a:p>
            <a:pPr>
              <a:lnSpc>
                <a:spcPct val="108000"/>
              </a:lnSpc>
              <a:spcAft>
                <a:spcPts val="1000"/>
              </a:spcAft>
            </a:pPr>
            <a:r>
              <a:rPr sz="1600" b="0" i="0">
                <a:solidFill>
                  <a:srgbClr val="1B211D"/>
                </a:solidFill>
                <a:latin typeface="Calibri"/>
              </a:rPr>
              <a:t>Stick your card somewhere you'll see it — laptop, desk, lab notebook.</a:t>
            </a:r>
          </a:p>
          <a:p>
            <a:pPr>
              <a:lnSpc>
                <a:spcPct val="108000"/>
              </a:lnSpc>
              <a:spcAft>
                <a:spcPts val="1000"/>
              </a:spcAft>
            </a:pPr>
            <a:r>
              <a:rPr sz="1600" b="0" i="0">
                <a:solidFill>
                  <a:srgbClr val="1B211D"/>
                </a:solidFill>
                <a:latin typeface="Calibri"/>
              </a:rPr>
              <a:t>Optional: pin an anonymized copy to the room's “parking lot” wall so the group can see the range of commitments.</a:t>
            </a:r>
          </a:p>
        </p:txBody>
      </p:sp>
      <p:sp>
        <p:nvSpPr>
          <p:cNvPr id="8" name="Rounded Rectangle 7"/>
          <p:cNvSpPr/>
          <p:nvPr/>
        </p:nvSpPr>
        <p:spPr>
          <a:xfrm>
            <a:off x="548640" y="5989320"/>
            <a:ext cx="10789920" cy="548640"/>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6062472"/>
            <a:ext cx="10332720" cy="411480"/>
          </a:xfrm>
          <a:prstGeom prst="rect">
            <a:avLst/>
          </a:prstGeom>
          <a:noFill/>
        </p:spPr>
        <p:txBody>
          <a:bodyPr wrap="square">
            <a:spAutoFit/>
          </a:bodyPr>
          <a:lstStyle/>
          <a:p>
            <a:pPr algn="l">
              <a:spcBef>
                <a:spcPts val="0"/>
              </a:spcBef>
              <a:spcAft>
                <a:spcPts val="600"/>
              </a:spcAft>
            </a:pPr>
            <a:r>
              <a:rPr sz="1400" b="1" i="0">
                <a:solidFill>
                  <a:srgbClr val="2F6F5E"/>
                </a:solidFill>
                <a:latin typeface="Calibri"/>
              </a:rPr>
              <a:t>Deliverable: one card per person, taken home (not collected).</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7F5EE"/>
        </a:solidFill>
        <a:effectLst/>
      </p:bgPr>
    </p:bg>
    <p:spTree>
      <p:nvGrpSpPr>
        <p:cNvPr id="1" name=""/>
        <p:cNvGrpSpPr/>
        <p:nvPr/>
      </p:nvGrpSpPr>
      <p:grpSpPr/>
      <p:sp>
        <p:nvSpPr>
          <p:cNvPr id="2" name="TextBox 1"/>
          <p:cNvSpPr txBox="1"/>
          <p:nvPr/>
        </p:nvSpPr>
        <p:spPr>
          <a:xfrm>
            <a:off x="548640" y="411480"/>
            <a:ext cx="7315200" cy="365760"/>
          </a:xfrm>
          <a:prstGeom prst="rect">
            <a:avLst/>
          </a:prstGeom>
          <a:noFill/>
        </p:spPr>
        <p:txBody>
          <a:bodyPr wrap="square">
            <a:spAutoFit/>
          </a:bodyPr>
          <a:lstStyle/>
          <a:p>
            <a:pPr algn="l">
              <a:spcBef>
                <a:spcPts val="0"/>
              </a:spcBef>
              <a:spcAft>
                <a:spcPts val="600"/>
              </a:spcAft>
            </a:pPr>
            <a:r>
              <a:rPr sz="1300" b="1" i="0" spc="120">
                <a:solidFill>
                  <a:srgbClr val="1B211D"/>
                </a:solidFill>
                <a:latin typeface="Calibri"/>
              </a:rPr>
              <a:t>KEEP GOING</a:t>
            </a:r>
          </a:p>
        </p:txBody>
      </p:sp>
      <p:sp>
        <p:nvSpPr>
          <p:cNvPr id="3" name="TextBox 2"/>
          <p:cNvSpPr txBox="1"/>
          <p:nvPr/>
        </p:nvSpPr>
        <p:spPr>
          <a:xfrm>
            <a:off x="548640" y="777240"/>
            <a:ext cx="10789920" cy="822960"/>
          </a:xfrm>
          <a:prstGeom prst="rect">
            <a:avLst/>
          </a:prstGeom>
          <a:noFill/>
        </p:spPr>
        <p:txBody>
          <a:bodyPr wrap="square">
            <a:spAutoFit/>
          </a:bodyPr>
          <a:lstStyle/>
          <a:p>
            <a:pPr algn="l">
              <a:spcBef>
                <a:spcPts val="0"/>
              </a:spcBef>
              <a:spcAft>
                <a:spcPts val="600"/>
              </a:spcAft>
            </a:pPr>
            <a:r>
              <a:rPr sz="3000" b="1" i="0">
                <a:solidFill>
                  <a:srgbClr val="1B211D"/>
                </a:solidFill>
                <a:latin typeface="Georgia"/>
              </a:rPr>
              <a:t>Where to go deeper</a:t>
            </a:r>
          </a:p>
        </p:txBody>
      </p:sp>
      <p:sp>
        <p:nvSpPr>
          <p:cNvPr id="4" name="TextBox 3"/>
          <p:cNvSpPr txBox="1"/>
          <p:nvPr/>
        </p:nvSpPr>
        <p:spPr>
          <a:xfrm>
            <a:off x="548640" y="6473952"/>
            <a:ext cx="8229600" cy="320040"/>
          </a:xfrm>
          <a:prstGeom prst="rect">
            <a:avLst/>
          </a:prstGeom>
          <a:noFill/>
        </p:spPr>
        <p:txBody>
          <a:bodyPr wrap="square">
            <a:spAutoFit/>
          </a:bodyPr>
          <a:lstStyle/>
          <a:p>
            <a:pPr algn="l">
              <a:spcBef>
                <a:spcPts val="0"/>
              </a:spcBef>
              <a:spcAft>
                <a:spcPts val="600"/>
              </a:spcAft>
            </a:pPr>
            <a:r>
              <a:rPr sz="1000" b="0" i="0">
                <a:solidFill>
                  <a:srgbClr val="5B655F"/>
                </a:solidFill>
                <a:latin typeface="Calibri"/>
              </a:rPr>
              <a:t>Wrap-Up</a:t>
            </a:r>
          </a:p>
        </p:txBody>
      </p:sp>
      <p:sp>
        <p:nvSpPr>
          <p:cNvPr id="5" name="Rectangle 4"/>
          <p:cNvSpPr/>
          <p:nvPr/>
        </p:nvSpPr>
        <p:spPr>
          <a:xfrm>
            <a:off x="0" y="6419088"/>
            <a:ext cx="12191695" cy="17780"/>
          </a:xfrm>
          <a:prstGeom prst="rect">
            <a:avLst/>
          </a:prstGeom>
          <a:solidFill>
            <a:srgbClr val="1B2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783080"/>
            <a:ext cx="10607040" cy="713232"/>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74520"/>
            <a:ext cx="10149840" cy="548640"/>
          </a:xfrm>
          <a:prstGeom prst="rect">
            <a:avLst/>
          </a:prstGeom>
          <a:noFill/>
        </p:spPr>
        <p:txBody>
          <a:bodyPr wrap="square">
            <a:spAutoFit/>
          </a:bodyPr>
          <a:lstStyle/>
          <a:p>
            <a:pPr algn="l">
              <a:spcBef>
                <a:spcPts val="0"/>
              </a:spcBef>
              <a:spcAft>
                <a:spcPts val="200"/>
              </a:spcAft>
            </a:pPr>
            <a:r>
              <a:rPr sz="1500" b="1" i="0">
                <a:solidFill>
                  <a:srgbClr val="1B211D"/>
                </a:solidFill>
                <a:latin typeface="Calibri"/>
              </a:rPr>
              <a:t>Full self-paced curriculum</a:t>
            </a:r>
          </a:p>
          <a:p>
            <a:pPr algn="l">
              <a:spcBef>
                <a:spcPts val="0"/>
              </a:spcBef>
              <a:spcAft>
                <a:spcPts val="600"/>
              </a:spcAft>
            </a:pPr>
            <a:r>
              <a:rPr sz="1300" b="0" i="0">
                <a:solidFill>
                  <a:srgbClr val="5B655F"/>
                </a:solidFill>
                <a:latin typeface="Calibri"/>
              </a:rPr>
              <a:t>All 5 modules in depth, ~2 hrs each, at your own pace</a:t>
            </a:r>
          </a:p>
        </p:txBody>
      </p:sp>
      <p:sp>
        <p:nvSpPr>
          <p:cNvPr id="8" name="Rounded Rectangle 7"/>
          <p:cNvSpPr/>
          <p:nvPr/>
        </p:nvSpPr>
        <p:spPr>
          <a:xfrm>
            <a:off x="548640" y="2624328"/>
            <a:ext cx="10607040" cy="713232"/>
          </a:xfrm>
          <a:prstGeom prst="roundRect">
            <a:avLst>
              <a:gd name="adj" fmla="val 10000"/>
            </a:avLst>
          </a:prstGeom>
          <a:solidFill>
            <a:srgbClr val="EFEC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715768"/>
            <a:ext cx="10149840" cy="548640"/>
          </a:xfrm>
          <a:prstGeom prst="rect">
            <a:avLst/>
          </a:prstGeom>
          <a:noFill/>
        </p:spPr>
        <p:txBody>
          <a:bodyPr wrap="square">
            <a:spAutoFit/>
          </a:bodyPr>
          <a:lstStyle/>
          <a:p>
            <a:pPr algn="l">
              <a:spcBef>
                <a:spcPts val="0"/>
              </a:spcBef>
              <a:spcAft>
                <a:spcPts val="200"/>
              </a:spcAft>
            </a:pPr>
            <a:r>
              <a:rPr sz="1500" b="1" i="0">
                <a:solidFill>
                  <a:srgbClr val="1B211D"/>
                </a:solidFill>
                <a:latin typeface="Calibri"/>
              </a:rPr>
              <a:t>Bibliography &amp; resources</a:t>
            </a:r>
          </a:p>
          <a:p>
            <a:pPr algn="l">
              <a:spcBef>
                <a:spcPts val="0"/>
              </a:spcBef>
              <a:spcAft>
                <a:spcPts val="600"/>
              </a:spcAft>
            </a:pPr>
            <a:r>
              <a:rPr sz="1300" b="0" i="0">
                <a:solidFill>
                  <a:srgbClr val="5B655F"/>
                </a:solidFill>
                <a:latin typeface="Calibri"/>
              </a:rPr>
              <a:t>Every citation used in this deck, plus further reading</a:t>
            </a:r>
          </a:p>
        </p:txBody>
      </p:sp>
      <p:sp>
        <p:nvSpPr>
          <p:cNvPr id="10" name="Rounded Rectangle 9"/>
          <p:cNvSpPr/>
          <p:nvPr/>
        </p:nvSpPr>
        <p:spPr>
          <a:xfrm>
            <a:off x="548640" y="3465576"/>
            <a:ext cx="10607040" cy="713232"/>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3557016"/>
            <a:ext cx="10149840" cy="548640"/>
          </a:xfrm>
          <a:prstGeom prst="rect">
            <a:avLst/>
          </a:prstGeom>
          <a:noFill/>
        </p:spPr>
        <p:txBody>
          <a:bodyPr wrap="square">
            <a:spAutoFit/>
          </a:bodyPr>
          <a:lstStyle/>
          <a:p>
            <a:pPr algn="l">
              <a:spcBef>
                <a:spcPts val="0"/>
              </a:spcBef>
              <a:spcAft>
                <a:spcPts val="200"/>
              </a:spcAft>
            </a:pPr>
            <a:r>
              <a:rPr sz="1500" b="1" i="0">
                <a:solidFill>
                  <a:srgbClr val="1B211D"/>
                </a:solidFill>
                <a:latin typeface="Calibri"/>
              </a:rPr>
              <a:t>DMPTool / your funder's template</a:t>
            </a:r>
          </a:p>
          <a:p>
            <a:pPr algn="l">
              <a:spcBef>
                <a:spcPts val="0"/>
              </a:spcBef>
              <a:spcAft>
                <a:spcPts val="600"/>
              </a:spcAft>
            </a:pPr>
            <a:r>
              <a:rPr sz="1300" b="0" i="0">
                <a:solidFill>
                  <a:srgbClr val="5B655F"/>
                </a:solidFill>
                <a:latin typeface="Calibri"/>
              </a:rPr>
              <a:t>Turn today's worksheet into a real, submittable plan</a:t>
            </a:r>
          </a:p>
        </p:txBody>
      </p:sp>
      <p:sp>
        <p:nvSpPr>
          <p:cNvPr id="12" name="Rounded Rectangle 11"/>
          <p:cNvSpPr/>
          <p:nvPr/>
        </p:nvSpPr>
        <p:spPr>
          <a:xfrm>
            <a:off x="548640" y="4306824"/>
            <a:ext cx="10607040" cy="713232"/>
          </a:xfrm>
          <a:prstGeom prst="roundRect">
            <a:avLst>
              <a:gd name="adj" fmla="val 10000"/>
            </a:avLst>
          </a:prstGeom>
          <a:solidFill>
            <a:srgbClr val="EFEC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4398264"/>
            <a:ext cx="10149840" cy="548640"/>
          </a:xfrm>
          <a:prstGeom prst="rect">
            <a:avLst/>
          </a:prstGeom>
          <a:noFill/>
        </p:spPr>
        <p:txBody>
          <a:bodyPr wrap="square">
            <a:spAutoFit/>
          </a:bodyPr>
          <a:lstStyle/>
          <a:p>
            <a:pPr algn="l">
              <a:spcBef>
                <a:spcPts val="0"/>
              </a:spcBef>
              <a:spcAft>
                <a:spcPts val="200"/>
              </a:spcAft>
            </a:pPr>
            <a:r>
              <a:rPr sz="1500" b="1" i="0">
                <a:solidFill>
                  <a:srgbClr val="1B211D"/>
                </a:solidFill>
                <a:latin typeface="Calibri"/>
              </a:rPr>
              <a:t>Your local Carpentries / RSE group</a:t>
            </a:r>
          </a:p>
          <a:p>
            <a:pPr algn="l">
              <a:spcBef>
                <a:spcPts val="0"/>
              </a:spcBef>
              <a:spcAft>
                <a:spcPts val="600"/>
              </a:spcAft>
            </a:pPr>
            <a:r>
              <a:rPr sz="1300" b="0" i="0">
                <a:solidFill>
                  <a:srgbClr val="5B655F"/>
                </a:solidFill>
                <a:latin typeface="Calibri"/>
              </a:rPr>
              <a:t>Free hands-on training in the technical skills</a:t>
            </a:r>
          </a:p>
        </p:txBody>
      </p:sp>
      <p:sp>
        <p:nvSpPr>
          <p:cNvPr id="14" name="Rounded Rectangle 13"/>
          <p:cNvSpPr/>
          <p:nvPr/>
        </p:nvSpPr>
        <p:spPr>
          <a:xfrm>
            <a:off x="548640" y="5148072"/>
            <a:ext cx="10607040" cy="713232"/>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5239512"/>
            <a:ext cx="10149840" cy="548640"/>
          </a:xfrm>
          <a:prstGeom prst="rect">
            <a:avLst/>
          </a:prstGeom>
          <a:noFill/>
        </p:spPr>
        <p:txBody>
          <a:bodyPr wrap="square">
            <a:spAutoFit/>
          </a:bodyPr>
          <a:lstStyle/>
          <a:p>
            <a:pPr algn="l">
              <a:spcBef>
                <a:spcPts val="0"/>
              </a:spcBef>
              <a:spcAft>
                <a:spcPts val="200"/>
              </a:spcAft>
            </a:pPr>
            <a:r>
              <a:rPr sz="1500" b="1" i="0">
                <a:solidFill>
                  <a:srgbClr val="1B211D"/>
                </a:solidFill>
                <a:latin typeface="Calibri"/>
              </a:rPr>
              <a:t>This repository's Discussions &amp; Issues</a:t>
            </a:r>
          </a:p>
          <a:p>
            <a:pPr algn="l">
              <a:spcBef>
                <a:spcPts val="0"/>
              </a:spcBef>
              <a:spcAft>
                <a:spcPts val="600"/>
              </a:spcAft>
            </a:pPr>
            <a:r>
              <a:rPr sz="1300" b="0" i="0">
                <a:solidFill>
                  <a:srgbClr val="5B655F"/>
                </a:solidFill>
                <a:latin typeface="Calibri"/>
              </a:rPr>
              <a:t>Ask questions, share your OSDMP, get feedback</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1B211D"/>
        </a:solidFill>
        <a:effectLst/>
      </p:bgPr>
    </p:bg>
    <p:spTree>
      <p:nvGrpSpPr>
        <p:cNvPr id="1" name=""/>
        <p:cNvGrpSpPr/>
        <p:nvPr/>
      </p:nvGrpSpPr>
      <p:grpSpPr/>
      <p:sp>
        <p:nvSpPr>
          <p:cNvPr id="2" name="TextBox 1"/>
          <p:cNvSpPr txBox="1"/>
          <p:nvPr/>
        </p:nvSpPr>
        <p:spPr>
          <a:xfrm>
            <a:off x="822960" y="2651760"/>
            <a:ext cx="10058400" cy="1371600"/>
          </a:xfrm>
          <a:prstGeom prst="rect">
            <a:avLst/>
          </a:prstGeom>
          <a:noFill/>
        </p:spPr>
        <p:txBody>
          <a:bodyPr wrap="square">
            <a:spAutoFit/>
          </a:bodyPr>
          <a:lstStyle/>
          <a:p>
            <a:pPr algn="l">
              <a:spcBef>
                <a:spcPts val="0"/>
              </a:spcBef>
              <a:spcAft>
                <a:spcPts val="600"/>
              </a:spcAft>
            </a:pPr>
            <a:r>
              <a:rPr sz="5200" b="1" i="0">
                <a:solidFill>
                  <a:srgbClr val="FFFFFF"/>
                </a:solidFill>
                <a:latin typeface="Georgia"/>
              </a:rPr>
              <a:t>Thank you.</a:t>
            </a:r>
          </a:p>
        </p:txBody>
      </p:sp>
      <p:sp>
        <p:nvSpPr>
          <p:cNvPr id="3" name="TextBox 2"/>
          <p:cNvSpPr txBox="1"/>
          <p:nvPr/>
        </p:nvSpPr>
        <p:spPr>
          <a:xfrm>
            <a:off x="868680" y="3749039"/>
            <a:ext cx="9144000" cy="914400"/>
          </a:xfrm>
          <a:prstGeom prst="rect">
            <a:avLst/>
          </a:prstGeom>
          <a:noFill/>
        </p:spPr>
        <p:txBody>
          <a:bodyPr wrap="square">
            <a:spAutoFit/>
          </a:bodyPr>
          <a:lstStyle/>
          <a:p>
            <a:pPr algn="l">
              <a:spcBef>
                <a:spcPts val="0"/>
              </a:spcBef>
              <a:spcAft>
                <a:spcPts val="600"/>
              </a:spcAft>
            </a:pPr>
            <a:r>
              <a:rPr sz="1800" b="0" i="0">
                <a:solidFill>
                  <a:srgbClr val="C9CEC9"/>
                </a:solidFill>
                <a:latin typeface="Calibri"/>
              </a:rPr>
              <a:t>Questions, feedback, and “what should we cut next time” all welcome.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